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8" r:id="rId2"/>
    <p:sldId id="284" r:id="rId3"/>
    <p:sldId id="260" r:id="rId4"/>
    <p:sldId id="262" r:id="rId5"/>
    <p:sldId id="264" r:id="rId6"/>
    <p:sldId id="282" r:id="rId7"/>
    <p:sldId id="263" r:id="rId8"/>
    <p:sldId id="266" r:id="rId9"/>
    <p:sldId id="271" r:id="rId10"/>
    <p:sldId id="272" r:id="rId11"/>
    <p:sldId id="267" r:id="rId12"/>
    <p:sldId id="269" r:id="rId13"/>
    <p:sldId id="274" r:id="rId14"/>
    <p:sldId id="283" r:id="rId15"/>
    <p:sldId id="273" r:id="rId16"/>
    <p:sldId id="279" r:id="rId17"/>
    <p:sldId id="278" r:id="rId18"/>
    <p:sldId id="280" r:id="rId19"/>
    <p:sldId id="281" r:id="rId20"/>
    <p:sldId id="276"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5" d="100"/>
          <a:sy n="125" d="100"/>
        </p:scale>
        <p:origin x="672"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CB8BF7-35DF-429B-AD92-C5065BB21BF8}" type="datetimeFigureOut">
              <a:rPr lang="en-US" smtClean="0"/>
              <a:t>1/17/26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257512-2FCA-4B10-8EA8-7BEF330308A8}" type="slidenum">
              <a:rPr lang="en-US" smtClean="0"/>
              <a:t>‹#›</a:t>
            </a:fld>
            <a:endParaRPr lang="en-US"/>
          </a:p>
        </p:txBody>
      </p:sp>
    </p:spTree>
    <p:extLst>
      <p:ext uri="{BB962C8B-B14F-4D97-AF65-F5344CB8AC3E}">
        <p14:creationId xmlns:p14="http://schemas.microsoft.com/office/powerpoint/2010/main" val="203389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7E057-5458-4F03-A63D-D05351ABB679}" type="slidenum">
              <a:rPr lang="en-US" smtClean="0"/>
              <a:t>‹#›</a:t>
            </a:fld>
            <a:endParaRPr lang="en-US"/>
          </a:p>
        </p:txBody>
      </p:sp>
    </p:spTree>
    <p:extLst>
      <p:ext uri="{BB962C8B-B14F-4D97-AF65-F5344CB8AC3E}">
        <p14:creationId xmlns:p14="http://schemas.microsoft.com/office/powerpoint/2010/main" val="2947366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7E057-5458-4F03-A63D-D05351ABB679}" type="slidenum">
              <a:rPr lang="en-US" smtClean="0"/>
              <a:t>‹#›</a:t>
            </a:fld>
            <a:endParaRPr lang="en-US"/>
          </a:p>
        </p:txBody>
      </p:sp>
    </p:spTree>
    <p:extLst>
      <p:ext uri="{BB962C8B-B14F-4D97-AF65-F5344CB8AC3E}">
        <p14:creationId xmlns:p14="http://schemas.microsoft.com/office/powerpoint/2010/main" val="1688306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7E057-5458-4F03-A63D-D05351ABB679}" type="slidenum">
              <a:rPr lang="en-US" smtClean="0"/>
              <a:t>‹#›</a:t>
            </a:fld>
            <a:endParaRPr lang="en-US"/>
          </a:p>
        </p:txBody>
      </p:sp>
      <p:sp>
        <p:nvSpPr>
          <p:cNvPr id="7"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6015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7E057-5458-4F03-A63D-D05351ABB679}" type="slidenum">
              <a:rPr lang="en-US" smtClean="0"/>
              <a:t>‹#›</a:t>
            </a:fld>
            <a:endParaRPr lang="en-US"/>
          </a:p>
        </p:txBody>
      </p:sp>
      <p:sp>
        <p:nvSpPr>
          <p:cNvPr id="8"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11662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C7E057-5458-4F03-A63D-D05351ABB679}" type="slidenum">
              <a:rPr lang="en-US" smtClean="0"/>
              <a:t>‹#›</a:t>
            </a:fld>
            <a:endParaRPr lang="en-US"/>
          </a:p>
        </p:txBody>
      </p:sp>
      <p:sp>
        <p:nvSpPr>
          <p:cNvPr id="10"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417572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C7E057-5458-4F03-A63D-D05351ABB679}" type="slidenum">
              <a:rPr lang="en-US" smtClean="0"/>
              <a:t>‹#›</a:t>
            </a:fld>
            <a:endParaRPr lang="en-US"/>
          </a:p>
        </p:txBody>
      </p:sp>
      <p:sp>
        <p:nvSpPr>
          <p:cNvPr id="6"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2807833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C7E057-5458-4F03-A63D-D05351ABB679}" type="slidenum">
              <a:rPr lang="en-US" smtClean="0"/>
              <a:t>‹#›</a:t>
            </a:fld>
            <a:endParaRPr lang="en-US"/>
          </a:p>
        </p:txBody>
      </p:sp>
      <p:sp>
        <p:nvSpPr>
          <p:cNvPr id="5"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282719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6D86B1C-B4FC-49FC-8749-80FB6CD9BE62}" type="datetime1">
              <a:rPr lang="en-US" smtClean="0"/>
              <a:t>1/17/26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7E057-5458-4F03-A63D-D05351ABB679}" type="slidenum">
              <a:rPr lang="en-US" smtClean="0"/>
              <a:t>‹#›</a:t>
            </a:fld>
            <a:endParaRPr lang="en-US"/>
          </a:p>
        </p:txBody>
      </p:sp>
    </p:spTree>
    <p:extLst>
      <p:ext uri="{BB962C8B-B14F-4D97-AF65-F5344CB8AC3E}">
        <p14:creationId xmlns:p14="http://schemas.microsoft.com/office/powerpoint/2010/main" val="996655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Footer Placeholder 13"/>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p:txBody>
          <a:bodyPr/>
          <a:lstStyle/>
          <a:p>
            <a:fld id="{7FC7E057-5458-4F03-A63D-D05351ABB679}" type="slidenum">
              <a:rPr lang="en-US" smtClean="0"/>
              <a:t>‹#›</a:t>
            </a:fld>
            <a:endParaRPr lang="en-US"/>
          </a:p>
        </p:txBody>
      </p:sp>
    </p:spTree>
    <p:extLst>
      <p:ext uri="{BB962C8B-B14F-4D97-AF65-F5344CB8AC3E}">
        <p14:creationId xmlns:p14="http://schemas.microsoft.com/office/powerpoint/2010/main" val="32263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7E057-5458-4F03-A63D-D05351ABB679}" type="slidenum">
              <a:rPr lang="en-US" smtClean="0"/>
              <a:t>‹#›</a:t>
            </a:fld>
            <a:endParaRPr lang="en-US"/>
          </a:p>
        </p:txBody>
      </p:sp>
    </p:spTree>
    <p:extLst>
      <p:ext uri="{BB962C8B-B14F-4D97-AF65-F5344CB8AC3E}">
        <p14:creationId xmlns:p14="http://schemas.microsoft.com/office/powerpoint/2010/main" val="1891880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7E057-5458-4F03-A63D-D05351ABB679}" type="slidenum">
              <a:rPr lang="en-US" smtClean="0"/>
              <a:t>‹#›</a:t>
            </a:fld>
            <a:endParaRPr lang="en-US"/>
          </a:p>
        </p:txBody>
      </p:sp>
      <p:sp>
        <p:nvSpPr>
          <p:cNvPr id="7" name="Date Placeholder 3"/>
          <p:cNvSpPr>
            <a:spLocks noGrp="1"/>
          </p:cNvSpPr>
          <p:nvPr>
            <p:ph type="dt" sz="half" idx="10"/>
          </p:nvPr>
        </p:nvSpPr>
        <p:spPr>
          <a:xfrm>
            <a:off x="-54684" y="6515285"/>
            <a:ext cx="2493084" cy="365125"/>
          </a:xfrm>
          <a:prstGeom prst="rect">
            <a:avLst/>
          </a:prstGeom>
        </p:spPr>
        <p:txBody>
          <a:bodyPr/>
          <a:lstStyle>
            <a:lvl1pPr>
              <a:defRPr sz="900"/>
            </a:lvl1pPr>
          </a:lstStyle>
          <a:p>
            <a:r>
              <a:rPr lang="en-US"/>
              <a:t>Copyright Cornell University Systems Engineering, Dr. David R. Schneider 2016</a:t>
            </a:r>
            <a:endParaRPr lang="en-US" dirty="0"/>
          </a:p>
        </p:txBody>
      </p:sp>
    </p:spTree>
    <p:extLst>
      <p:ext uri="{BB962C8B-B14F-4D97-AF65-F5344CB8AC3E}">
        <p14:creationId xmlns:p14="http://schemas.microsoft.com/office/powerpoint/2010/main" val="2343974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C7E057-5458-4F03-A63D-D05351ABB679}" type="slidenum">
              <a:rPr lang="en-US" smtClean="0"/>
              <a:t>‹#›</a:t>
            </a:fld>
            <a:endParaRPr lang="en-US"/>
          </a:p>
        </p:txBody>
      </p:sp>
      <p:sp>
        <p:nvSpPr>
          <p:cNvPr id="8" name="TextBox 7"/>
          <p:cNvSpPr txBox="1"/>
          <p:nvPr userDrawn="1"/>
        </p:nvSpPr>
        <p:spPr>
          <a:xfrm>
            <a:off x="17033" y="6581001"/>
            <a:ext cx="1981633" cy="307777"/>
          </a:xfrm>
          <a:prstGeom prst="rect">
            <a:avLst/>
          </a:prstGeom>
          <a:noFill/>
        </p:spPr>
        <p:txBody>
          <a:bodyPr wrap="none" rtlCol="0">
            <a:spAutoFit/>
          </a:bodyPr>
          <a:lstStyle/>
          <a:p>
            <a:r>
              <a:rPr lang="en-US" sz="700" dirty="0">
                <a:solidFill>
                  <a:schemeClr val="bg1">
                    <a:lumMod val="50000"/>
                  </a:schemeClr>
                </a:solidFill>
              </a:rPr>
              <a:t>Copyright Cornell University</a:t>
            </a:r>
            <a:r>
              <a:rPr lang="en-US" sz="700" baseline="0" dirty="0">
                <a:solidFill>
                  <a:schemeClr val="bg1">
                    <a:lumMod val="50000"/>
                  </a:schemeClr>
                </a:solidFill>
              </a:rPr>
              <a:t> Systems Engineering</a:t>
            </a:r>
          </a:p>
          <a:p>
            <a:r>
              <a:rPr lang="en-US" sz="700" baseline="0" dirty="0">
                <a:solidFill>
                  <a:schemeClr val="bg1">
                    <a:lumMod val="50000"/>
                  </a:schemeClr>
                </a:solidFill>
              </a:rPr>
              <a:t>Dr. David R. Schneider 2016</a:t>
            </a:r>
            <a:endParaRPr lang="en-US" sz="700" dirty="0">
              <a:solidFill>
                <a:schemeClr val="bg1">
                  <a:lumMod val="50000"/>
                </a:schemeClr>
              </a:solidFill>
            </a:endParaRPr>
          </a:p>
        </p:txBody>
      </p:sp>
    </p:spTree>
    <p:extLst>
      <p:ext uri="{BB962C8B-B14F-4D97-AF65-F5344CB8AC3E}">
        <p14:creationId xmlns:p14="http://schemas.microsoft.com/office/powerpoint/2010/main" val="2925239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505200" y="3124200"/>
            <a:ext cx="1405890" cy="6349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Your System</a:t>
            </a:r>
          </a:p>
        </p:txBody>
      </p:sp>
      <p:sp>
        <p:nvSpPr>
          <p:cNvPr id="10" name="Rectangle 9"/>
          <p:cNvSpPr/>
          <p:nvPr/>
        </p:nvSpPr>
        <p:spPr>
          <a:xfrm>
            <a:off x="3048000" y="2667000"/>
            <a:ext cx="2286000" cy="15240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33400" y="2145268"/>
            <a:ext cx="3327386" cy="369332"/>
          </a:xfrm>
          <a:prstGeom prst="rect">
            <a:avLst/>
          </a:prstGeom>
          <a:noFill/>
        </p:spPr>
        <p:txBody>
          <a:bodyPr wrap="non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Start with your “System” in a box</a:t>
            </a:r>
          </a:p>
        </p:txBody>
      </p:sp>
      <p:sp>
        <p:nvSpPr>
          <p:cNvPr id="29" name="TextBox 28"/>
          <p:cNvSpPr txBox="1"/>
          <p:nvPr/>
        </p:nvSpPr>
        <p:spPr>
          <a:xfrm>
            <a:off x="5562600" y="4267200"/>
            <a:ext cx="3124200"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And place a dashed box around it to symbolize your System’s boundary</a:t>
            </a:r>
          </a:p>
        </p:txBody>
      </p:sp>
      <p:sp>
        <p:nvSpPr>
          <p:cNvPr id="30" name="TextBox 29"/>
          <p:cNvSpPr txBox="1"/>
          <p:nvPr/>
        </p:nvSpPr>
        <p:spPr>
          <a:xfrm>
            <a:off x="76200" y="5715000"/>
            <a:ext cx="8991600" cy="369332"/>
          </a:xfrm>
          <a:prstGeom prst="rect">
            <a:avLst/>
          </a:prstGeom>
          <a:noFill/>
        </p:spPr>
        <p:txBody>
          <a:bodyPr wrap="square" rtlCol="0">
            <a:spAutoFit/>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For the purposes of this example, we’ll assume your System is some kind of car-like vehicle</a:t>
            </a:r>
          </a:p>
        </p:txBody>
      </p:sp>
      <p:pic>
        <p:nvPicPr>
          <p:cNvPr id="7"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747433" flipH="1">
            <a:off x="2770615" y="2499086"/>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28717" flipH="1">
            <a:off x="5255783" y="3574288"/>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3417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92668"/>
            <a:ext cx="5966505" cy="369332"/>
          </a:xfrm>
          <a:prstGeom prst="rect">
            <a:avLst/>
          </a:prstGeom>
          <a:noFill/>
        </p:spPr>
        <p:txBody>
          <a:bodyPr wrap="non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Then start listing things your “System” has to interact with… </a:t>
            </a:r>
          </a:p>
        </p:txBody>
      </p:sp>
      <p:sp>
        <p:nvSpPr>
          <p:cNvPr id="6" name="TextBox 5"/>
          <p:cNvSpPr txBox="1"/>
          <p:nvPr/>
        </p:nvSpPr>
        <p:spPr>
          <a:xfrm>
            <a:off x="4996665" y="2099548"/>
            <a:ext cx="3804888" cy="369332"/>
          </a:xfrm>
          <a:prstGeom prst="rect">
            <a:avLst/>
          </a:prstGeom>
          <a:noFill/>
        </p:spPr>
        <p:txBody>
          <a:bodyPr wrap="non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…and place them in their own boxes…</a:t>
            </a:r>
          </a:p>
        </p:txBody>
      </p:sp>
      <p:sp>
        <p:nvSpPr>
          <p:cNvPr id="7" name="TextBox 6"/>
          <p:cNvSpPr txBox="1"/>
          <p:nvPr/>
        </p:nvSpPr>
        <p:spPr>
          <a:xfrm>
            <a:off x="5110512" y="4563070"/>
            <a:ext cx="3804888"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…outside of the System boundary to show you do not have any design control over them.</a:t>
            </a:r>
          </a:p>
        </p:txBody>
      </p:sp>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5955029" y="133595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6857999" y="387354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962840" y="22555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22909" y="36576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1597329" y="458244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750944" y="46053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400424" y="157979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6705600" y="2819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sp>
        <p:nvSpPr>
          <p:cNvPr id="27" name="TextBox 26"/>
          <p:cNvSpPr txBox="1"/>
          <p:nvPr/>
        </p:nvSpPr>
        <p:spPr>
          <a:xfrm>
            <a:off x="4953000" y="5943600"/>
            <a:ext cx="3956596" cy="646331"/>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Capitalizing the things’ names in the boxes is also common practice </a:t>
            </a:r>
          </a:p>
        </p:txBody>
      </p:sp>
    </p:spTree>
    <p:extLst>
      <p:ext uri="{BB962C8B-B14F-4D97-AF65-F5344CB8AC3E}">
        <p14:creationId xmlns:p14="http://schemas.microsoft.com/office/powerpoint/2010/main" val="382508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21215652">
            <a:off x="1379402" y="1185871"/>
            <a:ext cx="4902561" cy="646331"/>
          </a:xfrm>
          <a:prstGeom prst="rect">
            <a:avLst/>
          </a:prstGeom>
          <a:noFill/>
        </p:spPr>
        <p:txBody>
          <a:bodyPr wrap="none" rtlCol="0">
            <a:spAutoFit/>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Don’t place other boxes in the system boundary,  </a:t>
            </a:r>
          </a:p>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even if they’re a part of your System!</a:t>
            </a:r>
          </a:p>
        </p:txBody>
      </p:sp>
      <p:sp>
        <p:nvSpPr>
          <p:cNvPr id="6" name="TextBox 5"/>
          <p:cNvSpPr txBox="1"/>
          <p:nvPr/>
        </p:nvSpPr>
        <p:spPr>
          <a:xfrm>
            <a:off x="52808" y="5410200"/>
            <a:ext cx="4976392"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This will help you stay focused on the interactions with other things without committing to what your System is/has structurally</a:t>
            </a:r>
          </a:p>
        </p:txBody>
      </p:sp>
      <p:grpSp>
        <p:nvGrpSpPr>
          <p:cNvPr id="16" name="Group 15"/>
          <p:cNvGrpSpPr/>
          <p:nvPr/>
        </p:nvGrpSpPr>
        <p:grpSpPr>
          <a:xfrm rot="532211">
            <a:off x="5029200" y="2190151"/>
            <a:ext cx="762000" cy="1010249"/>
            <a:chOff x="5029200" y="2190151"/>
            <a:chExt cx="762000" cy="1010249"/>
          </a:xfrm>
        </p:grpSpPr>
        <p:cxnSp>
          <p:nvCxnSpPr>
            <p:cNvPr id="4" name="Straight Connector 3"/>
            <p:cNvCxnSpPr/>
            <p:nvPr/>
          </p:nvCxnSpPr>
          <p:spPr>
            <a:xfrm>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rot="764573">
            <a:off x="4794067" y="3500600"/>
            <a:ext cx="762000" cy="1010249"/>
            <a:chOff x="5152392" y="3352800"/>
            <a:chExt cx="762000" cy="1010249"/>
          </a:xfrm>
        </p:grpSpPr>
        <p:cxnSp>
          <p:nvCxnSpPr>
            <p:cNvPr id="14" name="Straight Connector 13"/>
            <p:cNvCxnSpPr/>
            <p:nvPr/>
          </p:nvCxnSpPr>
          <p:spPr>
            <a:xfrm>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rot="20431948">
            <a:off x="3449683" y="2276224"/>
            <a:ext cx="762000" cy="1010249"/>
            <a:chOff x="5152392" y="3352800"/>
            <a:chExt cx="762000" cy="1010249"/>
          </a:xfrm>
        </p:grpSpPr>
        <p:cxnSp>
          <p:nvCxnSpPr>
            <p:cNvPr id="18" name="Straight Connector 17"/>
            <p:cNvCxnSpPr/>
            <p:nvPr/>
          </p:nvCxnSpPr>
          <p:spPr>
            <a:xfrm>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648200" y="6204227"/>
            <a:ext cx="4473597" cy="646331"/>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Try trusting the tool and learn about its value, before trying to break the tool.</a:t>
            </a:r>
          </a:p>
        </p:txBody>
      </p:sp>
      <p:sp>
        <p:nvSpPr>
          <p:cNvPr id="29" name="Rectangle 28"/>
          <p:cNvSpPr/>
          <p:nvPr/>
        </p:nvSpPr>
        <p:spPr>
          <a:xfrm>
            <a:off x="5955029" y="133595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30" name="Rectangle 29"/>
          <p:cNvSpPr/>
          <p:nvPr/>
        </p:nvSpPr>
        <p:spPr>
          <a:xfrm>
            <a:off x="6811190" y="4012115"/>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31" name="Rectangle 30"/>
          <p:cNvSpPr/>
          <p:nvPr/>
        </p:nvSpPr>
        <p:spPr>
          <a:xfrm>
            <a:off x="962840" y="22555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32" name="Rectangle 31"/>
          <p:cNvSpPr/>
          <p:nvPr/>
        </p:nvSpPr>
        <p:spPr>
          <a:xfrm>
            <a:off x="403858" y="34366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33" name="Rectangle 32"/>
          <p:cNvSpPr/>
          <p:nvPr/>
        </p:nvSpPr>
        <p:spPr>
          <a:xfrm>
            <a:off x="1597329" y="458244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34" name="Rectangle 33"/>
          <p:cNvSpPr/>
          <p:nvPr/>
        </p:nvSpPr>
        <p:spPr>
          <a:xfrm>
            <a:off x="4195099" y="49530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35" name="Rectangle 34"/>
          <p:cNvSpPr/>
          <p:nvPr/>
        </p:nvSpPr>
        <p:spPr>
          <a:xfrm>
            <a:off x="1828800" y="56618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36" name="Rectangle 35"/>
          <p:cNvSpPr/>
          <p:nvPr/>
        </p:nvSpPr>
        <p:spPr>
          <a:xfrm>
            <a:off x="6705600" y="2819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sp>
        <p:nvSpPr>
          <p:cNvPr id="37" name="Rectangle 3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38" name="Rectangle 37"/>
          <p:cNvSpPr/>
          <p:nvPr/>
        </p:nvSpPr>
        <p:spPr>
          <a:xfrm>
            <a:off x="3114946" y="2362200"/>
            <a:ext cx="2676254" cy="199902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Rectangle 38"/>
          <p:cNvSpPr/>
          <p:nvPr/>
        </p:nvSpPr>
        <p:spPr>
          <a:xfrm>
            <a:off x="4648200" y="37033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Tank</a:t>
            </a:r>
          </a:p>
        </p:txBody>
      </p:sp>
      <p:sp>
        <p:nvSpPr>
          <p:cNvPr id="40" name="Rectangle 39"/>
          <p:cNvSpPr/>
          <p:nvPr/>
        </p:nvSpPr>
        <p:spPr>
          <a:xfrm>
            <a:off x="4635137" y="25146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Tires</a:t>
            </a:r>
          </a:p>
        </p:txBody>
      </p:sp>
      <p:sp>
        <p:nvSpPr>
          <p:cNvPr id="41" name="Rectangle 40"/>
          <p:cNvSpPr/>
          <p:nvPr/>
        </p:nvSpPr>
        <p:spPr>
          <a:xfrm>
            <a:off x="3276600" y="249075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Directional Lights</a:t>
            </a:r>
          </a:p>
        </p:txBody>
      </p:sp>
    </p:spTree>
    <p:extLst>
      <p:ext uri="{BB962C8B-B14F-4D97-AF65-F5344CB8AC3E}">
        <p14:creationId xmlns:p14="http://schemas.microsoft.com/office/powerpoint/2010/main" val="910616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
            <a:ext cx="6809749" cy="369332"/>
          </a:xfrm>
          <a:prstGeom prst="rect">
            <a:avLst/>
          </a:prstGeom>
          <a:noFill/>
        </p:spPr>
        <p:txBody>
          <a:bodyPr wrap="non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Draw (rectangular) lines connecting the outer boxes with your system</a:t>
            </a:r>
          </a:p>
        </p:txBody>
      </p:sp>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245531"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645523"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609600" y="295656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75057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772400" y="305181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4927009" y="830341"/>
            <a:ext cx="2318522" cy="225575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flipV="1">
            <a:off x="5042263" y="3295651"/>
            <a:ext cx="2730137" cy="41910"/>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17" idx="2"/>
            <a:endCxn id="24" idx="0"/>
          </p:cNvCxnSpPr>
          <p:nvPr/>
        </p:nvCxnSpPr>
        <p:spPr>
          <a:xfrm rot="5400000">
            <a:off x="3477457" y="4491022"/>
            <a:ext cx="1934496" cy="115254"/>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689464" y="3200401"/>
            <a:ext cx="2272937" cy="13716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725386" y="929640"/>
            <a:ext cx="2237015" cy="215646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830433" y="3577591"/>
            <a:ext cx="2284367" cy="215264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581400" y="6135469"/>
            <a:ext cx="5548320" cy="646331"/>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It’s helpful in the next step, if you space your boxes out around the System box</a:t>
            </a:r>
          </a:p>
        </p:txBody>
      </p:sp>
    </p:spTree>
    <p:extLst>
      <p:ext uri="{BB962C8B-B14F-4D97-AF65-F5344CB8AC3E}">
        <p14:creationId xmlns:p14="http://schemas.microsoft.com/office/powerpoint/2010/main" val="2231503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1031"/>
            <a:ext cx="9144000" cy="369332"/>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Start to label the lines with text about how the box item interacts with the System</a:t>
            </a:r>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0981" y="3505200"/>
            <a:ext cx="2057399"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Place this text to the end of the connecting line closest to box item</a:t>
            </a:r>
          </a:p>
        </p:txBody>
      </p:sp>
      <p:sp>
        <p:nvSpPr>
          <p:cNvPr id="31" name="TextBox 30"/>
          <p:cNvSpPr txBox="1"/>
          <p:nvPr/>
        </p:nvSpPr>
        <p:spPr>
          <a:xfrm>
            <a:off x="685801" y="6174938"/>
            <a:ext cx="8458200" cy="646331"/>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Write the text as if you were writing a short statement that started with the name of the box item and ends with your System: Cargo is “stored in” Your System</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7" name="TextBox 36"/>
          <p:cNvSpPr txBox="1"/>
          <p:nvPr/>
        </p:nvSpPr>
        <p:spPr>
          <a:xfrm>
            <a:off x="7637960" y="1447800"/>
            <a:ext cx="1353640" cy="147732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Using lowercase for these statements is common</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49" name="Rectangle 4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50" name="Rectangle 4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5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3261642" flipH="1">
            <a:off x="1317790" y="2734902"/>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33413" flipH="1">
            <a:off x="4818295" y="5415464"/>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081155" flipH="1">
            <a:off x="7114398" y="2564556"/>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7518845" flipH="1" flipV="1">
            <a:off x="7106777" y="827665"/>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174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1031"/>
            <a:ext cx="9144000" cy="646331"/>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And at the same time label the lines with text about how your System interacts with the box items…</a:t>
            </a:r>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a:off x="1905000" y="94107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49" name="Rectangle 4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50" name="Rectangle 49"/>
          <p:cNvSpPr/>
          <p:nvPr/>
        </p:nvSpPr>
        <p:spPr>
          <a:xfrm>
            <a:off x="2286000" y="2743200"/>
            <a:ext cx="30512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TextBox 32"/>
          <p:cNvSpPr txBox="1"/>
          <p:nvPr/>
        </p:nvSpPr>
        <p:spPr>
          <a:xfrm>
            <a:off x="-4336" y="2965847"/>
            <a:ext cx="2137936" cy="2585323"/>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For clarity to tell where the statement starts, it’s common to expand the system boundary to encapsulate the statements starting at your System.</a:t>
            </a:r>
          </a:p>
        </p:txBody>
      </p:sp>
      <p:pic>
        <p:nvPicPr>
          <p:cNvPr id="35"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500192" flipH="1">
            <a:off x="1942285" y="3251591"/>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39" name="TextBox 38"/>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pic>
        <p:nvPicPr>
          <p:cNvPr id="4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2265866" flipH="1">
            <a:off x="2582792" y="2267027"/>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p:cNvSpPr txBox="1"/>
          <p:nvPr/>
        </p:nvSpPr>
        <p:spPr>
          <a:xfrm>
            <a:off x="2586464" y="1438870"/>
            <a:ext cx="2137936"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This reads “Your System drives through Weather”</a:t>
            </a:r>
          </a:p>
        </p:txBody>
      </p:sp>
    </p:spTree>
    <p:extLst>
      <p:ext uri="{BB962C8B-B14F-4D97-AF65-F5344CB8AC3E}">
        <p14:creationId xmlns:p14="http://schemas.microsoft.com/office/powerpoint/2010/main" val="2097503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sp>
        <p:nvSpPr>
          <p:cNvPr id="79" name="TextBox 78"/>
          <p:cNvSpPr txBox="1"/>
          <p:nvPr/>
        </p:nvSpPr>
        <p:spPr>
          <a:xfrm>
            <a:off x="6934200" y="1447800"/>
            <a:ext cx="2323559" cy="147732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No need to say essentially the same thing on both ends. Just pick one and the need is covered.</a:t>
            </a:r>
          </a:p>
        </p:txBody>
      </p:sp>
      <p:pic>
        <p:nvPicPr>
          <p:cNvPr id="80"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7090226" flipH="1">
            <a:off x="5955727" y="2430453"/>
            <a:ext cx="988838" cy="110140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1180411">
            <a:off x="7781336" y="2763705"/>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84" name="TextBox 83"/>
          <p:cNvSpPr txBox="1"/>
          <p:nvPr/>
        </p:nvSpPr>
        <p:spPr>
          <a:xfrm>
            <a:off x="5943600" y="4343400"/>
            <a:ext cx="3193991"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Connecting lines don’t have to have text on both sides, but one end of the line needs to have some text</a:t>
            </a:r>
          </a:p>
        </p:txBody>
      </p:sp>
      <p:pic>
        <p:nvPicPr>
          <p:cNvPr id="35"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7090226" flipH="1">
            <a:off x="4942635" y="4469147"/>
            <a:ext cx="988838" cy="110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96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180388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6" name="TextBox 35"/>
          <p:cNvSpPr txBox="1"/>
          <p:nvPr/>
        </p:nvSpPr>
        <p:spPr>
          <a:xfrm>
            <a:off x="263769" y="1219200"/>
            <a:ext cx="3622431"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For multiple statements, don’t make multiple lines. Just separate the statements with a </a:t>
            </a:r>
          </a:p>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comma</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pic>
        <p:nvPicPr>
          <p:cNvPr id="54"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303950" flipH="1">
            <a:off x="2360562" y="1704518"/>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p:cNvSpPr txBox="1"/>
          <p:nvPr/>
        </p:nvSpPr>
        <p:spPr>
          <a:xfrm>
            <a:off x="4728210" y="1923871"/>
            <a:ext cx="4536275"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 situations where your System would have to do different things if it did an action itself, vs. if the outer box item did the same action, it’s good to repeat that action on both sides</a:t>
            </a:r>
          </a:p>
        </p:txBody>
      </p:sp>
      <p:pic>
        <p:nvPicPr>
          <p:cNvPr id="62"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8138552" flipH="1">
            <a:off x="3985146" y="1650567"/>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056223" flipH="1">
            <a:off x="6071679" y="1272650"/>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74" name="Rectangle 73"/>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cxnSp>
        <p:nvCxnSpPr>
          <p:cNvPr id="76" name="Elbow Connector 75"/>
          <p:cNvCxnSpPr>
            <a:endCxn id="74"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909310" y="3726180"/>
            <a:ext cx="3251191" cy="2031325"/>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 this case Your System has to both alert Other Vehicles of its actions and it has to be able to allow recognition of Other Vehicle’s alerts of their actions (Think about turn signals as an example)</a:t>
            </a:r>
          </a:p>
        </p:txBody>
      </p:sp>
      <p:pic>
        <p:nvPicPr>
          <p:cNvPr id="37"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480154">
            <a:off x="7237309" y="3059191"/>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974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982904" y="630174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55519" y="3569677"/>
            <a:ext cx="2927385" cy="2975903"/>
          </a:xfrm>
          <a:prstGeom prst="bentConnector3">
            <a:avLst>
              <a:gd name="adj1" fmla="val 2657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grpSp>
        <p:nvGrpSpPr>
          <p:cNvPr id="57" name="Group 56"/>
          <p:cNvGrpSpPr/>
          <p:nvPr/>
        </p:nvGrpSpPr>
        <p:grpSpPr>
          <a:xfrm rot="20431948">
            <a:off x="5271488" y="3489165"/>
            <a:ext cx="467337" cy="619589"/>
            <a:chOff x="5152392" y="3352800"/>
            <a:chExt cx="762000" cy="1010249"/>
          </a:xfrm>
        </p:grpSpPr>
        <p:cxnSp>
          <p:nvCxnSpPr>
            <p:cNvPr id="59" name="Straight Connector 58"/>
            <p:cNvCxnSpPr/>
            <p:nvPr/>
          </p:nvCxnSpPr>
          <p:spPr>
            <a:xfrm>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5055519" y="3581400"/>
            <a:ext cx="840959" cy="461665"/>
          </a:xfrm>
          <a:prstGeom prst="rect">
            <a:avLst/>
          </a:prstGeom>
          <a:noFill/>
        </p:spPr>
        <p:txBody>
          <a:bodyPr wrap="square" rtlCol="0">
            <a:spAutoFit/>
          </a:bodyPr>
          <a:lstStyle/>
          <a:p>
            <a:pPr algn="r"/>
            <a:r>
              <a:rPr lang="en-US" sz="1200" dirty="0"/>
              <a:t>fit in and out of</a:t>
            </a:r>
          </a:p>
        </p:txBody>
      </p:sp>
      <p:sp>
        <p:nvSpPr>
          <p:cNvPr id="64" name="TextBox 63"/>
          <p:cNvSpPr txBox="1"/>
          <p:nvPr/>
        </p:nvSpPr>
        <p:spPr>
          <a:xfrm>
            <a:off x="6801333" y="3746480"/>
            <a:ext cx="2342667" cy="646331"/>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By saying “fit in and out of” we actually</a:t>
            </a:r>
          </a:p>
        </p:txBody>
      </p:sp>
      <p:sp>
        <p:nvSpPr>
          <p:cNvPr id="66" name="Rectangle 65"/>
          <p:cNvSpPr/>
          <p:nvPr/>
        </p:nvSpPr>
        <p:spPr>
          <a:xfrm>
            <a:off x="5885048" y="4298216"/>
            <a:ext cx="3373119" cy="2308324"/>
          </a:xfrm>
          <a:prstGeom prst="rect">
            <a:avLst/>
          </a:prstGeom>
        </p:spPr>
        <p:txBody>
          <a:bodyPr wrap="square">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mean that the System has to both physically fit in a parking space AND be able to be maneuvered in and out of the space. As these are significantly different needs, its recommended to split it into 2 statements</a:t>
            </a:r>
          </a:p>
        </p:txBody>
      </p:sp>
      <p:pic>
        <p:nvPicPr>
          <p:cNvPr id="73"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7366726" flipH="1" flipV="1">
            <a:off x="5360695" y="4038908"/>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99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1031"/>
            <a:ext cx="9144000" cy="369332"/>
          </a:xfrm>
          <a:prstGeom prst="rect">
            <a:avLst/>
          </a:prstGeom>
          <a:noFill/>
        </p:spPr>
        <p:txBody>
          <a:bodyPr wrap="square" rtlCol="0">
            <a:spAutoFit/>
          </a:bodyPr>
          <a:lstStyle/>
          <a:p>
            <a:r>
              <a:rPr lang="en-US" dirty="0"/>
              <a:t>At the same time you can also write text on how the System interacts with the box items</a:t>
            </a:r>
          </a:p>
        </p:txBody>
      </p:sp>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949276"/>
            <a:ext cx="977025" cy="461665"/>
          </a:xfrm>
          <a:prstGeom prst="rect">
            <a:avLst/>
          </a:prstGeom>
          <a:noFill/>
        </p:spPr>
        <p:txBody>
          <a:bodyPr wrap="square" rtlCol="0">
            <a:spAutoFit/>
          </a:bodyPr>
          <a:lstStyle/>
          <a:p>
            <a:r>
              <a:rPr lang="en-US" sz="1200" dirty="0"/>
              <a:t>Affects visibility of </a:t>
            </a:r>
          </a:p>
        </p:txBody>
      </p:sp>
      <p:sp>
        <p:nvSpPr>
          <p:cNvPr id="5" name="TextBox 4"/>
          <p:cNvSpPr txBox="1"/>
          <p:nvPr/>
        </p:nvSpPr>
        <p:spPr>
          <a:xfrm>
            <a:off x="152400" y="3276600"/>
            <a:ext cx="2057400" cy="2031325"/>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Only connect the outer boxes with lines if you think that interaction will directly will affect how your System will be designed</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9" name="TextBox 38"/>
          <p:cNvSpPr txBox="1"/>
          <p:nvPr/>
        </p:nvSpPr>
        <p:spPr>
          <a:xfrm>
            <a:off x="5029200" y="2293203"/>
            <a:ext cx="1873352" cy="830997"/>
          </a:xfrm>
          <a:prstGeom prst="rect">
            <a:avLst/>
          </a:prstGeom>
          <a:noFill/>
        </p:spPr>
        <p:txBody>
          <a:bodyPr wrap="square" rtlCol="0">
            <a:spAutoFit/>
          </a:bodyPr>
          <a:lstStyle/>
          <a:p>
            <a:r>
              <a:rPr lang="en-US" sz="1200" dirty="0"/>
              <a:t>fit in the lanes of, be able to take turns of,</a:t>
            </a:r>
          </a:p>
          <a:p>
            <a:r>
              <a:rPr lang="en-US" sz="1200" dirty="0"/>
              <a:t>Have necessary friction against without damaging</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58" name="TextBox 57"/>
          <p:cNvSpPr txBox="1"/>
          <p:nvPr/>
        </p:nvSpPr>
        <p:spPr>
          <a:xfrm>
            <a:off x="4038600" y="3556337"/>
            <a:ext cx="1295400" cy="830997"/>
          </a:xfrm>
          <a:prstGeom prst="rect">
            <a:avLst/>
          </a:prstGeom>
          <a:noFill/>
        </p:spPr>
        <p:txBody>
          <a:bodyPr wrap="square" rtlCol="0">
            <a:spAutoFit/>
          </a:bodyPr>
          <a:lstStyle/>
          <a:p>
            <a:r>
              <a:rPr lang="en-US" sz="1200" dirty="0"/>
              <a:t>carries without damaging, handles a variety of sizes of</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cxnSp>
        <p:nvCxnSpPr>
          <p:cNvPr id="72" name="Elbow Connector 71"/>
          <p:cNvCxnSpPr>
            <a:stCxn id="21" idx="1"/>
            <a:endCxn id="23" idx="1"/>
          </p:cNvCxnSpPr>
          <p:nvPr/>
        </p:nvCxnSpPr>
        <p:spPr>
          <a:xfrm rot="10800000" flipH="1" flipV="1">
            <a:off x="825136" y="929640"/>
            <a:ext cx="13063" cy="4800600"/>
          </a:xfrm>
          <a:prstGeom prst="bentConnector3">
            <a:avLst>
              <a:gd name="adj1" fmla="val -5519169"/>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276249" flipH="1" flipV="1">
            <a:off x="93422" y="4992075"/>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496772" flipH="1" flipV="1">
            <a:off x="-32004" y="2657100"/>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001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1031"/>
            <a:ext cx="9144000" cy="646331"/>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As you may have noticed, the way the outer boxes connect to your System informs needs that your System must meet…</a:t>
            </a:r>
          </a:p>
        </p:txBody>
      </p:sp>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890303" y="210017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flipV="1">
            <a:off x="5042263" y="2344014"/>
            <a:ext cx="2848040" cy="993547"/>
          </a:xfrm>
          <a:prstGeom prst="bentConnector3">
            <a:avLst>
              <a:gd name="adj1" fmla="val 7046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937846"/>
            <a:ext cx="977025" cy="461665"/>
          </a:xfrm>
          <a:prstGeom prst="rect">
            <a:avLst/>
          </a:prstGeom>
          <a:noFill/>
        </p:spPr>
        <p:txBody>
          <a:bodyPr wrap="square" rtlCol="0">
            <a:spAutoFit/>
          </a:bodyPr>
          <a:lstStyle/>
          <a:p>
            <a:r>
              <a:rPr lang="en-US" sz="1200" dirty="0"/>
              <a:t>Affects visibility of </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39" name="TextBox 38"/>
          <p:cNvSpPr txBox="1"/>
          <p:nvPr/>
        </p:nvSpPr>
        <p:spPr>
          <a:xfrm>
            <a:off x="5029200" y="2293203"/>
            <a:ext cx="1873352" cy="830997"/>
          </a:xfrm>
          <a:prstGeom prst="rect">
            <a:avLst/>
          </a:prstGeom>
          <a:noFill/>
        </p:spPr>
        <p:txBody>
          <a:bodyPr wrap="square" rtlCol="0">
            <a:spAutoFit/>
          </a:bodyPr>
          <a:lstStyle/>
          <a:p>
            <a:r>
              <a:rPr lang="en-US" sz="1200" dirty="0"/>
              <a:t>fit in the lanes of, be able to take turns of,</a:t>
            </a:r>
          </a:p>
          <a:p>
            <a:r>
              <a:rPr lang="en-US" sz="1200" dirty="0"/>
              <a:t>Have necessary friction against without damaging</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58" name="TextBox 57"/>
          <p:cNvSpPr txBox="1"/>
          <p:nvPr/>
        </p:nvSpPr>
        <p:spPr>
          <a:xfrm>
            <a:off x="4038600" y="3556337"/>
            <a:ext cx="1295400" cy="830997"/>
          </a:xfrm>
          <a:prstGeom prst="rect">
            <a:avLst/>
          </a:prstGeom>
          <a:noFill/>
        </p:spPr>
        <p:txBody>
          <a:bodyPr wrap="square" rtlCol="0">
            <a:spAutoFit/>
          </a:bodyPr>
          <a:lstStyle/>
          <a:p>
            <a:r>
              <a:rPr lang="en-US" sz="1200" dirty="0"/>
              <a:t>carries without damaging, handles a variety of sizes of</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cxnSp>
        <p:nvCxnSpPr>
          <p:cNvPr id="72" name="Elbow Connector 71"/>
          <p:cNvCxnSpPr>
            <a:stCxn id="21" idx="1"/>
            <a:endCxn id="23" idx="1"/>
          </p:cNvCxnSpPr>
          <p:nvPr/>
        </p:nvCxnSpPr>
        <p:spPr>
          <a:xfrm rot="10800000" flipH="1" flipV="1">
            <a:off x="825136" y="929640"/>
            <a:ext cx="13063" cy="4800600"/>
          </a:xfrm>
          <a:prstGeom prst="bentConnector3">
            <a:avLst>
              <a:gd name="adj1" fmla="val -5519169"/>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010399" y="1066800"/>
            <a:ext cx="2209801"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There is a constraint here you’ll have to find out more about</a:t>
            </a:r>
          </a:p>
        </p:txBody>
      </p:sp>
      <p:sp>
        <p:nvSpPr>
          <p:cNvPr id="49" name="TextBox 48"/>
          <p:cNvSpPr txBox="1"/>
          <p:nvPr/>
        </p:nvSpPr>
        <p:spPr>
          <a:xfrm>
            <a:off x="2579077" y="1058336"/>
            <a:ext cx="1777427"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You have to deal with unwanted  interactions too</a:t>
            </a:r>
          </a:p>
        </p:txBody>
      </p:sp>
      <p:sp>
        <p:nvSpPr>
          <p:cNvPr id="50" name="TextBox 49"/>
          <p:cNvSpPr txBox="1"/>
          <p:nvPr/>
        </p:nvSpPr>
        <p:spPr>
          <a:xfrm>
            <a:off x="7100329" y="2942272"/>
            <a:ext cx="2209801" cy="147732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State the “obvious” interactions too; helps to ensure you and others won’t forget them</a:t>
            </a:r>
          </a:p>
        </p:txBody>
      </p:sp>
      <p:pic>
        <p:nvPicPr>
          <p:cNvPr id="54"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559093" flipH="1" flipV="1">
            <a:off x="6525200" y="2954931"/>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369997" flipH="1" flipV="1">
            <a:off x="3950989" y="754728"/>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107896" flipV="1">
            <a:off x="1927746" y="1668192"/>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7067602" flipH="1" flipV="1">
            <a:off x="6486395" y="713553"/>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31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937846"/>
            <a:ext cx="977025" cy="461665"/>
          </a:xfrm>
          <a:prstGeom prst="rect">
            <a:avLst/>
          </a:prstGeom>
          <a:noFill/>
        </p:spPr>
        <p:txBody>
          <a:bodyPr wrap="square" rtlCol="0">
            <a:spAutoFit/>
          </a:bodyPr>
          <a:lstStyle/>
          <a:p>
            <a:r>
              <a:rPr lang="en-US" sz="1200" dirty="0"/>
              <a:t>Affects visibility of </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39" name="TextBox 38"/>
          <p:cNvSpPr txBox="1"/>
          <p:nvPr/>
        </p:nvSpPr>
        <p:spPr>
          <a:xfrm>
            <a:off x="5029200" y="2293203"/>
            <a:ext cx="1873352" cy="830997"/>
          </a:xfrm>
          <a:prstGeom prst="rect">
            <a:avLst/>
          </a:prstGeom>
          <a:noFill/>
        </p:spPr>
        <p:txBody>
          <a:bodyPr wrap="square" rtlCol="0">
            <a:spAutoFit/>
          </a:bodyPr>
          <a:lstStyle/>
          <a:p>
            <a:r>
              <a:rPr lang="en-US" sz="1200" dirty="0"/>
              <a:t>fit in the lanes of, be able to take turns of,</a:t>
            </a:r>
          </a:p>
          <a:p>
            <a:r>
              <a:rPr lang="en-US" sz="1200" dirty="0"/>
              <a:t>Have necessary friction against without damaging</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48" name="TextBox 47"/>
          <p:cNvSpPr txBox="1"/>
          <p:nvPr/>
        </p:nvSpPr>
        <p:spPr>
          <a:xfrm>
            <a:off x="2108060" y="3505200"/>
            <a:ext cx="1549539" cy="830997"/>
          </a:xfrm>
          <a:prstGeom prst="rect">
            <a:avLst/>
          </a:prstGeom>
          <a:noFill/>
        </p:spPr>
        <p:txBody>
          <a:bodyPr wrap="square" rtlCol="0">
            <a:spAutoFit/>
          </a:bodyPr>
          <a:lstStyle/>
          <a:p>
            <a:pPr algn="r"/>
            <a:r>
              <a:rPr lang="en-US" sz="1200" dirty="0"/>
              <a:t>safely transports,  protects in a crash, reacts to commands effectively, </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58" name="TextBox 57"/>
          <p:cNvSpPr txBox="1"/>
          <p:nvPr/>
        </p:nvSpPr>
        <p:spPr>
          <a:xfrm>
            <a:off x="4038600" y="3556337"/>
            <a:ext cx="1295400" cy="830997"/>
          </a:xfrm>
          <a:prstGeom prst="rect">
            <a:avLst/>
          </a:prstGeom>
          <a:noFill/>
        </p:spPr>
        <p:txBody>
          <a:bodyPr wrap="square" rtlCol="0">
            <a:spAutoFit/>
          </a:bodyPr>
          <a:lstStyle/>
          <a:p>
            <a:r>
              <a:rPr lang="en-US" sz="1200" dirty="0"/>
              <a:t>carries without damaging, handles a variety of sizes of</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cxnSp>
        <p:nvCxnSpPr>
          <p:cNvPr id="72" name="Elbow Connector 71"/>
          <p:cNvCxnSpPr>
            <a:stCxn id="21" idx="1"/>
            <a:endCxn id="23" idx="1"/>
          </p:cNvCxnSpPr>
          <p:nvPr/>
        </p:nvCxnSpPr>
        <p:spPr>
          <a:xfrm rot="10800000" flipH="1" flipV="1">
            <a:off x="825136" y="929640"/>
            <a:ext cx="13063" cy="4800600"/>
          </a:xfrm>
          <a:prstGeom prst="bentConnector3">
            <a:avLst>
              <a:gd name="adj1" fmla="val -5519169"/>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63830" y="3111011"/>
            <a:ext cx="2293620" cy="2031325"/>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We’ll have to formally define what terms like “safely”, “easily” and “effectively” means later.</a:t>
            </a:r>
            <a:r>
              <a:rPr lang="en-US" dirty="0"/>
              <a:t>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As well as a way to measure them.  </a:t>
            </a:r>
          </a:p>
        </p:txBody>
      </p:sp>
      <p:pic>
        <p:nvPicPr>
          <p:cNvPr id="50"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2019530" flipH="1" flipV="1">
            <a:off x="2252603" y="2413324"/>
            <a:ext cx="749880" cy="83524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6200" y="11668"/>
            <a:ext cx="7047996" cy="369332"/>
          </a:xfrm>
          <a:prstGeom prst="rect">
            <a:avLst/>
          </a:prstGeom>
        </p:spPr>
        <p:txBody>
          <a:bodyPr wrap="square">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Connections also help identify potential Performance Criteria...</a:t>
            </a:r>
          </a:p>
        </p:txBody>
      </p:sp>
      <p:sp>
        <p:nvSpPr>
          <p:cNvPr id="54" name="TextBox 53"/>
          <p:cNvSpPr txBox="1"/>
          <p:nvPr/>
        </p:nvSpPr>
        <p:spPr>
          <a:xfrm>
            <a:off x="762000" y="1295400"/>
            <a:ext cx="3733800"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well your system does these functions will have to be able to be evaluated</a:t>
            </a:r>
          </a:p>
        </p:txBody>
      </p:sp>
      <p:pic>
        <p:nvPicPr>
          <p:cNvPr id="55"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28548" flipV="1">
            <a:off x="2431061" y="1784862"/>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755340" flipV="1">
            <a:off x="2314485" y="4057336"/>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p:cNvSpPr txBox="1"/>
          <p:nvPr/>
        </p:nvSpPr>
        <p:spPr>
          <a:xfrm>
            <a:off x="1905000" y="4699337"/>
            <a:ext cx="1813830" cy="1015663"/>
          </a:xfrm>
          <a:prstGeom prst="rect">
            <a:avLst/>
          </a:prstGeom>
          <a:noFill/>
        </p:spPr>
        <p:txBody>
          <a:bodyPr wrap="square" rtlCol="0">
            <a:spAutoFit/>
          </a:bodyPr>
          <a:lstStyle/>
          <a:p>
            <a:r>
              <a:rPr lang="en-US" sz="1200" dirty="0"/>
              <a:t>steer, sleep in, fit in, can get in and out of, listen to radio in, see environment while within, alert other vehicles to their actions, </a:t>
            </a:r>
          </a:p>
        </p:txBody>
      </p:sp>
    </p:spTree>
    <p:extLst>
      <p:ext uri="{BB962C8B-B14F-4D97-AF65-F5344CB8AC3E}">
        <p14:creationId xmlns:p14="http://schemas.microsoft.com/office/powerpoint/2010/main" val="2137190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937846"/>
            <a:ext cx="977025" cy="461665"/>
          </a:xfrm>
          <a:prstGeom prst="rect">
            <a:avLst/>
          </a:prstGeom>
          <a:noFill/>
        </p:spPr>
        <p:txBody>
          <a:bodyPr wrap="square" rtlCol="0">
            <a:spAutoFit/>
          </a:bodyPr>
          <a:lstStyle/>
          <a:p>
            <a:r>
              <a:rPr lang="en-US" sz="1200" dirty="0"/>
              <a:t>Affects visibility of </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39" name="TextBox 38"/>
          <p:cNvSpPr txBox="1"/>
          <p:nvPr/>
        </p:nvSpPr>
        <p:spPr>
          <a:xfrm>
            <a:off x="5029200" y="2293203"/>
            <a:ext cx="1873352" cy="830997"/>
          </a:xfrm>
          <a:prstGeom prst="rect">
            <a:avLst/>
          </a:prstGeom>
          <a:noFill/>
        </p:spPr>
        <p:txBody>
          <a:bodyPr wrap="square" rtlCol="0">
            <a:spAutoFit/>
          </a:bodyPr>
          <a:lstStyle/>
          <a:p>
            <a:r>
              <a:rPr lang="en-US" sz="1200" dirty="0"/>
              <a:t>fit in the lanes of, be able to take turns of,</a:t>
            </a:r>
          </a:p>
          <a:p>
            <a:r>
              <a:rPr lang="en-US" sz="1200" dirty="0"/>
              <a:t>Have necessary friction against without damaging</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47" name="TextBox 46"/>
          <p:cNvSpPr txBox="1"/>
          <p:nvPr/>
        </p:nvSpPr>
        <p:spPr>
          <a:xfrm>
            <a:off x="1905000" y="4699337"/>
            <a:ext cx="1813830" cy="1015663"/>
          </a:xfrm>
          <a:prstGeom prst="rect">
            <a:avLst/>
          </a:prstGeom>
          <a:noFill/>
        </p:spPr>
        <p:txBody>
          <a:bodyPr wrap="square" rtlCol="0">
            <a:spAutoFit/>
          </a:bodyPr>
          <a:lstStyle/>
          <a:p>
            <a:r>
              <a:rPr lang="en-US" sz="1200" dirty="0">
                <a:ln w="18415" cmpd="sng">
                  <a:solidFill>
                    <a:srgbClr val="FFFFFF"/>
                  </a:solidFill>
                  <a:prstDash val="solid"/>
                </a:ln>
                <a:solidFill>
                  <a:srgbClr val="FFFFFF"/>
                </a:solidFill>
                <a:effectLst>
                  <a:outerShdw blurRad="63500" dir="3600000" algn="tl" rotWithShape="0">
                    <a:srgbClr val="000000">
                      <a:alpha val="70000"/>
                    </a:srgbClr>
                  </a:outerShdw>
                </a:effectLst>
              </a:rPr>
              <a:t>steer, sleep in, fit in, can get in and out of, listen to radio in, see environment while within, alert other vehicles to their actions, </a:t>
            </a:r>
          </a:p>
        </p:txBody>
      </p:sp>
      <p:sp>
        <p:nvSpPr>
          <p:cNvPr id="48" name="TextBox 47"/>
          <p:cNvSpPr txBox="1"/>
          <p:nvPr/>
        </p:nvSpPr>
        <p:spPr>
          <a:xfrm>
            <a:off x="2108060" y="3505200"/>
            <a:ext cx="1549539" cy="830997"/>
          </a:xfrm>
          <a:prstGeom prst="rect">
            <a:avLst/>
          </a:prstGeom>
          <a:noFill/>
        </p:spPr>
        <p:txBody>
          <a:bodyPr wrap="square" rtlCol="0">
            <a:spAutoFit/>
          </a:bodyPr>
          <a:lstStyle/>
          <a:p>
            <a:pPr algn="r"/>
            <a:r>
              <a:rPr lang="en-US" sz="1200" dirty="0">
                <a:ln w="18415" cmpd="sng">
                  <a:solidFill>
                    <a:srgbClr val="FFFFFF"/>
                  </a:solidFill>
                  <a:prstDash val="solid"/>
                </a:ln>
                <a:solidFill>
                  <a:srgbClr val="FFFFFF"/>
                </a:solidFill>
                <a:effectLst>
                  <a:outerShdw blurRad="63500" dir="3600000" algn="tl" rotWithShape="0">
                    <a:srgbClr val="000000">
                      <a:alpha val="70000"/>
                    </a:srgbClr>
                  </a:outerShdw>
                </a:effectLst>
              </a:rPr>
              <a:t>safely transports,  protects in a crash, reacts to commands effectively, </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58" name="TextBox 57"/>
          <p:cNvSpPr txBox="1"/>
          <p:nvPr/>
        </p:nvSpPr>
        <p:spPr>
          <a:xfrm>
            <a:off x="4038600" y="3556337"/>
            <a:ext cx="1295400" cy="830997"/>
          </a:xfrm>
          <a:prstGeom prst="rect">
            <a:avLst/>
          </a:prstGeom>
          <a:noFill/>
        </p:spPr>
        <p:txBody>
          <a:bodyPr wrap="square" rtlCol="0">
            <a:spAutoFit/>
          </a:bodyPr>
          <a:lstStyle/>
          <a:p>
            <a:r>
              <a:rPr lang="en-US" sz="1200" dirty="0"/>
              <a:t>carries without damaging, handles a variety of sizes of</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cxnSp>
        <p:nvCxnSpPr>
          <p:cNvPr id="72" name="Elbow Connector 71"/>
          <p:cNvCxnSpPr>
            <a:stCxn id="21" idx="1"/>
            <a:endCxn id="23" idx="1"/>
          </p:cNvCxnSpPr>
          <p:nvPr/>
        </p:nvCxnSpPr>
        <p:spPr>
          <a:xfrm rot="10800000" flipH="1" flipV="1">
            <a:off x="825136" y="929640"/>
            <a:ext cx="13063" cy="4800600"/>
          </a:xfrm>
          <a:prstGeom prst="bentConnector3">
            <a:avLst>
              <a:gd name="adj1" fmla="val -5519169"/>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52400" y="2948940"/>
            <a:ext cx="2057400" cy="2585323"/>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Optionally, when there are a  large number of interfaces, this can be cleaned up by replacing the text with a symbol and a matching </a:t>
            </a:r>
          </a:p>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symbol legend</a:t>
            </a:r>
          </a:p>
        </p:txBody>
      </p:sp>
      <p:pic>
        <p:nvPicPr>
          <p:cNvPr id="50"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5252499" flipH="1" flipV="1">
            <a:off x="1799616" y="3026092"/>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2490518" flipH="1">
            <a:off x="-60195" y="5476505"/>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3418786" y="3680524"/>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43" name="Oval 42"/>
          <p:cNvSpPr/>
          <p:nvPr/>
        </p:nvSpPr>
        <p:spPr>
          <a:xfrm>
            <a:off x="1992630" y="5517554"/>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t>
            </a:r>
          </a:p>
        </p:txBody>
      </p:sp>
      <p:sp>
        <p:nvSpPr>
          <p:cNvPr id="54" name="Oval 53"/>
          <p:cNvSpPr/>
          <p:nvPr/>
        </p:nvSpPr>
        <p:spPr>
          <a:xfrm>
            <a:off x="401555" y="6154331"/>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55" name="Oval 54"/>
          <p:cNvSpPr/>
          <p:nvPr/>
        </p:nvSpPr>
        <p:spPr>
          <a:xfrm>
            <a:off x="392430" y="6457950"/>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t>
            </a:r>
          </a:p>
        </p:txBody>
      </p:sp>
      <p:sp>
        <p:nvSpPr>
          <p:cNvPr id="57" name="TextBox 56"/>
          <p:cNvSpPr txBox="1"/>
          <p:nvPr/>
        </p:nvSpPr>
        <p:spPr>
          <a:xfrm>
            <a:off x="533400" y="6115050"/>
            <a:ext cx="6519369" cy="276999"/>
          </a:xfrm>
          <a:prstGeom prst="rect">
            <a:avLst/>
          </a:prstGeom>
          <a:noFill/>
        </p:spPr>
        <p:txBody>
          <a:bodyPr wrap="square" rtlCol="0">
            <a:spAutoFit/>
          </a:bodyPr>
          <a:lstStyle/>
          <a:p>
            <a:r>
              <a:rPr lang="en-US" sz="1200" dirty="0"/>
              <a:t>safely transports,  protects in a crash, reacts to commands effectively </a:t>
            </a:r>
          </a:p>
        </p:txBody>
      </p:sp>
      <p:sp>
        <p:nvSpPr>
          <p:cNvPr id="59" name="TextBox 58"/>
          <p:cNvSpPr txBox="1"/>
          <p:nvPr/>
        </p:nvSpPr>
        <p:spPr>
          <a:xfrm>
            <a:off x="541020" y="6389370"/>
            <a:ext cx="8382001" cy="276999"/>
          </a:xfrm>
          <a:prstGeom prst="rect">
            <a:avLst/>
          </a:prstGeom>
          <a:noFill/>
        </p:spPr>
        <p:txBody>
          <a:bodyPr wrap="square" rtlCol="0">
            <a:spAutoFit/>
          </a:bodyPr>
          <a:lstStyle/>
          <a:p>
            <a:r>
              <a:rPr lang="en-US" sz="1200" dirty="0"/>
              <a:t>steer, sleep in, fit in, can get in and out of, listen to radio in, see environment while within, alert other vehicles to their actions </a:t>
            </a:r>
          </a:p>
        </p:txBody>
      </p:sp>
    </p:spTree>
    <p:extLst>
      <p:ext uri="{BB962C8B-B14F-4D97-AF65-F5344CB8AC3E}">
        <p14:creationId xmlns:p14="http://schemas.microsoft.com/office/powerpoint/2010/main" val="99575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8" name="Rectangle 17"/>
          <p:cNvSpPr/>
          <p:nvPr/>
        </p:nvSpPr>
        <p:spPr>
          <a:xfrm>
            <a:off x="2209800" y="1958220"/>
            <a:ext cx="4572000" cy="239405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7759337" y="5865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Roads</a:t>
            </a:r>
          </a:p>
        </p:txBody>
      </p:sp>
      <p:sp>
        <p:nvSpPr>
          <p:cNvPr id="20" name="Rectangle 19"/>
          <p:cNvSpPr/>
          <p:nvPr/>
        </p:nvSpPr>
        <p:spPr>
          <a:xfrm>
            <a:off x="723029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21" name="Rectangle 20"/>
          <p:cNvSpPr/>
          <p:nvPr/>
        </p:nvSpPr>
        <p:spPr>
          <a:xfrm>
            <a:off x="825137" y="685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Weather</a:t>
            </a:r>
          </a:p>
        </p:txBody>
      </p:sp>
      <p:sp>
        <p:nvSpPr>
          <p:cNvPr id="22" name="Rectangle 21"/>
          <p:cNvSpPr/>
          <p:nvPr/>
        </p:nvSpPr>
        <p:spPr>
          <a:xfrm>
            <a:off x="493790" y="251296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23" name="Rectangle 22"/>
          <p:cNvSpPr/>
          <p:nvPr/>
        </p:nvSpPr>
        <p:spPr>
          <a:xfrm>
            <a:off x="838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Passengers</a:t>
            </a:r>
          </a:p>
        </p:txBody>
      </p:sp>
      <p:sp>
        <p:nvSpPr>
          <p:cNvPr id="24" name="Rectangle 23"/>
          <p:cNvSpPr/>
          <p:nvPr/>
        </p:nvSpPr>
        <p:spPr>
          <a:xfrm>
            <a:off x="3847146" y="551589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3731893" y="62570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6" name="Rectangle 25"/>
          <p:cNvSpPr/>
          <p:nvPr/>
        </p:nvSpPr>
        <p:spPr>
          <a:xfrm>
            <a:off x="7944291" y="327442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Gas Stations</a:t>
            </a:r>
          </a:p>
        </p:txBody>
      </p:sp>
      <p:cxnSp>
        <p:nvCxnSpPr>
          <p:cNvPr id="4" name="Elbow Connector 3"/>
          <p:cNvCxnSpPr>
            <a:stCxn id="25" idx="2"/>
            <a:endCxn id="17" idx="0"/>
          </p:cNvCxnSpPr>
          <p:nvPr/>
        </p:nvCxnSpPr>
        <p:spPr>
          <a:xfrm rot="16200000" flipH="1">
            <a:off x="3396912" y="1988300"/>
            <a:ext cx="1980333" cy="230507"/>
          </a:xfrm>
          <a:prstGeom prst="bentConnector3">
            <a:avLst>
              <a:gd name="adj1" fmla="val 4704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9" idx="1"/>
          </p:cNvCxnSpPr>
          <p:nvPr/>
        </p:nvCxnSpPr>
        <p:spPr>
          <a:xfrm rot="10800000" flipV="1">
            <a:off x="5055519" y="830342"/>
            <a:ext cx="2703818" cy="2255758"/>
          </a:xfrm>
          <a:prstGeom prst="bentConnector3">
            <a:avLst>
              <a:gd name="adj1" fmla="val 3179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7" idx="3"/>
            <a:endCxn id="26" idx="1"/>
          </p:cNvCxnSpPr>
          <p:nvPr/>
        </p:nvCxnSpPr>
        <p:spPr>
          <a:xfrm>
            <a:off x="5042263" y="3337561"/>
            <a:ext cx="2902028" cy="18070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24" idx="0"/>
          </p:cNvCxnSpPr>
          <p:nvPr/>
        </p:nvCxnSpPr>
        <p:spPr>
          <a:xfrm rot="16200000" flipH="1">
            <a:off x="3243688" y="4372507"/>
            <a:ext cx="1938304" cy="348476"/>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20" idx="1"/>
          </p:cNvCxnSpPr>
          <p:nvPr/>
        </p:nvCxnSpPr>
        <p:spPr>
          <a:xfrm>
            <a:off x="5042263" y="3577591"/>
            <a:ext cx="2188027" cy="2152649"/>
          </a:xfrm>
          <a:prstGeom prst="bentConnector3">
            <a:avLst>
              <a:gd name="adj1" fmla="val 3821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7" idx="1"/>
            <a:endCxn id="22" idx="3"/>
          </p:cNvCxnSpPr>
          <p:nvPr/>
        </p:nvCxnSpPr>
        <p:spPr>
          <a:xfrm rot="10800000">
            <a:off x="1573654" y="2756803"/>
            <a:ext cx="2388747" cy="580758"/>
          </a:xfrm>
          <a:prstGeom prst="bentConnector3">
            <a:avLst>
              <a:gd name="adj1" fmla="val 68158"/>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21" idx="3"/>
          </p:cNvCxnSpPr>
          <p:nvPr/>
        </p:nvCxnSpPr>
        <p:spPr>
          <a:xfrm>
            <a:off x="1905000" y="929640"/>
            <a:ext cx="2237015" cy="2156460"/>
          </a:xfrm>
          <a:prstGeom prst="bentConnector3">
            <a:avLst>
              <a:gd name="adj1" fmla="val 3061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3" idx="3"/>
          </p:cNvCxnSpPr>
          <p:nvPr/>
        </p:nvCxnSpPr>
        <p:spPr>
          <a:xfrm flipV="1">
            <a:off x="1918063" y="3577591"/>
            <a:ext cx="2284367" cy="2152649"/>
          </a:xfrm>
          <a:prstGeom prst="bentConnector3">
            <a:avLst>
              <a:gd name="adj1" fmla="val 7412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937846"/>
            <a:ext cx="977025" cy="461665"/>
          </a:xfrm>
          <a:prstGeom prst="rect">
            <a:avLst/>
          </a:prstGeom>
          <a:noFill/>
        </p:spPr>
        <p:txBody>
          <a:bodyPr wrap="square" rtlCol="0">
            <a:spAutoFit/>
          </a:bodyPr>
          <a:lstStyle/>
          <a:p>
            <a:r>
              <a:rPr lang="en-US" sz="1200" dirty="0"/>
              <a:t>Affects visibility of </a:t>
            </a:r>
          </a:p>
        </p:txBody>
      </p:sp>
      <p:sp>
        <p:nvSpPr>
          <p:cNvPr id="6" name="TextBox 5"/>
          <p:cNvSpPr txBox="1"/>
          <p:nvPr/>
        </p:nvSpPr>
        <p:spPr>
          <a:xfrm>
            <a:off x="1905000" y="685800"/>
            <a:ext cx="1335815" cy="276999"/>
          </a:xfrm>
          <a:prstGeom prst="rect">
            <a:avLst/>
          </a:prstGeom>
          <a:noFill/>
        </p:spPr>
        <p:txBody>
          <a:bodyPr wrap="none" rtlCol="0">
            <a:spAutoFit/>
          </a:bodyPr>
          <a:lstStyle/>
          <a:p>
            <a:r>
              <a:rPr lang="en-US" sz="1200" dirty="0"/>
              <a:t>affects handling of</a:t>
            </a:r>
          </a:p>
        </p:txBody>
      </p:sp>
      <p:sp>
        <p:nvSpPr>
          <p:cNvPr id="35" name="TextBox 34"/>
          <p:cNvSpPr txBox="1"/>
          <p:nvPr/>
        </p:nvSpPr>
        <p:spPr>
          <a:xfrm>
            <a:off x="4267201" y="1131277"/>
            <a:ext cx="1981200" cy="646331"/>
          </a:xfrm>
          <a:prstGeom prst="rect">
            <a:avLst/>
          </a:prstGeom>
          <a:noFill/>
        </p:spPr>
        <p:txBody>
          <a:bodyPr wrap="square" rtlCol="0">
            <a:spAutoFit/>
          </a:bodyPr>
          <a:lstStyle/>
          <a:p>
            <a:r>
              <a:rPr lang="en-US" sz="1200" dirty="0"/>
              <a:t>collides with, cut offs, passes, alerts to its actions &amp; intensions, honks at, </a:t>
            </a:r>
          </a:p>
        </p:txBody>
      </p:sp>
      <p:sp>
        <p:nvSpPr>
          <p:cNvPr id="38" name="TextBox 37"/>
          <p:cNvSpPr txBox="1"/>
          <p:nvPr/>
        </p:nvSpPr>
        <p:spPr>
          <a:xfrm>
            <a:off x="6477000" y="580292"/>
            <a:ext cx="1294393" cy="276999"/>
          </a:xfrm>
          <a:prstGeom prst="rect">
            <a:avLst/>
          </a:prstGeom>
          <a:noFill/>
        </p:spPr>
        <p:txBody>
          <a:bodyPr wrap="none" rtlCol="0">
            <a:spAutoFit/>
          </a:bodyPr>
          <a:lstStyle/>
          <a:p>
            <a:r>
              <a:rPr lang="en-US" sz="1200" dirty="0"/>
              <a:t>support weight of</a:t>
            </a:r>
          </a:p>
        </p:txBody>
      </p:sp>
      <p:sp>
        <p:nvSpPr>
          <p:cNvPr id="39" name="TextBox 38"/>
          <p:cNvSpPr txBox="1"/>
          <p:nvPr/>
        </p:nvSpPr>
        <p:spPr>
          <a:xfrm>
            <a:off x="5029200" y="2293203"/>
            <a:ext cx="1873352" cy="830997"/>
          </a:xfrm>
          <a:prstGeom prst="rect">
            <a:avLst/>
          </a:prstGeom>
          <a:noFill/>
        </p:spPr>
        <p:txBody>
          <a:bodyPr wrap="square" rtlCol="0">
            <a:spAutoFit/>
          </a:bodyPr>
          <a:lstStyle/>
          <a:p>
            <a:r>
              <a:rPr lang="en-US" sz="1200" dirty="0"/>
              <a:t>fit in the lanes of, be able to take turns of,</a:t>
            </a:r>
          </a:p>
          <a:p>
            <a:r>
              <a:rPr lang="en-US" sz="1200" dirty="0"/>
              <a:t>Have necessary friction against without damaging</a:t>
            </a:r>
          </a:p>
        </p:txBody>
      </p:sp>
      <p:sp>
        <p:nvSpPr>
          <p:cNvPr id="40" name="TextBox 39"/>
          <p:cNvSpPr txBox="1"/>
          <p:nvPr/>
        </p:nvSpPr>
        <p:spPr>
          <a:xfrm>
            <a:off x="6832164" y="3292678"/>
            <a:ext cx="1424239" cy="276999"/>
          </a:xfrm>
          <a:prstGeom prst="rect">
            <a:avLst/>
          </a:prstGeom>
          <a:noFill/>
        </p:spPr>
        <p:txBody>
          <a:bodyPr wrap="square" rtlCol="0">
            <a:spAutoFit/>
          </a:bodyPr>
          <a:lstStyle/>
          <a:p>
            <a:r>
              <a:rPr lang="en-US" sz="1200" dirty="0"/>
              <a:t>provide fuel for</a:t>
            </a:r>
          </a:p>
        </p:txBody>
      </p:sp>
      <p:sp>
        <p:nvSpPr>
          <p:cNvPr id="41" name="TextBox 40"/>
          <p:cNvSpPr txBox="1"/>
          <p:nvPr/>
        </p:nvSpPr>
        <p:spPr>
          <a:xfrm>
            <a:off x="4988284" y="3135923"/>
            <a:ext cx="1424239" cy="276999"/>
          </a:xfrm>
          <a:prstGeom prst="rect">
            <a:avLst/>
          </a:prstGeom>
          <a:noFill/>
        </p:spPr>
        <p:txBody>
          <a:bodyPr wrap="square" rtlCol="0">
            <a:spAutoFit/>
          </a:bodyPr>
          <a:lstStyle/>
          <a:p>
            <a:r>
              <a:rPr lang="en-US" sz="1200" dirty="0"/>
              <a:t>obtain fuel from</a:t>
            </a:r>
          </a:p>
        </p:txBody>
      </p:sp>
      <p:sp>
        <p:nvSpPr>
          <p:cNvPr id="44" name="TextBox 43"/>
          <p:cNvSpPr txBox="1"/>
          <p:nvPr/>
        </p:nvSpPr>
        <p:spPr>
          <a:xfrm>
            <a:off x="5842542" y="3597532"/>
            <a:ext cx="1091658" cy="646331"/>
          </a:xfrm>
          <a:prstGeom prst="rect">
            <a:avLst/>
          </a:prstGeom>
          <a:noFill/>
        </p:spPr>
        <p:txBody>
          <a:bodyPr wrap="square" rtlCol="0">
            <a:spAutoFit/>
          </a:bodyPr>
          <a:lstStyle/>
          <a:p>
            <a:r>
              <a:rPr lang="en-US" sz="1200" dirty="0"/>
              <a:t>fit in,  maneuver in and out of</a:t>
            </a:r>
          </a:p>
        </p:txBody>
      </p:sp>
      <p:sp>
        <p:nvSpPr>
          <p:cNvPr id="46" name="TextBox 45"/>
          <p:cNvSpPr txBox="1"/>
          <p:nvPr/>
        </p:nvSpPr>
        <p:spPr>
          <a:xfrm>
            <a:off x="4343400" y="5238993"/>
            <a:ext cx="1424239" cy="276999"/>
          </a:xfrm>
          <a:prstGeom prst="rect">
            <a:avLst/>
          </a:prstGeom>
          <a:noFill/>
        </p:spPr>
        <p:txBody>
          <a:bodyPr wrap="square" rtlCol="0">
            <a:spAutoFit/>
          </a:bodyPr>
          <a:lstStyle/>
          <a:p>
            <a:r>
              <a:rPr lang="en-US" sz="1200" dirty="0"/>
              <a:t>stored in</a:t>
            </a:r>
          </a:p>
        </p:txBody>
      </p:sp>
      <p:sp>
        <p:nvSpPr>
          <p:cNvPr id="52" name="TextBox 51"/>
          <p:cNvSpPr txBox="1"/>
          <p:nvPr/>
        </p:nvSpPr>
        <p:spPr>
          <a:xfrm>
            <a:off x="1551216" y="2357735"/>
            <a:ext cx="734784" cy="461665"/>
          </a:xfrm>
          <a:prstGeom prst="rect">
            <a:avLst/>
          </a:prstGeom>
          <a:noFill/>
        </p:spPr>
        <p:txBody>
          <a:bodyPr wrap="square" rtlCol="0">
            <a:spAutoFit/>
          </a:bodyPr>
          <a:lstStyle/>
          <a:p>
            <a:r>
              <a:rPr lang="en-US" sz="1200" dirty="0"/>
              <a:t>runs in front of </a:t>
            </a:r>
          </a:p>
        </p:txBody>
      </p:sp>
      <p:sp>
        <p:nvSpPr>
          <p:cNvPr id="53" name="Rectangle 52"/>
          <p:cNvSpPr/>
          <p:nvPr/>
        </p:nvSpPr>
        <p:spPr>
          <a:xfrm>
            <a:off x="2840831" y="2057400"/>
            <a:ext cx="1731169" cy="646331"/>
          </a:xfrm>
          <a:prstGeom prst="rect">
            <a:avLst/>
          </a:prstGeom>
        </p:spPr>
        <p:txBody>
          <a:bodyPr wrap="square">
            <a:spAutoFit/>
          </a:bodyPr>
          <a:lstStyle/>
          <a:p>
            <a:pPr algn="r"/>
            <a:r>
              <a:rPr lang="en-US" sz="1200" dirty="0"/>
              <a:t>alerts to its actions &amp; intensions, avoids, passes, easily seen by, </a:t>
            </a:r>
          </a:p>
        </p:txBody>
      </p:sp>
      <p:sp>
        <p:nvSpPr>
          <p:cNvPr id="56" name="TextBox 55"/>
          <p:cNvSpPr txBox="1"/>
          <p:nvPr/>
        </p:nvSpPr>
        <p:spPr>
          <a:xfrm>
            <a:off x="2262369" y="3118338"/>
            <a:ext cx="1623831" cy="276999"/>
          </a:xfrm>
          <a:prstGeom prst="rect">
            <a:avLst/>
          </a:prstGeom>
          <a:noFill/>
        </p:spPr>
        <p:txBody>
          <a:bodyPr wrap="square" rtlCol="0">
            <a:spAutoFit/>
          </a:bodyPr>
          <a:lstStyle/>
          <a:p>
            <a:r>
              <a:rPr lang="en-US" sz="1200" dirty="0"/>
              <a:t>avoids, collides with</a:t>
            </a:r>
          </a:p>
        </p:txBody>
      </p:sp>
      <p:sp>
        <p:nvSpPr>
          <p:cNvPr id="58" name="TextBox 57"/>
          <p:cNvSpPr txBox="1"/>
          <p:nvPr/>
        </p:nvSpPr>
        <p:spPr>
          <a:xfrm>
            <a:off x="4038600" y="3556337"/>
            <a:ext cx="1295400" cy="830997"/>
          </a:xfrm>
          <a:prstGeom prst="rect">
            <a:avLst/>
          </a:prstGeom>
          <a:noFill/>
        </p:spPr>
        <p:txBody>
          <a:bodyPr wrap="square" rtlCol="0">
            <a:spAutoFit/>
          </a:bodyPr>
          <a:lstStyle/>
          <a:p>
            <a:r>
              <a:rPr lang="en-US" sz="1200" dirty="0"/>
              <a:t>carries without damaging, handles a variety of sizes of</a:t>
            </a:r>
          </a:p>
        </p:txBody>
      </p:sp>
      <p:sp>
        <p:nvSpPr>
          <p:cNvPr id="68" name="TextBox 67"/>
          <p:cNvSpPr txBox="1"/>
          <p:nvPr/>
        </p:nvSpPr>
        <p:spPr>
          <a:xfrm>
            <a:off x="2948354" y="2883877"/>
            <a:ext cx="1104020" cy="276999"/>
          </a:xfrm>
          <a:prstGeom prst="rect">
            <a:avLst/>
          </a:prstGeom>
          <a:noFill/>
        </p:spPr>
        <p:txBody>
          <a:bodyPr wrap="none" rtlCol="0">
            <a:spAutoFit/>
          </a:bodyPr>
          <a:lstStyle/>
          <a:p>
            <a:r>
              <a:rPr lang="en-US" sz="1200" dirty="0"/>
              <a:t>drives through</a:t>
            </a:r>
          </a:p>
        </p:txBody>
      </p:sp>
      <p:cxnSp>
        <p:nvCxnSpPr>
          <p:cNvPr id="72" name="Elbow Connector 71"/>
          <p:cNvCxnSpPr>
            <a:stCxn id="21" idx="1"/>
            <a:endCxn id="23" idx="1"/>
          </p:cNvCxnSpPr>
          <p:nvPr/>
        </p:nvCxnSpPr>
        <p:spPr>
          <a:xfrm rot="10800000" flipH="1" flipV="1">
            <a:off x="825136" y="929640"/>
            <a:ext cx="13063" cy="4800600"/>
          </a:xfrm>
          <a:prstGeom prst="bentConnector3">
            <a:avLst>
              <a:gd name="adj1" fmla="val -5519169"/>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52400" y="2971800"/>
            <a:ext cx="2057400" cy="2585323"/>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Having a large number / variety of interfaces is also sometimes an indication that the outer boxes should be refined / split into more specific </a:t>
            </a:r>
          </a:p>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items</a:t>
            </a:r>
          </a:p>
        </p:txBody>
      </p:sp>
      <p:pic>
        <p:nvPicPr>
          <p:cNvPr id="5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2682898" flipH="1">
            <a:off x="-86201" y="5605426"/>
            <a:ext cx="716507" cy="798069"/>
          </a:xfrm>
          <a:prstGeom prst="rect">
            <a:avLst/>
          </a:prstGeom>
          <a:noFill/>
          <a:extLst>
            <a:ext uri="{909E8E84-426E-40DD-AFC4-6F175D3DCCD1}">
              <a14:hiddenFill xmlns:a14="http://schemas.microsoft.com/office/drawing/2010/main">
                <a:solidFill>
                  <a:srgbClr val="FFFFFF"/>
                </a:solidFill>
              </a14:hiddenFill>
            </a:ext>
          </a:extLst>
        </p:spPr>
      </p:pic>
      <p:sp>
        <p:nvSpPr>
          <p:cNvPr id="43" name="Oval 42"/>
          <p:cNvSpPr/>
          <p:nvPr/>
        </p:nvSpPr>
        <p:spPr>
          <a:xfrm>
            <a:off x="401555" y="6154331"/>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54" name="Oval 53"/>
          <p:cNvSpPr/>
          <p:nvPr/>
        </p:nvSpPr>
        <p:spPr>
          <a:xfrm>
            <a:off x="392430" y="6457950"/>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t>
            </a:r>
          </a:p>
        </p:txBody>
      </p:sp>
      <p:sp>
        <p:nvSpPr>
          <p:cNvPr id="55" name="TextBox 54"/>
          <p:cNvSpPr txBox="1"/>
          <p:nvPr/>
        </p:nvSpPr>
        <p:spPr>
          <a:xfrm>
            <a:off x="533400" y="6115050"/>
            <a:ext cx="6519369" cy="276999"/>
          </a:xfrm>
          <a:prstGeom prst="rect">
            <a:avLst/>
          </a:prstGeom>
          <a:noFill/>
        </p:spPr>
        <p:txBody>
          <a:bodyPr wrap="square" rtlCol="0">
            <a:spAutoFit/>
          </a:bodyPr>
          <a:lstStyle/>
          <a:p>
            <a:r>
              <a:rPr lang="en-US" sz="1200" dirty="0"/>
              <a:t>safely transports,  protects in a crash, reacts to commands effectively </a:t>
            </a:r>
          </a:p>
        </p:txBody>
      </p:sp>
      <p:sp>
        <p:nvSpPr>
          <p:cNvPr id="57" name="TextBox 56"/>
          <p:cNvSpPr txBox="1"/>
          <p:nvPr/>
        </p:nvSpPr>
        <p:spPr>
          <a:xfrm>
            <a:off x="541020" y="6389370"/>
            <a:ext cx="8382001" cy="276999"/>
          </a:xfrm>
          <a:prstGeom prst="rect">
            <a:avLst/>
          </a:prstGeom>
          <a:noFill/>
        </p:spPr>
        <p:txBody>
          <a:bodyPr wrap="square" rtlCol="0">
            <a:spAutoFit/>
          </a:bodyPr>
          <a:lstStyle/>
          <a:p>
            <a:r>
              <a:rPr lang="en-US" sz="1200" dirty="0"/>
              <a:t>steer, sleep in, fit in, can get in and out of, listen to radio in, see environment while within, alert other vehicles to their actions </a:t>
            </a:r>
          </a:p>
        </p:txBody>
      </p:sp>
      <p:sp>
        <p:nvSpPr>
          <p:cNvPr id="63" name="Oval 62"/>
          <p:cNvSpPr/>
          <p:nvPr/>
        </p:nvSpPr>
        <p:spPr>
          <a:xfrm>
            <a:off x="3418786" y="3680524"/>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64" name="Oval 63"/>
          <p:cNvSpPr/>
          <p:nvPr/>
        </p:nvSpPr>
        <p:spPr>
          <a:xfrm>
            <a:off x="1992630" y="5517554"/>
            <a:ext cx="163156" cy="1631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t>
            </a:r>
          </a:p>
        </p:txBody>
      </p:sp>
    </p:spTree>
    <p:extLst>
      <p:ext uri="{BB962C8B-B14F-4D97-AF65-F5344CB8AC3E}">
        <p14:creationId xmlns:p14="http://schemas.microsoft.com/office/powerpoint/2010/main" val="3030352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41409" y="28357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835203" y="391341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1295400" y="49528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2375263" y="574425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41" name="Rectangle 40"/>
          <p:cNvSpPr/>
          <p:nvPr/>
        </p:nvSpPr>
        <p:spPr>
          <a:xfrm>
            <a:off x="355957" y="1981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42" name="TextBox 41"/>
          <p:cNvSpPr txBox="1"/>
          <p:nvPr/>
        </p:nvSpPr>
        <p:spPr>
          <a:xfrm>
            <a:off x="4343400" y="1524000"/>
            <a:ext cx="4772838" cy="1200329"/>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What makes different kinds of passengers important enough to separate into have their own box, is that each kind of passenger will have to be handled differently by the system. </a:t>
            </a:r>
          </a:p>
        </p:txBody>
      </p:sp>
      <p:sp>
        <p:nvSpPr>
          <p:cNvPr id="43" name="TextBox 42"/>
          <p:cNvSpPr txBox="1"/>
          <p:nvPr/>
        </p:nvSpPr>
        <p:spPr>
          <a:xfrm>
            <a:off x="324398" y="580667"/>
            <a:ext cx="4772838"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Taking a step back to think more about these interactions reveals there are a number of important kinds of passengers </a:t>
            </a:r>
          </a:p>
        </p:txBody>
      </p:sp>
      <p:sp>
        <p:nvSpPr>
          <p:cNvPr id="44" name="Rectangle 43"/>
          <p:cNvSpPr/>
          <p:nvPr/>
        </p:nvSpPr>
        <p:spPr>
          <a:xfrm>
            <a:off x="3919404" y="598809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49" name="Rectangle 4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50" name="Rectangle 4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835487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0" name="Rectangle 9"/>
          <p:cNvSpPr/>
          <p:nvPr/>
        </p:nvSpPr>
        <p:spPr>
          <a:xfrm>
            <a:off x="3048000" y="2743200"/>
            <a:ext cx="2289274" cy="145532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441409" y="28357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835203" y="391341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1295400" y="49528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2375263" y="574425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41" name="Rectangle 40"/>
          <p:cNvSpPr/>
          <p:nvPr/>
        </p:nvSpPr>
        <p:spPr>
          <a:xfrm>
            <a:off x="355957" y="1981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42" name="TextBox 41"/>
          <p:cNvSpPr txBox="1"/>
          <p:nvPr/>
        </p:nvSpPr>
        <p:spPr>
          <a:xfrm>
            <a:off x="4343400" y="1524000"/>
            <a:ext cx="4772838" cy="1200329"/>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What makes different kinds of passengers important enough to separate into have their own box, is that each kind of passenger will have to be handled differently by the system. </a:t>
            </a:r>
          </a:p>
        </p:txBody>
      </p:sp>
      <p:sp>
        <p:nvSpPr>
          <p:cNvPr id="43" name="TextBox 42"/>
          <p:cNvSpPr txBox="1"/>
          <p:nvPr/>
        </p:nvSpPr>
        <p:spPr>
          <a:xfrm>
            <a:off x="324398" y="580667"/>
            <a:ext cx="4772838"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Taking a step back to think more about these interactions reveals there are a number of important kinds of passengers </a:t>
            </a:r>
          </a:p>
        </p:txBody>
      </p:sp>
      <p:sp>
        <p:nvSpPr>
          <p:cNvPr id="44" name="Rectangle 43"/>
          <p:cNvSpPr/>
          <p:nvPr/>
        </p:nvSpPr>
        <p:spPr>
          <a:xfrm>
            <a:off x="3919404" y="598809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45" name="TextBox 44"/>
          <p:cNvSpPr txBox="1"/>
          <p:nvPr/>
        </p:nvSpPr>
        <p:spPr>
          <a:xfrm>
            <a:off x="5638800" y="3883967"/>
            <a:ext cx="2867837" cy="2031325"/>
          </a:xfrm>
          <a:prstGeom prst="rect">
            <a:avLst/>
          </a:prstGeom>
          <a:noFill/>
        </p:spPr>
        <p:txBody>
          <a:bodyPr wrap="square" rtlCol="0">
            <a:spAutoFit/>
          </a:bodyPr>
          <a:lstStyle/>
          <a:p>
            <a:pPr algn="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One example interaction is shown although there are many. In order to safely transport each of these passenger types, the System will have to do something special.</a:t>
            </a:r>
          </a:p>
        </p:txBody>
      </p:sp>
      <p:cxnSp>
        <p:nvCxnSpPr>
          <p:cNvPr id="3" name="Elbow Connector 2"/>
          <p:cNvCxnSpPr>
            <a:stCxn id="9" idx="2"/>
            <a:endCxn id="22" idx="0"/>
          </p:cNvCxnSpPr>
          <p:nvPr/>
        </p:nvCxnSpPr>
        <p:spPr>
          <a:xfrm rot="5400000">
            <a:off x="2627340" y="3869257"/>
            <a:ext cx="2162849" cy="1587137"/>
          </a:xfrm>
          <a:prstGeom prst="bentConnector3">
            <a:avLst>
              <a:gd name="adj1" fmla="val 88050"/>
            </a:avLst>
          </a:prstGeom>
        </p:spPr>
        <p:style>
          <a:lnRef idx="1">
            <a:schemeClr val="accent1"/>
          </a:lnRef>
          <a:fillRef idx="0">
            <a:schemeClr val="accent1"/>
          </a:fillRef>
          <a:effectRef idx="0">
            <a:schemeClr val="accent1"/>
          </a:effectRef>
          <a:fontRef idx="minor">
            <a:schemeClr val="tx1"/>
          </a:fontRef>
        </p:style>
      </p:cxnSp>
      <p:cxnSp>
        <p:nvCxnSpPr>
          <p:cNvPr id="6" name="Elbow Connector 5"/>
          <p:cNvCxnSpPr>
            <a:stCxn id="9" idx="1"/>
            <a:endCxn id="20" idx="3"/>
          </p:cNvCxnSpPr>
          <p:nvPr/>
        </p:nvCxnSpPr>
        <p:spPr>
          <a:xfrm rot="10800000" flipV="1">
            <a:off x="1915066" y="3337560"/>
            <a:ext cx="2047334" cy="81969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8" name="Elbow Connector 7"/>
          <p:cNvCxnSpPr>
            <a:endCxn id="21" idx="3"/>
          </p:cNvCxnSpPr>
          <p:nvPr/>
        </p:nvCxnSpPr>
        <p:spPr>
          <a:xfrm rot="5400000">
            <a:off x="2170709" y="3404955"/>
            <a:ext cx="1996247" cy="158713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506466" y="3653135"/>
            <a:ext cx="827534" cy="461665"/>
          </a:xfrm>
          <a:prstGeom prst="rect">
            <a:avLst/>
          </a:prstGeom>
          <a:noFill/>
        </p:spPr>
        <p:txBody>
          <a:bodyPr wrap="none" rtlCol="0">
            <a:spAutoFit/>
          </a:bodyPr>
          <a:lstStyle/>
          <a:p>
            <a:r>
              <a:rPr lang="en-US" sz="1200" dirty="0"/>
              <a:t>safely </a:t>
            </a:r>
          </a:p>
          <a:p>
            <a:r>
              <a:rPr lang="en-US" sz="1200" dirty="0"/>
              <a:t>transports</a:t>
            </a:r>
          </a:p>
        </p:txBody>
      </p:sp>
      <p:sp>
        <p:nvSpPr>
          <p:cNvPr id="46" name="TextBox 45"/>
          <p:cNvSpPr txBox="1"/>
          <p:nvPr/>
        </p:nvSpPr>
        <p:spPr>
          <a:xfrm>
            <a:off x="3211066" y="3729335"/>
            <a:ext cx="827534" cy="461665"/>
          </a:xfrm>
          <a:prstGeom prst="rect">
            <a:avLst/>
          </a:prstGeom>
          <a:noFill/>
        </p:spPr>
        <p:txBody>
          <a:bodyPr wrap="none" rtlCol="0">
            <a:spAutoFit/>
          </a:bodyPr>
          <a:lstStyle/>
          <a:p>
            <a:pPr algn="r"/>
            <a:r>
              <a:rPr lang="en-US" sz="1200" dirty="0"/>
              <a:t>safely </a:t>
            </a:r>
          </a:p>
          <a:p>
            <a:pPr algn="r"/>
            <a:r>
              <a:rPr lang="en-US" sz="1200" dirty="0"/>
              <a:t>transports</a:t>
            </a:r>
          </a:p>
        </p:txBody>
      </p:sp>
      <p:sp>
        <p:nvSpPr>
          <p:cNvPr id="47" name="TextBox 46"/>
          <p:cNvSpPr txBox="1"/>
          <p:nvPr/>
        </p:nvSpPr>
        <p:spPr>
          <a:xfrm>
            <a:off x="3147060" y="2907030"/>
            <a:ext cx="827534" cy="461665"/>
          </a:xfrm>
          <a:prstGeom prst="rect">
            <a:avLst/>
          </a:prstGeom>
          <a:noFill/>
        </p:spPr>
        <p:txBody>
          <a:bodyPr wrap="none" rtlCol="0">
            <a:spAutoFit/>
          </a:bodyPr>
          <a:lstStyle/>
          <a:p>
            <a:pPr algn="r"/>
            <a:r>
              <a:rPr lang="en-US" sz="1200" dirty="0"/>
              <a:t>safely </a:t>
            </a:r>
          </a:p>
          <a:p>
            <a:pPr algn="r"/>
            <a:r>
              <a:rPr lang="en-US" sz="1200" dirty="0"/>
              <a:t>transports</a:t>
            </a:r>
          </a:p>
        </p:txBody>
      </p:sp>
      <p:pic>
        <p:nvPicPr>
          <p:cNvPr id="48"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8177509" flipV="1">
            <a:off x="5242093" y="3444552"/>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461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0" name="Rectangle 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441409" y="28357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835203" y="391341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1295400" y="49528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2375263" y="574425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23" name="Rectangle 22"/>
          <p:cNvSpPr/>
          <p:nvPr/>
        </p:nvSpPr>
        <p:spPr>
          <a:xfrm>
            <a:off x="5932984" y="389016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 Seats</a:t>
            </a:r>
          </a:p>
        </p:txBody>
      </p:sp>
      <p:sp>
        <p:nvSpPr>
          <p:cNvPr id="24" name="Rectangle 23"/>
          <p:cNvSpPr/>
          <p:nvPr/>
        </p:nvSpPr>
        <p:spPr>
          <a:xfrm>
            <a:off x="5181600" y="50128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41" name="Rectangle 40"/>
          <p:cNvSpPr/>
          <p:nvPr/>
        </p:nvSpPr>
        <p:spPr>
          <a:xfrm>
            <a:off x="355957" y="1981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42" name="TextBox 41"/>
          <p:cNvSpPr txBox="1"/>
          <p:nvPr/>
        </p:nvSpPr>
        <p:spPr>
          <a:xfrm>
            <a:off x="5913934" y="1981200"/>
            <a:ext cx="3195503" cy="147732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Thinking about baby safety helps make the realization that Car Seats are a special type of Cargo that will need to be handled. </a:t>
            </a:r>
          </a:p>
        </p:txBody>
      </p:sp>
      <p:sp>
        <p:nvSpPr>
          <p:cNvPr id="26" name="Rectangle 25"/>
          <p:cNvSpPr/>
          <p:nvPr/>
        </p:nvSpPr>
        <p:spPr>
          <a:xfrm>
            <a:off x="3919404" y="598809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27" name="TextBox 26"/>
          <p:cNvSpPr txBox="1"/>
          <p:nvPr/>
        </p:nvSpPr>
        <p:spPr>
          <a:xfrm>
            <a:off x="6248400" y="5553670"/>
            <a:ext cx="3195503"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Cargo is kept as well to represent all other kinds of generic cargo</a:t>
            </a:r>
          </a:p>
        </p:txBody>
      </p:sp>
      <p:sp>
        <p:nvSpPr>
          <p:cNvPr id="28" name="TextBox 27"/>
          <p:cNvSpPr txBox="1"/>
          <p:nvPr/>
        </p:nvSpPr>
        <p:spPr>
          <a:xfrm>
            <a:off x="228600" y="76200"/>
            <a:ext cx="4033703" cy="369332"/>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This triggers further brainstorming…</a:t>
            </a:r>
          </a:p>
        </p:txBody>
      </p:sp>
      <p:pic>
        <p:nvPicPr>
          <p:cNvPr id="29"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303369" flipV="1">
            <a:off x="6154668" y="5018768"/>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061853">
            <a:off x="6477597" y="3238065"/>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314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0" name="Rectangle 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441409" y="28357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835203" y="391341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1295400" y="49528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2375263" y="574425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23" name="Rectangle 22"/>
          <p:cNvSpPr/>
          <p:nvPr/>
        </p:nvSpPr>
        <p:spPr>
          <a:xfrm>
            <a:off x="5932984" y="389016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 Seats</a:t>
            </a:r>
          </a:p>
        </p:txBody>
      </p:sp>
      <p:sp>
        <p:nvSpPr>
          <p:cNvPr id="24" name="Rectangle 23"/>
          <p:cNvSpPr/>
          <p:nvPr/>
        </p:nvSpPr>
        <p:spPr>
          <a:xfrm>
            <a:off x="5181600" y="50128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41" name="Rectangle 40"/>
          <p:cNvSpPr/>
          <p:nvPr/>
        </p:nvSpPr>
        <p:spPr>
          <a:xfrm>
            <a:off x="355957" y="1981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26" name="Rectangle 25"/>
          <p:cNvSpPr/>
          <p:nvPr/>
        </p:nvSpPr>
        <p:spPr>
          <a:xfrm>
            <a:off x="3919404" y="598809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28" name="TextBox 27"/>
          <p:cNvSpPr txBox="1"/>
          <p:nvPr/>
        </p:nvSpPr>
        <p:spPr>
          <a:xfrm>
            <a:off x="228600" y="76200"/>
            <a:ext cx="4033703" cy="923330"/>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Baby’s make messes and so do pets, so we better think about all of the kinds of mess sources</a:t>
            </a:r>
          </a:p>
        </p:txBody>
      </p:sp>
      <p:sp>
        <p:nvSpPr>
          <p:cNvPr id="18" name="Rectangle 17"/>
          <p:cNvSpPr/>
          <p:nvPr/>
        </p:nvSpPr>
        <p:spPr>
          <a:xfrm>
            <a:off x="4853121" y="9473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Oil</a:t>
            </a:r>
          </a:p>
        </p:txBody>
      </p:sp>
      <p:sp>
        <p:nvSpPr>
          <p:cNvPr id="25" name="Rectangle 24"/>
          <p:cNvSpPr/>
          <p:nvPr/>
        </p:nvSpPr>
        <p:spPr>
          <a:xfrm>
            <a:off x="5181599" y="1828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Milk</a:t>
            </a:r>
          </a:p>
        </p:txBody>
      </p:sp>
      <p:sp>
        <p:nvSpPr>
          <p:cNvPr id="31" name="Rectangle 30"/>
          <p:cNvSpPr/>
          <p:nvPr/>
        </p:nvSpPr>
        <p:spPr>
          <a:xfrm>
            <a:off x="3447506" y="143500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Juice</a:t>
            </a:r>
          </a:p>
        </p:txBody>
      </p:sp>
      <p:sp>
        <p:nvSpPr>
          <p:cNvPr id="32" name="Rectangle 31"/>
          <p:cNvSpPr/>
          <p:nvPr/>
        </p:nvSpPr>
        <p:spPr>
          <a:xfrm>
            <a:off x="6261463" y="257288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French Fries</a:t>
            </a:r>
          </a:p>
        </p:txBody>
      </p:sp>
      <p:sp>
        <p:nvSpPr>
          <p:cNvPr id="33" name="Rectangle 32"/>
          <p:cNvSpPr/>
          <p:nvPr/>
        </p:nvSpPr>
        <p:spPr>
          <a:xfrm>
            <a:off x="7461068" y="206883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Mud</a:t>
            </a:r>
          </a:p>
        </p:txBody>
      </p:sp>
      <p:sp>
        <p:nvSpPr>
          <p:cNvPr id="35" name="Rectangle 34"/>
          <p:cNvSpPr/>
          <p:nvPr/>
        </p:nvSpPr>
        <p:spPr>
          <a:xfrm>
            <a:off x="6767104" y="118866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Vomit</a:t>
            </a:r>
          </a:p>
        </p:txBody>
      </p:sp>
      <p:sp>
        <p:nvSpPr>
          <p:cNvPr id="37" name="TextBox 36"/>
          <p:cNvSpPr txBox="1"/>
          <p:nvPr/>
        </p:nvSpPr>
        <p:spPr>
          <a:xfrm>
            <a:off x="6324600" y="3288268"/>
            <a:ext cx="4033703" cy="369332"/>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 list could go on and on…</a:t>
            </a:r>
          </a:p>
        </p:txBody>
      </p:sp>
    </p:spTree>
    <p:extLst>
      <p:ext uri="{BB962C8B-B14F-4D97-AF65-F5344CB8AC3E}">
        <p14:creationId xmlns:p14="http://schemas.microsoft.com/office/powerpoint/2010/main" val="434188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0" name="Rectangle 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p:cNvSpPr/>
          <p:nvPr/>
        </p:nvSpPr>
        <p:spPr>
          <a:xfrm>
            <a:off x="441409" y="28357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835203" y="391341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1295400" y="4952807"/>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2375263" y="574425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23" name="Rectangle 22"/>
          <p:cNvSpPr/>
          <p:nvPr/>
        </p:nvSpPr>
        <p:spPr>
          <a:xfrm>
            <a:off x="5932984" y="3890168"/>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 Seats</a:t>
            </a:r>
          </a:p>
        </p:txBody>
      </p:sp>
      <p:sp>
        <p:nvSpPr>
          <p:cNvPr id="24" name="Rectangle 23"/>
          <p:cNvSpPr/>
          <p:nvPr/>
        </p:nvSpPr>
        <p:spPr>
          <a:xfrm>
            <a:off x="5181600" y="50128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41" name="Rectangle 40"/>
          <p:cNvSpPr/>
          <p:nvPr/>
        </p:nvSpPr>
        <p:spPr>
          <a:xfrm>
            <a:off x="355957" y="1981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26" name="Rectangle 25"/>
          <p:cNvSpPr/>
          <p:nvPr/>
        </p:nvSpPr>
        <p:spPr>
          <a:xfrm>
            <a:off x="3919404" y="598809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28" name="TextBox 27"/>
          <p:cNvSpPr txBox="1"/>
          <p:nvPr/>
        </p:nvSpPr>
        <p:spPr>
          <a:xfrm>
            <a:off x="228600" y="76200"/>
            <a:ext cx="4033703"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So instead of writing them all, we pick a subset such that if the System can handle that subset, it should be able to handle all the rest.</a:t>
            </a:r>
          </a:p>
        </p:txBody>
      </p:sp>
      <p:sp>
        <p:nvSpPr>
          <p:cNvPr id="18" name="Rectangle 17"/>
          <p:cNvSpPr/>
          <p:nvPr/>
        </p:nvSpPr>
        <p:spPr>
          <a:xfrm>
            <a:off x="4853121" y="9473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Oil</a:t>
            </a:r>
          </a:p>
        </p:txBody>
      </p:sp>
      <p:sp>
        <p:nvSpPr>
          <p:cNvPr id="25" name="Rectangle 24"/>
          <p:cNvSpPr/>
          <p:nvPr/>
        </p:nvSpPr>
        <p:spPr>
          <a:xfrm>
            <a:off x="5181599" y="1828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Milk</a:t>
            </a:r>
          </a:p>
        </p:txBody>
      </p:sp>
      <p:sp>
        <p:nvSpPr>
          <p:cNvPr id="31" name="Rectangle 30"/>
          <p:cNvSpPr/>
          <p:nvPr/>
        </p:nvSpPr>
        <p:spPr>
          <a:xfrm>
            <a:off x="3447506" y="143500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Juice</a:t>
            </a:r>
          </a:p>
        </p:txBody>
      </p:sp>
      <p:sp>
        <p:nvSpPr>
          <p:cNvPr id="32" name="Rectangle 31"/>
          <p:cNvSpPr/>
          <p:nvPr/>
        </p:nvSpPr>
        <p:spPr>
          <a:xfrm>
            <a:off x="6261463" y="257288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French Fries</a:t>
            </a:r>
          </a:p>
        </p:txBody>
      </p:sp>
      <p:sp>
        <p:nvSpPr>
          <p:cNvPr id="33" name="Rectangle 32"/>
          <p:cNvSpPr/>
          <p:nvPr/>
        </p:nvSpPr>
        <p:spPr>
          <a:xfrm>
            <a:off x="6629400" y="119116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Mud</a:t>
            </a:r>
          </a:p>
        </p:txBody>
      </p:sp>
      <p:sp>
        <p:nvSpPr>
          <p:cNvPr id="35" name="Rectangle 34"/>
          <p:cNvSpPr/>
          <p:nvPr/>
        </p:nvSpPr>
        <p:spPr>
          <a:xfrm>
            <a:off x="7543800" y="208520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Vomit</a:t>
            </a:r>
          </a:p>
        </p:txBody>
      </p:sp>
      <p:grpSp>
        <p:nvGrpSpPr>
          <p:cNvPr id="27" name="Group 26"/>
          <p:cNvGrpSpPr/>
          <p:nvPr/>
        </p:nvGrpSpPr>
        <p:grpSpPr>
          <a:xfrm rot="532211">
            <a:off x="5340530" y="1652908"/>
            <a:ext cx="762000" cy="1010249"/>
            <a:chOff x="5029200" y="2190151"/>
            <a:chExt cx="762000" cy="1010249"/>
          </a:xfrm>
        </p:grpSpPr>
        <p:cxnSp>
          <p:nvCxnSpPr>
            <p:cNvPr id="29" name="Straight Connector 28"/>
            <p:cNvCxnSpPr/>
            <p:nvPr/>
          </p:nvCxnSpPr>
          <p:spPr>
            <a:xfrm>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rot="20431948">
            <a:off x="3587237" y="1317300"/>
            <a:ext cx="762000" cy="1010249"/>
            <a:chOff x="5152392" y="3352800"/>
            <a:chExt cx="762000" cy="1010249"/>
          </a:xfrm>
        </p:grpSpPr>
        <p:cxnSp>
          <p:nvCxnSpPr>
            <p:cNvPr id="37" name="Straight Connector 36"/>
            <p:cNvCxnSpPr/>
            <p:nvPr/>
          </p:nvCxnSpPr>
          <p:spPr>
            <a:xfrm>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152392" y="3352800"/>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rot="21060259">
            <a:off x="6479868" y="2289843"/>
            <a:ext cx="762000" cy="1010249"/>
            <a:chOff x="5029200" y="2190151"/>
            <a:chExt cx="762000" cy="1010249"/>
          </a:xfrm>
        </p:grpSpPr>
        <p:cxnSp>
          <p:nvCxnSpPr>
            <p:cNvPr id="40" name="Straight Connector 39"/>
            <p:cNvCxnSpPr/>
            <p:nvPr/>
          </p:nvCxnSpPr>
          <p:spPr>
            <a:xfrm>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rot="392378">
            <a:off x="6783704" y="967761"/>
            <a:ext cx="762000" cy="1010249"/>
            <a:chOff x="5029200" y="2190151"/>
            <a:chExt cx="762000" cy="1010249"/>
          </a:xfrm>
        </p:grpSpPr>
        <p:cxnSp>
          <p:nvCxnSpPr>
            <p:cNvPr id="47" name="Straight Connector 46"/>
            <p:cNvCxnSpPr/>
            <p:nvPr/>
          </p:nvCxnSpPr>
          <p:spPr>
            <a:xfrm>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029200" y="2190151"/>
              <a:ext cx="762000" cy="101024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TextBox 48"/>
          <p:cNvSpPr txBox="1"/>
          <p:nvPr/>
        </p:nvSpPr>
        <p:spPr>
          <a:xfrm>
            <a:off x="5562600" y="115669"/>
            <a:ext cx="2929618" cy="646331"/>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Representing all greasy and flammable substances</a:t>
            </a:r>
          </a:p>
        </p:txBody>
      </p:sp>
      <p:sp>
        <p:nvSpPr>
          <p:cNvPr id="50" name="TextBox 49"/>
          <p:cNvSpPr txBox="1"/>
          <p:nvPr/>
        </p:nvSpPr>
        <p:spPr>
          <a:xfrm>
            <a:off x="7662182" y="2971800"/>
            <a:ext cx="1481818" cy="147732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Representing all organic, smelly, and biohazard substances</a:t>
            </a:r>
          </a:p>
        </p:txBody>
      </p:sp>
      <p:pic>
        <p:nvPicPr>
          <p:cNvPr id="51"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727779" flipH="1">
            <a:off x="4997371" y="328553"/>
            <a:ext cx="716507" cy="798069"/>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C:\Users\drs44\AppData\Local\Microsoft\Windows\Temporary Internet Files\Content.IE5\V945IJTE\MC900439805[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77602" flipH="1">
            <a:off x="8091495" y="2267687"/>
            <a:ext cx="716507" cy="79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05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62400" y="3093721"/>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Your System</a:t>
            </a:r>
          </a:p>
        </p:txBody>
      </p:sp>
      <p:sp>
        <p:nvSpPr>
          <p:cNvPr id="10" name="Rectangle 9"/>
          <p:cNvSpPr/>
          <p:nvPr/>
        </p:nvSpPr>
        <p:spPr>
          <a:xfrm>
            <a:off x="3581400" y="2743200"/>
            <a:ext cx="1755874" cy="11705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Rectangle 10"/>
          <p:cNvSpPr/>
          <p:nvPr/>
        </p:nvSpPr>
        <p:spPr>
          <a:xfrm>
            <a:off x="5292361" y="63795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Local Roads</a:t>
            </a:r>
          </a:p>
        </p:txBody>
      </p:sp>
      <p:sp>
        <p:nvSpPr>
          <p:cNvPr id="12" name="Rectangle 11"/>
          <p:cNvSpPr/>
          <p:nvPr/>
        </p:nvSpPr>
        <p:spPr>
          <a:xfrm>
            <a:off x="7407179" y="110121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Speed Bumps</a:t>
            </a:r>
          </a:p>
        </p:txBody>
      </p:sp>
      <p:sp>
        <p:nvSpPr>
          <p:cNvPr id="13" name="Rectangle 12"/>
          <p:cNvSpPr/>
          <p:nvPr/>
        </p:nvSpPr>
        <p:spPr>
          <a:xfrm>
            <a:off x="7086598" y="249936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Spaces</a:t>
            </a:r>
          </a:p>
        </p:txBody>
      </p:sp>
      <p:sp>
        <p:nvSpPr>
          <p:cNvPr id="14" name="Rectangle 13"/>
          <p:cNvSpPr/>
          <p:nvPr/>
        </p:nvSpPr>
        <p:spPr>
          <a:xfrm>
            <a:off x="1782805" y="402754"/>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Multi-Lane Highways</a:t>
            </a:r>
          </a:p>
        </p:txBody>
      </p:sp>
      <p:sp>
        <p:nvSpPr>
          <p:cNvPr id="15" name="Rectangle 14"/>
          <p:cNvSpPr/>
          <p:nvPr/>
        </p:nvSpPr>
        <p:spPr>
          <a:xfrm>
            <a:off x="7862197" y="31331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Parking Garages</a:t>
            </a:r>
          </a:p>
        </p:txBody>
      </p:sp>
      <p:sp>
        <p:nvSpPr>
          <p:cNvPr id="16" name="Rectangle 15"/>
          <p:cNvSpPr/>
          <p:nvPr/>
        </p:nvSpPr>
        <p:spPr>
          <a:xfrm>
            <a:off x="600076" y="4267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Toll Booths</a:t>
            </a:r>
          </a:p>
        </p:txBody>
      </p:sp>
      <p:sp>
        <p:nvSpPr>
          <p:cNvPr id="17" name="Rectangle 16"/>
          <p:cNvSpPr/>
          <p:nvPr/>
        </p:nvSpPr>
        <p:spPr>
          <a:xfrm>
            <a:off x="139337" y="2209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Sharknado</a:t>
            </a:r>
            <a:endParaRPr lang="en-US" sz="1200" dirty="0">
              <a:solidFill>
                <a:schemeClr val="tx1"/>
              </a:solidFill>
            </a:endParaRPr>
          </a:p>
        </p:txBody>
      </p:sp>
      <p:sp>
        <p:nvSpPr>
          <p:cNvPr id="18" name="Rectangle 17"/>
          <p:cNvSpPr/>
          <p:nvPr/>
        </p:nvSpPr>
        <p:spPr>
          <a:xfrm>
            <a:off x="314326" y="276606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Wildlife</a:t>
            </a:r>
          </a:p>
        </p:txBody>
      </p:sp>
      <p:sp>
        <p:nvSpPr>
          <p:cNvPr id="19" name="Rectangle 18"/>
          <p:cNvSpPr/>
          <p:nvPr/>
        </p:nvSpPr>
        <p:spPr>
          <a:xfrm>
            <a:off x="314327" y="489965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Drivers</a:t>
            </a:r>
          </a:p>
        </p:txBody>
      </p:sp>
      <p:sp>
        <p:nvSpPr>
          <p:cNvPr id="20" name="Rectangle 19"/>
          <p:cNvSpPr/>
          <p:nvPr/>
        </p:nvSpPr>
        <p:spPr>
          <a:xfrm>
            <a:off x="1000128" y="564727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Adult Passengers</a:t>
            </a:r>
          </a:p>
        </p:txBody>
      </p:sp>
      <p:sp>
        <p:nvSpPr>
          <p:cNvPr id="21" name="Rectangle 20"/>
          <p:cNvSpPr/>
          <p:nvPr/>
        </p:nvSpPr>
        <p:spPr>
          <a:xfrm>
            <a:off x="2227488" y="575027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Children Passengers</a:t>
            </a:r>
          </a:p>
        </p:txBody>
      </p:sp>
      <p:sp>
        <p:nvSpPr>
          <p:cNvPr id="22" name="Rectangle 21"/>
          <p:cNvSpPr/>
          <p:nvPr/>
        </p:nvSpPr>
        <p:spPr>
          <a:xfrm>
            <a:off x="3455938" y="613495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Baby Passengers</a:t>
            </a:r>
          </a:p>
        </p:txBody>
      </p:sp>
      <p:sp>
        <p:nvSpPr>
          <p:cNvPr id="23" name="Rectangle 22"/>
          <p:cNvSpPr/>
          <p:nvPr/>
        </p:nvSpPr>
        <p:spPr>
          <a:xfrm>
            <a:off x="6019800" y="612733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 Seats</a:t>
            </a:r>
          </a:p>
        </p:txBody>
      </p:sp>
      <p:sp>
        <p:nvSpPr>
          <p:cNvPr id="24" name="Rectangle 23"/>
          <p:cNvSpPr/>
          <p:nvPr/>
        </p:nvSpPr>
        <p:spPr>
          <a:xfrm>
            <a:off x="6934200" y="54864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Cargo</a:t>
            </a:r>
          </a:p>
        </p:txBody>
      </p:sp>
      <p:sp>
        <p:nvSpPr>
          <p:cNvPr id="25" name="Rectangle 24"/>
          <p:cNvSpPr/>
          <p:nvPr/>
        </p:nvSpPr>
        <p:spPr>
          <a:xfrm>
            <a:off x="4752429" y="613495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Pets</a:t>
            </a:r>
          </a:p>
        </p:txBody>
      </p:sp>
      <p:sp>
        <p:nvSpPr>
          <p:cNvPr id="26" name="Rectangle 25"/>
          <p:cNvSpPr/>
          <p:nvPr/>
        </p:nvSpPr>
        <p:spPr>
          <a:xfrm>
            <a:off x="7467600" y="489965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Roof Rack Items</a:t>
            </a:r>
          </a:p>
        </p:txBody>
      </p:sp>
      <p:sp>
        <p:nvSpPr>
          <p:cNvPr id="27" name="Rectangle 26"/>
          <p:cNvSpPr/>
          <p:nvPr/>
        </p:nvSpPr>
        <p:spPr>
          <a:xfrm>
            <a:off x="4140108" y="1018499"/>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 Vehicles</a:t>
            </a:r>
          </a:p>
        </p:txBody>
      </p:sp>
      <p:sp>
        <p:nvSpPr>
          <p:cNvPr id="28" name="Rectangle 27"/>
          <p:cNvSpPr/>
          <p:nvPr/>
        </p:nvSpPr>
        <p:spPr>
          <a:xfrm>
            <a:off x="7631972" y="1774121"/>
            <a:ext cx="1079863" cy="6087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Dept. of Motor Vehicles</a:t>
            </a:r>
          </a:p>
        </p:txBody>
      </p:sp>
      <p:sp>
        <p:nvSpPr>
          <p:cNvPr id="31" name="Rectangle 30"/>
          <p:cNvSpPr/>
          <p:nvPr/>
        </p:nvSpPr>
        <p:spPr>
          <a:xfrm>
            <a:off x="3060245" y="386162"/>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Exit/Entry Ramps</a:t>
            </a:r>
          </a:p>
        </p:txBody>
      </p:sp>
      <p:sp>
        <p:nvSpPr>
          <p:cNvPr id="32" name="Rectangle 31"/>
          <p:cNvSpPr/>
          <p:nvPr/>
        </p:nvSpPr>
        <p:spPr>
          <a:xfrm>
            <a:off x="6546667" y="4572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Intersections</a:t>
            </a:r>
          </a:p>
        </p:txBody>
      </p:sp>
      <p:sp>
        <p:nvSpPr>
          <p:cNvPr id="34" name="Rectangle 33"/>
          <p:cNvSpPr/>
          <p:nvPr/>
        </p:nvSpPr>
        <p:spPr>
          <a:xfrm>
            <a:off x="460196" y="3444046"/>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Pedestrians</a:t>
            </a:r>
          </a:p>
        </p:txBody>
      </p:sp>
      <p:sp>
        <p:nvSpPr>
          <p:cNvPr id="35" name="Rectangle 34"/>
          <p:cNvSpPr/>
          <p:nvPr/>
        </p:nvSpPr>
        <p:spPr>
          <a:xfrm>
            <a:off x="7626529" y="4321453"/>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Oil</a:t>
            </a:r>
          </a:p>
        </p:txBody>
      </p:sp>
      <p:sp>
        <p:nvSpPr>
          <p:cNvPr id="40" name="Rectangle 39"/>
          <p:cNvSpPr/>
          <p:nvPr/>
        </p:nvSpPr>
        <p:spPr>
          <a:xfrm>
            <a:off x="7879075" y="373380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Vomit</a:t>
            </a:r>
          </a:p>
        </p:txBody>
      </p:sp>
      <p:sp>
        <p:nvSpPr>
          <p:cNvPr id="41" name="Rectangle 40"/>
          <p:cNvSpPr/>
          <p:nvPr/>
        </p:nvSpPr>
        <p:spPr>
          <a:xfrm>
            <a:off x="152400" y="4157745"/>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Disabled Passengers</a:t>
            </a:r>
          </a:p>
        </p:txBody>
      </p:sp>
      <p:sp>
        <p:nvSpPr>
          <p:cNvPr id="33" name="TextBox 32"/>
          <p:cNvSpPr txBox="1"/>
          <p:nvPr/>
        </p:nvSpPr>
        <p:spPr>
          <a:xfrm>
            <a:off x="1935206" y="1542871"/>
            <a:ext cx="5456194" cy="1200329"/>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Continuing this process reveals a lot of needed special interactions. A car-like system is certainly a complex one, and you may find more in this example than in your own System. </a:t>
            </a:r>
          </a:p>
        </p:txBody>
      </p:sp>
      <p:cxnSp>
        <p:nvCxnSpPr>
          <p:cNvPr id="3" name="Straight Connector 2"/>
          <p:cNvCxnSpPr/>
          <p:nvPr/>
        </p:nvCxnSpPr>
        <p:spPr>
          <a:xfrm flipH="1">
            <a:off x="152400" y="3687886"/>
            <a:ext cx="8991600" cy="289754"/>
          </a:xfrm>
          <a:prstGeom prst="line">
            <a:avLst/>
          </a:prstGeom>
          <a:ln w="57150">
            <a:prstDash val="lgDash"/>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087606" y="4036874"/>
            <a:ext cx="5456194" cy="1754326"/>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If your Context Diagram becomes too crowded, you may be able to split it into several. For example, here we suggest splitting the boxes into those objects that primarily interface with the interior and the exterior of the System. Other ways may be possible and could work just as well.</a:t>
            </a:r>
          </a:p>
        </p:txBody>
      </p:sp>
      <p:sp>
        <p:nvSpPr>
          <p:cNvPr id="36" name="Rectangle 35"/>
          <p:cNvSpPr/>
          <p:nvPr/>
        </p:nvSpPr>
        <p:spPr>
          <a:xfrm>
            <a:off x="152400" y="1036320"/>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Snow</a:t>
            </a:r>
          </a:p>
        </p:txBody>
      </p:sp>
      <p:sp>
        <p:nvSpPr>
          <p:cNvPr id="37" name="Rectangle 36"/>
          <p:cNvSpPr/>
          <p:nvPr/>
        </p:nvSpPr>
        <p:spPr>
          <a:xfrm>
            <a:off x="520337" y="1655355"/>
            <a:ext cx="1079863" cy="487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Fog</a:t>
            </a:r>
          </a:p>
        </p:txBody>
      </p:sp>
    </p:spTree>
    <p:extLst>
      <p:ext uri="{BB962C8B-B14F-4D97-AF65-F5344CB8AC3E}">
        <p14:creationId xmlns:p14="http://schemas.microsoft.com/office/powerpoint/2010/main" val="827157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304800" y="220682"/>
            <a:ext cx="8580394" cy="3970318"/>
          </a:xfrm>
          <a:prstGeom prst="rect">
            <a:avLst/>
          </a:prstGeom>
          <a:noFill/>
        </p:spPr>
        <p:txBody>
          <a:bodyPr wrap="square" rtlCol="0">
            <a:sp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Being thorough in your Context Diagram can be time consuming and even feel tedious if you’re not used to using this tool. But there are common ways to break up the work</a:t>
            </a:r>
          </a:p>
          <a:p>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After you have done some initial work (as shown in slide 12) and you want to explore parts of the diagram further, this becomes a great time to start to split up the work with your teammates. Each person can then create there own context diagram(s) for the parts they explored. </a:t>
            </a:r>
          </a:p>
          <a:p>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You can try to combine them all together later if you want, but at least recognize which outer boxes show up in multiple teammate’s work and compare the interactions discussed in all teammate’s work to help everyone have a clear idea of the interaction needs. </a:t>
            </a:r>
          </a:p>
        </p:txBody>
      </p:sp>
    </p:spTree>
    <p:extLst>
      <p:ext uri="{BB962C8B-B14F-4D97-AF65-F5344CB8AC3E}">
        <p14:creationId xmlns:p14="http://schemas.microsoft.com/office/powerpoint/2010/main" val="109914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2695</TotalTime>
  <Words>2324</Words>
  <Application>Microsoft Macintosh PowerPoint</Application>
  <PresentationFormat>On-screen Show (4:3)</PresentationFormat>
  <Paragraphs>396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Cornell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R. Schneider</dc:creator>
  <cp:lastModifiedBy>David Ancor</cp:lastModifiedBy>
  <cp:revision>39</cp:revision>
  <dcterms:created xsi:type="dcterms:W3CDTF">2014-07-14T15:44:41Z</dcterms:created>
  <dcterms:modified xsi:type="dcterms:W3CDTF">2026-01-18T01:13:53Z</dcterms:modified>
</cp:coreProperties>
</file>