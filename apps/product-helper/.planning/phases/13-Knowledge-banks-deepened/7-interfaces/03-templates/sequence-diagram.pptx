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8"/>
  </p:notesMasterIdLst>
  <p:sldIdLst>
    <p:sldId id="256" r:id="rId2"/>
    <p:sldId id="258" r:id="rId3"/>
    <p:sldId id="260" r:id="rId4"/>
    <p:sldId id="264" r:id="rId5"/>
    <p:sldId id="265" r:id="rId6"/>
    <p:sldId id="266" r:id="rId7"/>
  </p:sldIdLst>
  <p:sldSz cx="14630400" cy="10972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69" autoAdjust="0"/>
    <p:restoredTop sz="94660"/>
  </p:normalViewPr>
  <p:slideViewPr>
    <p:cSldViewPr snapToGrid="0">
      <p:cViewPr varScale="1">
        <p:scale>
          <a:sx n="68" d="100"/>
          <a:sy n="68" d="100"/>
        </p:scale>
        <p:origin x="2576"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EF2640-37D6-46BF-871B-DDAEFDB42392}" type="datetimeFigureOut">
              <a:rPr lang="en-US" smtClean="0"/>
              <a:t>3/19/26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49770-89F2-4D3A-BE34-57E8F90F6D00}" type="slidenum">
              <a:rPr lang="en-US" smtClean="0"/>
              <a:t>‹#›</a:t>
            </a:fld>
            <a:endParaRPr lang="en-US"/>
          </a:p>
        </p:txBody>
      </p:sp>
    </p:spTree>
    <p:extLst>
      <p:ext uri="{BB962C8B-B14F-4D97-AF65-F5344CB8AC3E}">
        <p14:creationId xmlns:p14="http://schemas.microsoft.com/office/powerpoint/2010/main" val="949200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1795781"/>
            <a:ext cx="12435840" cy="3820160"/>
          </a:xfrm>
        </p:spPr>
        <p:txBody>
          <a:bodyPr anchor="b"/>
          <a:lstStyle>
            <a:lvl1pPr algn="ctr">
              <a:defRPr sz="9600"/>
            </a:lvl1pPr>
          </a:lstStyle>
          <a:p>
            <a:r>
              <a:rPr lang="en-US"/>
              <a:t>Click to edit Master title style</a:t>
            </a:r>
            <a:endParaRPr lang="en-US" dirty="0"/>
          </a:p>
        </p:txBody>
      </p:sp>
      <p:sp>
        <p:nvSpPr>
          <p:cNvPr id="3" name="Subtitle 2"/>
          <p:cNvSpPr>
            <a:spLocks noGrp="1"/>
          </p:cNvSpPr>
          <p:nvPr>
            <p:ph type="subTitle" idx="1"/>
          </p:nvPr>
        </p:nvSpPr>
        <p:spPr>
          <a:xfrm>
            <a:off x="1828800" y="5763261"/>
            <a:ext cx="10972800" cy="2649219"/>
          </a:xfrm>
        </p:spPr>
        <p:txBody>
          <a:bodyPr/>
          <a:lstStyle>
            <a:lvl1pPr marL="0" indent="0" algn="ctr">
              <a:buNone/>
              <a:defRPr sz="3840"/>
            </a:lvl1pPr>
            <a:lvl2pPr marL="731520" indent="0" algn="ctr">
              <a:buNone/>
              <a:defRPr sz="3200"/>
            </a:lvl2pPr>
            <a:lvl3pPr marL="1463040" indent="0" algn="ctr">
              <a:buNone/>
              <a:defRPr sz="2880"/>
            </a:lvl3pPr>
            <a:lvl4pPr marL="2194560" indent="0" algn="ctr">
              <a:buNone/>
              <a:defRPr sz="2560"/>
            </a:lvl4pPr>
            <a:lvl5pPr marL="2926080" indent="0" algn="ctr">
              <a:buNone/>
              <a:defRPr sz="2560"/>
            </a:lvl5pPr>
            <a:lvl6pPr marL="3657600" indent="0" algn="ctr">
              <a:buNone/>
              <a:defRPr sz="2560"/>
            </a:lvl6pPr>
            <a:lvl7pPr marL="4389120" indent="0" algn="ctr">
              <a:buNone/>
              <a:defRPr sz="2560"/>
            </a:lvl7pPr>
            <a:lvl8pPr marL="5120640" indent="0" algn="ctr">
              <a:buNone/>
              <a:defRPr sz="2560"/>
            </a:lvl8pPr>
            <a:lvl9pPr marL="5852160" indent="0" algn="ctr">
              <a:buNone/>
              <a:defRPr sz="25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F0E6DE-447B-4EB6-A31D-14BF8AE539C3}" type="datetimeFigureOut">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1794867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F0E6DE-447B-4EB6-A31D-14BF8AE539C3}" type="datetimeFigureOut">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2040053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1" y="2735583"/>
            <a:ext cx="12618720" cy="4564379"/>
          </a:xfrm>
        </p:spPr>
        <p:txBody>
          <a:bodyPr anchor="b"/>
          <a:lstStyle>
            <a:lvl1pPr>
              <a:defRPr sz="9600"/>
            </a:lvl1pPr>
          </a:lstStyle>
          <a:p>
            <a:r>
              <a:rPr lang="en-US"/>
              <a:t>Click to edit Master title style</a:t>
            </a:r>
            <a:endParaRPr lang="en-US" dirty="0"/>
          </a:p>
        </p:txBody>
      </p:sp>
      <p:sp>
        <p:nvSpPr>
          <p:cNvPr id="3" name="Text Placeholder 2"/>
          <p:cNvSpPr>
            <a:spLocks noGrp="1"/>
          </p:cNvSpPr>
          <p:nvPr>
            <p:ph type="body" idx="1"/>
          </p:nvPr>
        </p:nvSpPr>
        <p:spPr>
          <a:xfrm>
            <a:off x="998221" y="7343143"/>
            <a:ext cx="12618720" cy="2400299"/>
          </a:xfrm>
        </p:spPr>
        <p:txBody>
          <a:bodyPr/>
          <a:lstStyle>
            <a:lvl1pPr marL="0" indent="0">
              <a:buNone/>
              <a:defRPr sz="3840">
                <a:solidFill>
                  <a:schemeClr val="tx1"/>
                </a:solidFill>
              </a:defRPr>
            </a:lvl1pPr>
            <a:lvl2pPr marL="731520" indent="0">
              <a:buNone/>
              <a:defRPr sz="3200">
                <a:solidFill>
                  <a:schemeClr val="tx1">
                    <a:tint val="75000"/>
                  </a:schemeClr>
                </a:solidFill>
              </a:defRPr>
            </a:lvl2pPr>
            <a:lvl3pPr marL="1463040" indent="0">
              <a:buNone/>
              <a:defRPr sz="2880">
                <a:solidFill>
                  <a:schemeClr val="tx1">
                    <a:tint val="75000"/>
                  </a:schemeClr>
                </a:solidFill>
              </a:defRPr>
            </a:lvl3pPr>
            <a:lvl4pPr marL="2194560" indent="0">
              <a:buNone/>
              <a:defRPr sz="2560">
                <a:solidFill>
                  <a:schemeClr val="tx1">
                    <a:tint val="75000"/>
                  </a:schemeClr>
                </a:solidFill>
              </a:defRPr>
            </a:lvl4pPr>
            <a:lvl5pPr marL="2926080" indent="0">
              <a:buNone/>
              <a:defRPr sz="2560">
                <a:solidFill>
                  <a:schemeClr val="tx1">
                    <a:tint val="75000"/>
                  </a:schemeClr>
                </a:solidFill>
              </a:defRPr>
            </a:lvl5pPr>
            <a:lvl6pPr marL="3657600" indent="0">
              <a:buNone/>
              <a:defRPr sz="2560">
                <a:solidFill>
                  <a:schemeClr val="tx1">
                    <a:tint val="75000"/>
                  </a:schemeClr>
                </a:solidFill>
              </a:defRPr>
            </a:lvl6pPr>
            <a:lvl7pPr marL="4389120" indent="0">
              <a:buNone/>
              <a:defRPr sz="2560">
                <a:solidFill>
                  <a:schemeClr val="tx1">
                    <a:tint val="75000"/>
                  </a:schemeClr>
                </a:solidFill>
              </a:defRPr>
            </a:lvl7pPr>
            <a:lvl8pPr marL="5120640" indent="0">
              <a:buNone/>
              <a:defRPr sz="2560">
                <a:solidFill>
                  <a:schemeClr val="tx1">
                    <a:tint val="75000"/>
                  </a:schemeClr>
                </a:solidFill>
              </a:defRPr>
            </a:lvl8pPr>
            <a:lvl9pPr marL="5852160" indent="0">
              <a:buNone/>
              <a:defRPr sz="25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F0E6DE-447B-4EB6-A31D-14BF8AE539C3}" type="datetimeFigureOut">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4070099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921000"/>
            <a:ext cx="6217920" cy="69621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921000"/>
            <a:ext cx="6217920" cy="69621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F0E6DE-447B-4EB6-A31D-14BF8AE539C3}" type="datetimeFigureOut">
              <a:rPr lang="en-US" smtClean="0"/>
              <a:t>3/19/26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2519049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84202"/>
            <a:ext cx="12618720" cy="212090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7" y="2689861"/>
            <a:ext cx="6189344" cy="1318259"/>
          </a:xfrm>
        </p:spPr>
        <p:txBody>
          <a:bodyPr anchor="b"/>
          <a:lstStyle>
            <a:lvl1pPr marL="0" indent="0">
              <a:buNone/>
              <a:defRPr sz="3840" b="1"/>
            </a:lvl1pPr>
            <a:lvl2pPr marL="731520" indent="0">
              <a:buNone/>
              <a:defRPr sz="3200" b="1"/>
            </a:lvl2pPr>
            <a:lvl3pPr marL="1463040" indent="0">
              <a:buNone/>
              <a:defRPr sz="2880" b="1"/>
            </a:lvl3pPr>
            <a:lvl4pPr marL="2194560" indent="0">
              <a:buNone/>
              <a:defRPr sz="2560" b="1"/>
            </a:lvl4pPr>
            <a:lvl5pPr marL="2926080" indent="0">
              <a:buNone/>
              <a:defRPr sz="2560" b="1"/>
            </a:lvl5pPr>
            <a:lvl6pPr marL="3657600" indent="0">
              <a:buNone/>
              <a:defRPr sz="2560" b="1"/>
            </a:lvl6pPr>
            <a:lvl7pPr marL="4389120" indent="0">
              <a:buNone/>
              <a:defRPr sz="2560" b="1"/>
            </a:lvl7pPr>
            <a:lvl8pPr marL="5120640" indent="0">
              <a:buNone/>
              <a:defRPr sz="2560" b="1"/>
            </a:lvl8pPr>
            <a:lvl9pPr marL="5852160" indent="0">
              <a:buNone/>
              <a:defRPr sz="2560" b="1"/>
            </a:lvl9pPr>
          </a:lstStyle>
          <a:p>
            <a:pPr lvl="0"/>
            <a:r>
              <a:rPr lang="en-US"/>
              <a:t>Edit Master text styles</a:t>
            </a:r>
          </a:p>
        </p:txBody>
      </p:sp>
      <p:sp>
        <p:nvSpPr>
          <p:cNvPr id="4" name="Content Placeholder 3"/>
          <p:cNvSpPr>
            <a:spLocks noGrp="1"/>
          </p:cNvSpPr>
          <p:nvPr>
            <p:ph sz="half" idx="2"/>
          </p:nvPr>
        </p:nvSpPr>
        <p:spPr>
          <a:xfrm>
            <a:off x="1007747" y="4008120"/>
            <a:ext cx="6189344" cy="58953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1" y="2689861"/>
            <a:ext cx="6219826" cy="1318259"/>
          </a:xfrm>
        </p:spPr>
        <p:txBody>
          <a:bodyPr anchor="b"/>
          <a:lstStyle>
            <a:lvl1pPr marL="0" indent="0">
              <a:buNone/>
              <a:defRPr sz="3840" b="1"/>
            </a:lvl1pPr>
            <a:lvl2pPr marL="731520" indent="0">
              <a:buNone/>
              <a:defRPr sz="3200" b="1"/>
            </a:lvl2pPr>
            <a:lvl3pPr marL="1463040" indent="0">
              <a:buNone/>
              <a:defRPr sz="2880" b="1"/>
            </a:lvl3pPr>
            <a:lvl4pPr marL="2194560" indent="0">
              <a:buNone/>
              <a:defRPr sz="2560" b="1"/>
            </a:lvl4pPr>
            <a:lvl5pPr marL="2926080" indent="0">
              <a:buNone/>
              <a:defRPr sz="2560" b="1"/>
            </a:lvl5pPr>
            <a:lvl6pPr marL="3657600" indent="0">
              <a:buNone/>
              <a:defRPr sz="2560" b="1"/>
            </a:lvl6pPr>
            <a:lvl7pPr marL="4389120" indent="0">
              <a:buNone/>
              <a:defRPr sz="2560" b="1"/>
            </a:lvl7pPr>
            <a:lvl8pPr marL="5120640" indent="0">
              <a:buNone/>
              <a:defRPr sz="2560" b="1"/>
            </a:lvl8pPr>
            <a:lvl9pPr marL="5852160" indent="0">
              <a:buNone/>
              <a:defRPr sz="2560" b="1"/>
            </a:lvl9pPr>
          </a:lstStyle>
          <a:p>
            <a:pPr lvl="0"/>
            <a:r>
              <a:rPr lang="en-US"/>
              <a:t>Edit Master text styles</a:t>
            </a:r>
          </a:p>
        </p:txBody>
      </p:sp>
      <p:sp>
        <p:nvSpPr>
          <p:cNvPr id="6" name="Content Placeholder 5"/>
          <p:cNvSpPr>
            <a:spLocks noGrp="1"/>
          </p:cNvSpPr>
          <p:nvPr>
            <p:ph sz="quarter" idx="4"/>
          </p:nvPr>
        </p:nvSpPr>
        <p:spPr>
          <a:xfrm>
            <a:off x="7406641" y="4008120"/>
            <a:ext cx="6219826" cy="58953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F0E6DE-447B-4EB6-A31D-14BF8AE539C3}" type="datetimeFigureOut">
              <a:rPr lang="en-US" smtClean="0"/>
              <a:t>3/19/26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172941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F0E6DE-447B-4EB6-A31D-14BF8AE539C3}" type="datetimeFigureOut">
              <a:rPr lang="en-US" smtClean="0"/>
              <a:t>3/19/26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4080827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F0E6DE-447B-4EB6-A31D-14BF8AE539C3}" type="datetimeFigureOut">
              <a:rPr lang="en-US" smtClean="0"/>
              <a:t>3/19/26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902308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731520"/>
            <a:ext cx="4718685" cy="2560320"/>
          </a:xfrm>
        </p:spPr>
        <p:txBody>
          <a:bodyPr anchor="b"/>
          <a:lstStyle>
            <a:lvl1pPr>
              <a:defRPr sz="5120"/>
            </a:lvl1pPr>
          </a:lstStyle>
          <a:p>
            <a:r>
              <a:rPr lang="en-US"/>
              <a:t>Click to edit Master title style</a:t>
            </a:r>
            <a:endParaRPr lang="en-US" dirty="0"/>
          </a:p>
        </p:txBody>
      </p:sp>
      <p:sp>
        <p:nvSpPr>
          <p:cNvPr id="3" name="Content Placeholder 2"/>
          <p:cNvSpPr>
            <a:spLocks noGrp="1"/>
          </p:cNvSpPr>
          <p:nvPr>
            <p:ph idx="1"/>
          </p:nvPr>
        </p:nvSpPr>
        <p:spPr>
          <a:xfrm>
            <a:off x="6219826" y="1579882"/>
            <a:ext cx="7406640" cy="7797800"/>
          </a:xfrm>
        </p:spPr>
        <p:txBody>
          <a:bodyPr/>
          <a:lstStyle>
            <a:lvl1pPr>
              <a:defRPr sz="5120"/>
            </a:lvl1pPr>
            <a:lvl2pPr>
              <a:defRPr sz="4480"/>
            </a:lvl2pPr>
            <a:lvl3pPr>
              <a:defRPr sz="3840"/>
            </a:lvl3pPr>
            <a:lvl4pPr>
              <a:defRPr sz="3200"/>
            </a:lvl4pPr>
            <a:lvl5pPr>
              <a:defRPr sz="3200"/>
            </a:lvl5pPr>
            <a:lvl6pPr>
              <a:defRPr sz="3200"/>
            </a:lvl6pPr>
            <a:lvl7pPr>
              <a:defRPr sz="3200"/>
            </a:lvl7pPr>
            <a:lvl8pPr>
              <a:defRPr sz="3200"/>
            </a:lvl8pPr>
            <a:lvl9pPr>
              <a:defRPr sz="3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3291840"/>
            <a:ext cx="4718685" cy="6098541"/>
          </a:xfrm>
        </p:spPr>
        <p:txBody>
          <a:bodyPr/>
          <a:lstStyle>
            <a:lvl1pPr marL="0" indent="0">
              <a:buNone/>
              <a:defRPr sz="2560"/>
            </a:lvl1pPr>
            <a:lvl2pPr marL="731520" indent="0">
              <a:buNone/>
              <a:defRPr sz="2240"/>
            </a:lvl2pPr>
            <a:lvl3pPr marL="1463040" indent="0">
              <a:buNone/>
              <a:defRPr sz="1920"/>
            </a:lvl3pPr>
            <a:lvl4pPr marL="2194560" indent="0">
              <a:buNone/>
              <a:defRPr sz="1600"/>
            </a:lvl4pPr>
            <a:lvl5pPr marL="2926080" indent="0">
              <a:buNone/>
              <a:defRPr sz="1600"/>
            </a:lvl5pPr>
            <a:lvl6pPr marL="3657600" indent="0">
              <a:buNone/>
              <a:defRPr sz="1600"/>
            </a:lvl6pPr>
            <a:lvl7pPr marL="4389120" indent="0">
              <a:buNone/>
              <a:defRPr sz="1600"/>
            </a:lvl7pPr>
            <a:lvl8pPr marL="5120640" indent="0">
              <a:buNone/>
              <a:defRPr sz="1600"/>
            </a:lvl8pPr>
            <a:lvl9pPr marL="5852160" indent="0">
              <a:buNone/>
              <a:defRPr sz="1600"/>
            </a:lvl9pPr>
          </a:lstStyle>
          <a:p>
            <a:pPr lvl="0"/>
            <a:r>
              <a:rPr lang="en-US"/>
              <a:t>Edit Master text styles</a:t>
            </a:r>
          </a:p>
        </p:txBody>
      </p:sp>
      <p:sp>
        <p:nvSpPr>
          <p:cNvPr id="5" name="Date Placeholder 4"/>
          <p:cNvSpPr>
            <a:spLocks noGrp="1"/>
          </p:cNvSpPr>
          <p:nvPr>
            <p:ph type="dt" sz="half" idx="10"/>
          </p:nvPr>
        </p:nvSpPr>
        <p:spPr/>
        <p:txBody>
          <a:bodyPr/>
          <a:lstStyle/>
          <a:p>
            <a:fld id="{57F0E6DE-447B-4EB6-A31D-14BF8AE539C3}" type="datetimeFigureOut">
              <a:rPr lang="en-US" smtClean="0"/>
              <a:t>3/19/26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2371450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731520"/>
            <a:ext cx="4718685" cy="2560320"/>
          </a:xfrm>
        </p:spPr>
        <p:txBody>
          <a:bodyPr anchor="b"/>
          <a:lstStyle>
            <a:lvl1pPr>
              <a:defRPr sz="512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579882"/>
            <a:ext cx="7406640" cy="7797800"/>
          </a:xfrm>
        </p:spPr>
        <p:txBody>
          <a:bodyPr anchor="t"/>
          <a:lstStyle>
            <a:lvl1pPr marL="0" indent="0">
              <a:buNone/>
              <a:defRPr sz="5120"/>
            </a:lvl1pPr>
            <a:lvl2pPr marL="731520" indent="0">
              <a:buNone/>
              <a:defRPr sz="4480"/>
            </a:lvl2pPr>
            <a:lvl3pPr marL="1463040" indent="0">
              <a:buNone/>
              <a:defRPr sz="3840"/>
            </a:lvl3pPr>
            <a:lvl4pPr marL="2194560" indent="0">
              <a:buNone/>
              <a:defRPr sz="3200"/>
            </a:lvl4pPr>
            <a:lvl5pPr marL="2926080" indent="0">
              <a:buNone/>
              <a:defRPr sz="3200"/>
            </a:lvl5pPr>
            <a:lvl6pPr marL="3657600" indent="0">
              <a:buNone/>
              <a:defRPr sz="3200"/>
            </a:lvl6pPr>
            <a:lvl7pPr marL="4389120" indent="0">
              <a:buNone/>
              <a:defRPr sz="3200"/>
            </a:lvl7pPr>
            <a:lvl8pPr marL="5120640" indent="0">
              <a:buNone/>
              <a:defRPr sz="3200"/>
            </a:lvl8pPr>
            <a:lvl9pPr marL="5852160" indent="0">
              <a:buNone/>
              <a:defRPr sz="3200"/>
            </a:lvl9pPr>
          </a:lstStyle>
          <a:p>
            <a:r>
              <a:rPr lang="en-US"/>
              <a:t>Click icon to add picture</a:t>
            </a:r>
            <a:endParaRPr lang="en-US" dirty="0"/>
          </a:p>
        </p:txBody>
      </p:sp>
      <p:sp>
        <p:nvSpPr>
          <p:cNvPr id="4" name="Text Placeholder 3"/>
          <p:cNvSpPr>
            <a:spLocks noGrp="1"/>
          </p:cNvSpPr>
          <p:nvPr>
            <p:ph type="body" sz="half" idx="2"/>
          </p:nvPr>
        </p:nvSpPr>
        <p:spPr>
          <a:xfrm>
            <a:off x="1007746" y="3291840"/>
            <a:ext cx="4718685" cy="6098541"/>
          </a:xfrm>
        </p:spPr>
        <p:txBody>
          <a:bodyPr/>
          <a:lstStyle>
            <a:lvl1pPr marL="0" indent="0">
              <a:buNone/>
              <a:defRPr sz="2560"/>
            </a:lvl1pPr>
            <a:lvl2pPr marL="731520" indent="0">
              <a:buNone/>
              <a:defRPr sz="2240"/>
            </a:lvl2pPr>
            <a:lvl3pPr marL="1463040" indent="0">
              <a:buNone/>
              <a:defRPr sz="1920"/>
            </a:lvl3pPr>
            <a:lvl4pPr marL="2194560" indent="0">
              <a:buNone/>
              <a:defRPr sz="1600"/>
            </a:lvl4pPr>
            <a:lvl5pPr marL="2926080" indent="0">
              <a:buNone/>
              <a:defRPr sz="1600"/>
            </a:lvl5pPr>
            <a:lvl6pPr marL="3657600" indent="0">
              <a:buNone/>
              <a:defRPr sz="1600"/>
            </a:lvl6pPr>
            <a:lvl7pPr marL="4389120" indent="0">
              <a:buNone/>
              <a:defRPr sz="1600"/>
            </a:lvl7pPr>
            <a:lvl8pPr marL="5120640" indent="0">
              <a:buNone/>
              <a:defRPr sz="1600"/>
            </a:lvl8pPr>
            <a:lvl9pPr marL="5852160" indent="0">
              <a:buNone/>
              <a:defRPr sz="1600"/>
            </a:lvl9pPr>
          </a:lstStyle>
          <a:p>
            <a:pPr lvl="0"/>
            <a:r>
              <a:rPr lang="en-US"/>
              <a:t>Edit Master text styles</a:t>
            </a:r>
          </a:p>
        </p:txBody>
      </p:sp>
      <p:sp>
        <p:nvSpPr>
          <p:cNvPr id="5" name="Date Placeholder 4"/>
          <p:cNvSpPr>
            <a:spLocks noGrp="1"/>
          </p:cNvSpPr>
          <p:nvPr>
            <p:ph type="dt" sz="half" idx="10"/>
          </p:nvPr>
        </p:nvSpPr>
        <p:spPr/>
        <p:txBody>
          <a:bodyPr/>
          <a:lstStyle/>
          <a:p>
            <a:fld id="{57F0E6DE-447B-4EB6-A31D-14BF8AE539C3}" type="datetimeFigureOut">
              <a:rPr lang="en-US" smtClean="0"/>
              <a:t>3/19/26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88346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F0E6DE-447B-4EB6-A31D-14BF8AE539C3}" type="datetimeFigureOut">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3607718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1" y="584200"/>
            <a:ext cx="3154680" cy="929894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1" y="584200"/>
            <a:ext cx="9281160" cy="929894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F0E6DE-447B-4EB6-A31D-14BF8AE539C3}" type="datetimeFigureOut">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1195151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584202"/>
            <a:ext cx="12618720" cy="21209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921000"/>
            <a:ext cx="12618720" cy="696214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10170162"/>
            <a:ext cx="3291840" cy="584200"/>
          </a:xfrm>
          <a:prstGeom prst="rect">
            <a:avLst/>
          </a:prstGeom>
        </p:spPr>
        <p:txBody>
          <a:bodyPr vert="horz" lIns="91440" tIns="45720" rIns="91440" bIns="45720" rtlCol="0" anchor="ctr"/>
          <a:lstStyle>
            <a:lvl1pPr algn="l">
              <a:defRPr sz="1920">
                <a:solidFill>
                  <a:schemeClr val="tx1">
                    <a:tint val="75000"/>
                  </a:schemeClr>
                </a:solidFill>
              </a:defRPr>
            </a:lvl1pPr>
          </a:lstStyle>
          <a:p>
            <a:fld id="{57F0E6DE-447B-4EB6-A31D-14BF8AE539C3}" type="datetimeFigureOut">
              <a:rPr lang="en-US" smtClean="0"/>
              <a:t>3/19/26</a:t>
            </a:fld>
            <a:endParaRPr lang="en-US"/>
          </a:p>
        </p:txBody>
      </p:sp>
      <p:sp>
        <p:nvSpPr>
          <p:cNvPr id="5" name="Footer Placeholder 4"/>
          <p:cNvSpPr>
            <a:spLocks noGrp="1"/>
          </p:cNvSpPr>
          <p:nvPr>
            <p:ph type="ftr" sz="quarter" idx="3"/>
          </p:nvPr>
        </p:nvSpPr>
        <p:spPr>
          <a:xfrm>
            <a:off x="4846320" y="10170162"/>
            <a:ext cx="4937760" cy="584200"/>
          </a:xfrm>
          <a:prstGeom prst="rect">
            <a:avLst/>
          </a:prstGeom>
        </p:spPr>
        <p:txBody>
          <a:bodyPr vert="horz" lIns="91440" tIns="45720" rIns="91440" bIns="45720" rtlCol="0" anchor="ctr"/>
          <a:lstStyle>
            <a:lvl1pPr algn="ctr">
              <a:defRPr sz="19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332720" y="10170162"/>
            <a:ext cx="3291840" cy="584200"/>
          </a:xfrm>
          <a:prstGeom prst="rect">
            <a:avLst/>
          </a:prstGeom>
        </p:spPr>
        <p:txBody>
          <a:bodyPr vert="horz" lIns="91440" tIns="45720" rIns="91440" bIns="45720" rtlCol="0" anchor="ctr"/>
          <a:lstStyle>
            <a:lvl1pPr algn="r">
              <a:defRPr sz="1920">
                <a:solidFill>
                  <a:schemeClr val="tx1">
                    <a:tint val="75000"/>
                  </a:schemeClr>
                </a:solidFill>
              </a:defRPr>
            </a:lvl1pPr>
          </a:lstStyle>
          <a:p>
            <a:fld id="{F4679B5E-06C5-40C1-B899-FF1412E25875}" type="slidenum">
              <a:rPr lang="en-US" smtClean="0"/>
              <a:t>‹#›</a:t>
            </a:fld>
            <a:endParaRPr lang="en-US"/>
          </a:p>
        </p:txBody>
      </p:sp>
    </p:spTree>
    <p:extLst>
      <p:ext uri="{BB962C8B-B14F-4D97-AF65-F5344CB8AC3E}">
        <p14:creationId xmlns:p14="http://schemas.microsoft.com/office/powerpoint/2010/main" val="83618296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1463040" rtl="0" eaLnBrk="1" latinLnBrk="0" hangingPunct="1">
        <a:lnSpc>
          <a:spcPct val="90000"/>
        </a:lnSpc>
        <a:spcBef>
          <a:spcPct val="0"/>
        </a:spcBef>
        <a:buNone/>
        <a:defRPr sz="7040" kern="1200">
          <a:solidFill>
            <a:schemeClr val="tx1"/>
          </a:solidFill>
          <a:latin typeface="+mj-lt"/>
          <a:ea typeface="+mj-ea"/>
          <a:cs typeface="+mj-cs"/>
        </a:defRPr>
      </a:lvl1pPr>
    </p:titleStyle>
    <p:bodyStyle>
      <a:lvl1pPr marL="365760" indent="-365760" algn="l" defTabSz="1463040" rtl="0" eaLnBrk="1" latinLnBrk="0" hangingPunct="1">
        <a:lnSpc>
          <a:spcPct val="90000"/>
        </a:lnSpc>
        <a:spcBef>
          <a:spcPts val="1600"/>
        </a:spcBef>
        <a:buFont typeface="Arial" panose="020B0604020202020204" pitchFamily="34" charset="0"/>
        <a:buChar char="•"/>
        <a:defRPr sz="4480" kern="1200">
          <a:solidFill>
            <a:schemeClr val="tx1"/>
          </a:solidFill>
          <a:latin typeface="+mn-lt"/>
          <a:ea typeface="+mn-ea"/>
          <a:cs typeface="+mn-cs"/>
        </a:defRPr>
      </a:lvl1pPr>
      <a:lvl2pPr marL="1097280" indent="-365760" algn="l" defTabSz="1463040" rtl="0" eaLnBrk="1" latinLnBrk="0" hangingPunct="1">
        <a:lnSpc>
          <a:spcPct val="90000"/>
        </a:lnSpc>
        <a:spcBef>
          <a:spcPts val="800"/>
        </a:spcBef>
        <a:buFont typeface="Arial" panose="020B0604020202020204" pitchFamily="34" charset="0"/>
        <a:buChar char="•"/>
        <a:defRPr sz="3840" kern="1200">
          <a:solidFill>
            <a:schemeClr val="tx1"/>
          </a:solidFill>
          <a:latin typeface="+mn-lt"/>
          <a:ea typeface="+mn-ea"/>
          <a:cs typeface="+mn-cs"/>
        </a:defRPr>
      </a:lvl2pPr>
      <a:lvl3pPr marL="1828800" indent="-365760" algn="l" defTabSz="1463040" rtl="0" eaLnBrk="1" latinLnBrk="0" hangingPunct="1">
        <a:lnSpc>
          <a:spcPct val="90000"/>
        </a:lnSpc>
        <a:spcBef>
          <a:spcPts val="800"/>
        </a:spcBef>
        <a:buFont typeface="Arial" panose="020B0604020202020204" pitchFamily="34" charset="0"/>
        <a:buChar char="•"/>
        <a:defRPr sz="3200" kern="1200">
          <a:solidFill>
            <a:schemeClr val="tx1"/>
          </a:solidFill>
          <a:latin typeface="+mn-lt"/>
          <a:ea typeface="+mn-ea"/>
          <a:cs typeface="+mn-cs"/>
        </a:defRPr>
      </a:lvl3pPr>
      <a:lvl4pPr marL="25603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4pPr>
      <a:lvl5pPr marL="329184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5pPr>
      <a:lvl6pPr marL="402336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6pPr>
      <a:lvl7pPr marL="475488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7pPr>
      <a:lvl8pPr marL="548640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8pPr>
      <a:lvl9pPr marL="62179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9pPr>
    </p:bodyStyle>
    <p:other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1C1F428-E40F-4431-87D1-D8E4B21CCF7D}"/>
              </a:ext>
            </a:extLst>
          </p:cNvPr>
          <p:cNvSpPr>
            <a:spLocks noChangeArrowheads="1"/>
          </p:cNvSpPr>
          <p:nvPr/>
        </p:nvSpPr>
        <p:spPr bwMode="auto">
          <a:xfrm>
            <a:off x="1219200" y="1695077"/>
            <a:ext cx="21933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37160" tIns="68580" rIns="137160" bIns="68580" numCol="1" anchor="ctr" anchorCtr="0" compatLnSpc="1">
            <a:prstTxWarp prst="textNoShape">
              <a:avLst/>
            </a:prstTxWarp>
            <a:spAutoFit/>
          </a:bodyPr>
          <a:lstStyle/>
          <a:p>
            <a:endParaRPr lang="en-US" sz="2100"/>
          </a:p>
        </p:txBody>
      </p:sp>
      <p:sp>
        <p:nvSpPr>
          <p:cNvPr id="7" name="Rectangle 3">
            <a:extLst>
              <a:ext uri="{FF2B5EF4-FFF2-40B4-BE49-F238E27FC236}">
                <a16:creationId xmlns:a16="http://schemas.microsoft.com/office/drawing/2014/main" id="{F05D59C1-6A7E-4CA9-93FF-626755E76CB7}"/>
              </a:ext>
            </a:extLst>
          </p:cNvPr>
          <p:cNvSpPr>
            <a:spLocks noChangeArrowheads="1"/>
          </p:cNvSpPr>
          <p:nvPr/>
        </p:nvSpPr>
        <p:spPr bwMode="auto">
          <a:xfrm>
            <a:off x="2849700" y="682771"/>
            <a:ext cx="11169390" cy="6309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37160" tIns="68580" rIns="137160" bIns="68580" numCol="1" anchor="ctr" anchorCtr="0" compatLnSpc="1">
            <a:prstTxWarp prst="textNoShape">
              <a:avLst/>
            </a:prstTxWarp>
            <a:spAutoFit/>
          </a:bodyPr>
          <a:lstStyle>
            <a:lvl1pPr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1pPr>
            <a:lvl2pPr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2pPr>
            <a:lvl3pPr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3pPr>
            <a:lvl4pPr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4pPr>
            <a:lvl5pPr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5pPr>
            <a:lvl6pPr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6pPr>
            <a:lvl7pPr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7pPr>
            <a:lvl8pPr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8pPr>
            <a:lvl9pPr eaLnBrk="0" fontAlgn="base" hangingPunct="0">
              <a:spcBef>
                <a:spcPct val="0"/>
              </a:spcBef>
              <a:spcAft>
                <a:spcPct val="0"/>
              </a:spcAft>
              <a:tabLst>
                <a:tab pos="2743200" algn="ctr"/>
                <a:tab pos="5486400" algn="r"/>
              </a:tabLst>
              <a:defRPr>
                <a:solidFill>
                  <a:schemeClr val="tx1"/>
                </a:solidFill>
                <a:latin typeface="Arial" panose="020B0604020202020204" pitchFamily="34" charset="0"/>
              </a:defRPr>
            </a:lvl9pPr>
          </a:lstStyle>
          <a:p>
            <a:pPr algn="r" defTabSz="1371617">
              <a:tabLst>
                <a:tab pos="4114851" algn="ctr"/>
                <a:tab pos="8229703" algn="r"/>
              </a:tabLst>
            </a:pPr>
            <a:r>
              <a:rPr lang="en-US" altLang="en-US" sz="1600" dirty="0">
                <a:solidFill>
                  <a:srgbClr val="000000"/>
                </a:solidFill>
                <a:ea typeface="MS Mincho" panose="02020609040205080304" pitchFamily="49" charset="-128"/>
                <a:cs typeface="Arial" panose="020B0604020202020204" pitchFamily="34" charset="0"/>
              </a:rPr>
              <a:t>CESYS526: Defining Interfaces</a:t>
            </a:r>
            <a:endParaRPr lang="en-US" altLang="en-US" sz="1600" dirty="0"/>
          </a:p>
          <a:p>
            <a:pPr algn="r" defTabSz="1371617">
              <a:tabLst>
                <a:tab pos="4114851" algn="ctr"/>
                <a:tab pos="8229703" algn="r"/>
              </a:tabLst>
            </a:pPr>
            <a:r>
              <a:rPr lang="en-US" altLang="en-US" sz="1600" dirty="0">
                <a:solidFill>
                  <a:srgbClr val="000000"/>
                </a:solidFill>
                <a:ea typeface="MS Mincho" panose="02020609040205080304" pitchFamily="49" charset="-128"/>
                <a:cs typeface="Arial" panose="020B0604020202020204" pitchFamily="34" charset="0"/>
              </a:rPr>
              <a:t>Cornell University College of Engineering</a:t>
            </a:r>
            <a:endParaRPr lang="en-US" altLang="en-US" sz="1600" dirty="0"/>
          </a:p>
        </p:txBody>
      </p:sp>
      <p:sp>
        <p:nvSpPr>
          <p:cNvPr id="8" name="TextBox 7">
            <a:extLst>
              <a:ext uri="{FF2B5EF4-FFF2-40B4-BE49-F238E27FC236}">
                <a16:creationId xmlns:a16="http://schemas.microsoft.com/office/drawing/2014/main" id="{C4FC0698-E69F-4C04-B840-00AE73480D39}"/>
              </a:ext>
            </a:extLst>
          </p:cNvPr>
          <p:cNvSpPr txBox="1"/>
          <p:nvPr/>
        </p:nvSpPr>
        <p:spPr>
          <a:xfrm>
            <a:off x="582148" y="1815445"/>
            <a:ext cx="12829051" cy="8032968"/>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Instructions: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Use this template to create your own sequence diagram in order to show the interaction between your system’s subsystems during its operation.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To help you navigate through this PowerPoint:</a:t>
            </a:r>
          </a:p>
          <a:p>
            <a:pPr marL="942987" lvl="1" indent="-257178">
              <a:buFont typeface="Arial" panose="020B0604020202020204" pitchFamily="34" charset="0"/>
              <a:buChar char="•"/>
            </a:pPr>
            <a:r>
              <a:rPr lang="en-US" dirty="0">
                <a:latin typeface="Arial" panose="020B0604020202020204" pitchFamily="34" charset="0"/>
                <a:cs typeface="Arial" panose="020B0604020202020204" pitchFamily="34" charset="0"/>
              </a:rPr>
              <a:t>Slide 2 – Sequence Diagram Basic. This includes the minimum items you should include in your sequence diagram. Copy and paste from this slide to add components to your own sequence diagram. Do not attempt to make your sequence diagram fit exactly in this template as-is.</a:t>
            </a:r>
          </a:p>
          <a:p>
            <a:pPr marL="942987" lvl="1" indent="-257178">
              <a:buFont typeface="Arial" panose="020B0604020202020204" pitchFamily="34" charset="0"/>
              <a:buChar char="•"/>
            </a:pPr>
            <a:r>
              <a:rPr lang="en-US" dirty="0">
                <a:latin typeface="Arial" panose="020B0604020202020204" pitchFamily="34" charset="0"/>
                <a:cs typeface="Arial" panose="020B0604020202020204" pitchFamily="34" charset="0"/>
              </a:rPr>
              <a:t>Slide 3 – Sequence Diagram Advanced. You may find it helpful to use this as a starting point for adding more detail to your diagram. You can copy and paste from the slide to add these additional components to your own sequence diagram. Do not attempt to make your sequence diagram fit exactly in this template as-is. This slide also shows:</a:t>
            </a:r>
          </a:p>
          <a:p>
            <a:pPr marL="1400193" lvl="2" indent="-257178">
              <a:buFont typeface="Arial" panose="020B0604020202020204" pitchFamily="34" charset="0"/>
              <a:buChar char="•"/>
            </a:pPr>
            <a:r>
              <a:rPr lang="en-US" dirty="0">
                <a:latin typeface="Arial" panose="020B0604020202020204" pitchFamily="34" charset="0"/>
                <a:cs typeface="Arial" panose="020B0604020202020204" pitchFamily="34" charset="0"/>
              </a:rPr>
              <a:t>Common optional elements of operational flow &amp; logic</a:t>
            </a:r>
          </a:p>
          <a:p>
            <a:pPr marL="1400193" lvl="2" indent="-257178">
              <a:buFont typeface="Arial" panose="020B0604020202020204" pitchFamily="34" charset="0"/>
              <a:buChar char="•"/>
            </a:pPr>
            <a:r>
              <a:rPr lang="en-US" dirty="0">
                <a:latin typeface="Arial" panose="020B0604020202020204" pitchFamily="34" charset="0"/>
                <a:cs typeface="Arial" panose="020B0604020202020204" pitchFamily="34" charset="0"/>
              </a:rPr>
              <a:t>An option to include an operational description along the side of the sequence diagram to indicate what activities are being performed within the activation boxes.</a:t>
            </a:r>
          </a:p>
          <a:p>
            <a:pPr marL="942987" lvl="1" indent="-257178">
              <a:buFont typeface="Arial" panose="020B0604020202020204" pitchFamily="34" charset="0"/>
              <a:buChar char="•"/>
            </a:pPr>
            <a:r>
              <a:rPr lang="en-US" dirty="0">
                <a:latin typeface="Arial" panose="020B0604020202020204" pitchFamily="34" charset="0"/>
                <a:cs typeface="Arial" panose="020B0604020202020204" pitchFamily="34" charset="0"/>
              </a:rPr>
              <a:t>Slide 4 – Sequence Diagram Example. This shows an example of sequence diagram that follows from the course’s autonomous robotic example. To make the example simple to follow, only the involvement of the </a:t>
            </a:r>
            <a:r>
              <a:rPr lang="en-US" i="1" dirty="0">
                <a:latin typeface="Arial" panose="020B0604020202020204" pitchFamily="34" charset="0"/>
                <a:cs typeface="Arial" panose="020B0604020202020204" pitchFamily="34" charset="0"/>
              </a:rPr>
              <a:t>Sensor Filtering</a:t>
            </a:r>
            <a:r>
              <a:rPr lang="en-US" dirty="0">
                <a:latin typeface="Arial" panose="020B0604020202020204" pitchFamily="34" charset="0"/>
                <a:cs typeface="Arial" panose="020B0604020202020204" pitchFamily="34" charset="0"/>
              </a:rPr>
              <a:t> &amp; </a:t>
            </a:r>
            <a:r>
              <a:rPr lang="en-US" i="1" dirty="0">
                <a:latin typeface="Arial" panose="020B0604020202020204" pitchFamily="34" charset="0"/>
                <a:cs typeface="Arial" panose="020B0604020202020204" pitchFamily="34" charset="0"/>
              </a:rPr>
              <a:t>Path Planning</a:t>
            </a:r>
            <a:r>
              <a:rPr lang="en-US" dirty="0">
                <a:latin typeface="Arial" panose="020B0604020202020204" pitchFamily="34" charset="0"/>
                <a:cs typeface="Arial" panose="020B0604020202020204" pitchFamily="34" charset="0"/>
              </a:rPr>
              <a:t> subsystems and an exterior system </a:t>
            </a:r>
            <a:r>
              <a:rPr lang="en-US" i="1" dirty="0">
                <a:latin typeface="Arial" panose="020B0604020202020204" pitchFamily="34" charset="0"/>
                <a:cs typeface="Arial" panose="020B0604020202020204" pitchFamily="34" charset="0"/>
              </a:rPr>
              <a:t>Mission Control</a:t>
            </a:r>
            <a:r>
              <a:rPr lang="en-US" dirty="0">
                <a:latin typeface="Arial" panose="020B0604020202020204" pitchFamily="34" charset="0"/>
                <a:cs typeface="Arial" panose="020B0604020202020204" pitchFamily="34" charset="0"/>
              </a:rPr>
              <a:t> are shown.</a:t>
            </a:r>
          </a:p>
          <a:p>
            <a:pPr marL="942987" lvl="1" indent="-257178">
              <a:buFont typeface="Arial" panose="020B0604020202020204" pitchFamily="34" charset="0"/>
              <a:buChar char="•"/>
            </a:pPr>
            <a:r>
              <a:rPr lang="en-US" dirty="0">
                <a:latin typeface="Arial" panose="020B0604020202020204" pitchFamily="34" charset="0"/>
                <a:cs typeface="Arial" panose="020B0604020202020204" pitchFamily="34" charset="0"/>
              </a:rPr>
              <a:t>Slide 5 – Sequence Diagram Example with Callouts: This includes common names of sequence diagram elements for your reference. </a:t>
            </a:r>
          </a:p>
          <a:p>
            <a:pPr marL="942987" lvl="1" indent="-257178">
              <a:buFont typeface="Arial" panose="020B0604020202020204" pitchFamily="34" charset="0"/>
              <a:buChar char="•"/>
            </a:pPr>
            <a:r>
              <a:rPr lang="en-US" dirty="0">
                <a:latin typeface="Arial" panose="020B0604020202020204" pitchFamily="34" charset="0"/>
                <a:cs typeface="Arial" panose="020B0604020202020204" pitchFamily="34" charset="0"/>
              </a:rPr>
              <a:t>Slide 6 – Sequence Diagram Example Relating Elements with Flow Notes: This includes arrows that connect each operational description on the right with the diagram element on the left that is being explained by the description.</a:t>
            </a:r>
          </a:p>
          <a:p>
            <a:pPr marL="685809" lvl="1"/>
            <a:endParaRPr lang="en-US" b="1" i="1" dirty="0">
              <a:latin typeface="Arial" panose="020B0604020202020204" pitchFamily="34" charset="0"/>
              <a:cs typeface="Arial" panose="020B0604020202020204" pitchFamily="34" charset="0"/>
            </a:endParaRPr>
          </a:p>
          <a:p>
            <a:endParaRPr lang="en-US" b="1" i="1" dirty="0">
              <a:latin typeface="Arial" panose="020B0604020202020204" pitchFamily="34" charset="0"/>
              <a:cs typeface="Arial" panose="020B0604020202020204" pitchFamily="34" charset="0"/>
            </a:endParaRPr>
          </a:p>
          <a:p>
            <a:r>
              <a:rPr lang="en-US" b="1" i="1" dirty="0">
                <a:latin typeface="Arial" panose="020B0604020202020204" pitchFamily="34" charset="0"/>
                <a:cs typeface="Arial" panose="020B0604020202020204" pitchFamily="34" charset="0"/>
              </a:rPr>
              <a:t>To submit this assignment, please refer to the instructions in the course.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sz="2400" b="1"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2419277A-C64E-4520-8635-D773DA4A2CAE}"/>
              </a:ext>
            </a:extLst>
          </p:cNvPr>
          <p:cNvSpPr/>
          <p:nvPr/>
        </p:nvSpPr>
        <p:spPr>
          <a:xfrm>
            <a:off x="582149" y="9913834"/>
            <a:ext cx="13133851" cy="307777"/>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 2019 </a:t>
            </a:r>
            <a:r>
              <a:rPr lang="en-US" sz="1400" dirty="0" err="1">
                <a:latin typeface="Arial" panose="020B0604020202020204" pitchFamily="34" charset="0"/>
                <a:cs typeface="Arial" panose="020B0604020202020204" pitchFamily="34" charset="0"/>
              </a:rPr>
              <a:t>eCornell</a:t>
            </a:r>
            <a:r>
              <a:rPr lang="en-US" sz="1400" dirty="0">
                <a:latin typeface="Arial" panose="020B0604020202020204" pitchFamily="34" charset="0"/>
                <a:cs typeface="Arial" panose="020B0604020202020204" pitchFamily="34" charset="0"/>
              </a:rPr>
              <a:t>. All rights reserved. All other copyrights, trademarks, trade names, and logos are the sole property of their respective owners</a:t>
            </a:r>
            <a:r>
              <a:rPr lang="en-US" sz="1000" dirty="0">
                <a:latin typeface="Arial" panose="020B0604020202020204" pitchFamily="34" charset="0"/>
                <a:cs typeface="Arial" panose="020B0604020202020204" pitchFamily="34" charset="0"/>
              </a:rPr>
              <a:t>.</a:t>
            </a:r>
          </a:p>
        </p:txBody>
      </p:sp>
      <p:pic>
        <p:nvPicPr>
          <p:cNvPr id="3" name="Picture 2">
            <a:extLst>
              <a:ext uri="{FF2B5EF4-FFF2-40B4-BE49-F238E27FC236}">
                <a16:creationId xmlns:a16="http://schemas.microsoft.com/office/drawing/2014/main" id="{8CC9E67F-92DA-E044-AA03-2CF9D28B784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82149" y="398469"/>
            <a:ext cx="2267550" cy="830998"/>
          </a:xfrm>
          <a:prstGeom prst="rect">
            <a:avLst/>
          </a:prstGeom>
        </p:spPr>
      </p:pic>
    </p:spTree>
    <p:extLst>
      <p:ext uri="{BB962C8B-B14F-4D97-AF65-F5344CB8AC3E}">
        <p14:creationId xmlns:p14="http://schemas.microsoft.com/office/powerpoint/2010/main" val="1720845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4FC0698-E69F-4C04-B840-00AE73480D39}"/>
              </a:ext>
            </a:extLst>
          </p:cNvPr>
          <p:cNvSpPr txBox="1"/>
          <p:nvPr/>
        </p:nvSpPr>
        <p:spPr>
          <a:xfrm>
            <a:off x="454558" y="440288"/>
            <a:ext cx="6410252" cy="404844"/>
          </a:xfrm>
          <a:prstGeom prst="rect">
            <a:avLst/>
          </a:prstGeom>
          <a:noFill/>
        </p:spPr>
        <p:txBody>
          <a:bodyPr wrap="square" rtlCol="0">
            <a:spAutoFit/>
          </a:bodyPr>
          <a:lstStyle/>
          <a:p>
            <a:r>
              <a:rPr lang="en-US" sz="2000" b="1" dirty="0">
                <a:latin typeface="Arial" panose="020B0604020202020204" pitchFamily="34" charset="0"/>
                <a:ea typeface="Calibri"/>
                <a:cs typeface="Arial" panose="020B0604020202020204" pitchFamily="34" charset="0"/>
                <a:sym typeface="Calibri"/>
              </a:rPr>
              <a:t>Sequence Diagram Template – Basic </a:t>
            </a:r>
          </a:p>
        </p:txBody>
      </p:sp>
      <p:sp>
        <p:nvSpPr>
          <p:cNvPr id="43" name="Google Shape;721;p50">
            <a:extLst>
              <a:ext uri="{FF2B5EF4-FFF2-40B4-BE49-F238E27FC236}">
                <a16:creationId xmlns:a16="http://schemas.microsoft.com/office/drawing/2014/main" id="{D8E6137E-0E49-4F3B-9844-290C1F1E4127}"/>
              </a:ext>
            </a:extLst>
          </p:cNvPr>
          <p:cNvSpPr/>
          <p:nvPr/>
        </p:nvSpPr>
        <p:spPr>
          <a:xfrm>
            <a:off x="5831251" y="3243434"/>
            <a:ext cx="843000" cy="2715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44" name="Google Shape;722;p50">
            <a:extLst>
              <a:ext uri="{FF2B5EF4-FFF2-40B4-BE49-F238E27FC236}">
                <a16:creationId xmlns:a16="http://schemas.microsoft.com/office/drawing/2014/main" id="{3D04E1D5-9B4D-4DD1-9150-F830F1E9B614}"/>
              </a:ext>
            </a:extLst>
          </p:cNvPr>
          <p:cNvSpPr txBox="1"/>
          <p:nvPr/>
        </p:nvSpPr>
        <p:spPr>
          <a:xfrm>
            <a:off x="5738122" y="3159711"/>
            <a:ext cx="996900" cy="369300"/>
          </a:xfrm>
          <a:prstGeom prst="rect">
            <a:avLst/>
          </a:prstGeom>
          <a:noFill/>
          <a:ln>
            <a:noFill/>
          </a:ln>
        </p:spPr>
        <p:txBody>
          <a:bodyPr spcFirstLastPara="1" wrap="square" lIns="91425" tIns="45700" rIns="91425" bIns="45700" anchor="t" anchorCtr="0">
            <a:noAutofit/>
          </a:bodyPr>
          <a:lstStyle/>
          <a:p>
            <a:r>
              <a:rPr lang="en-US">
                <a:solidFill>
                  <a:schemeClr val="dk1"/>
                </a:solidFill>
                <a:latin typeface="Calibri"/>
                <a:ea typeface="Calibri"/>
                <a:cs typeface="Calibri"/>
                <a:sym typeface="Calibri"/>
              </a:rPr>
              <a:t>[y &gt;100]</a:t>
            </a:r>
            <a:endParaRPr/>
          </a:p>
        </p:txBody>
      </p:sp>
      <p:sp>
        <p:nvSpPr>
          <p:cNvPr id="47" name="Google Shape;726;p50">
            <a:extLst>
              <a:ext uri="{FF2B5EF4-FFF2-40B4-BE49-F238E27FC236}">
                <a16:creationId xmlns:a16="http://schemas.microsoft.com/office/drawing/2014/main" id="{92553441-794D-4C88-9C96-18B3A4DFF381}"/>
              </a:ext>
            </a:extLst>
          </p:cNvPr>
          <p:cNvSpPr txBox="1"/>
          <p:nvPr/>
        </p:nvSpPr>
        <p:spPr>
          <a:xfrm>
            <a:off x="7048380" y="2762646"/>
            <a:ext cx="1863900" cy="646200"/>
          </a:xfrm>
          <a:prstGeom prst="rect">
            <a:avLst/>
          </a:prstGeom>
          <a:noFill/>
          <a:ln>
            <a:noFill/>
          </a:ln>
        </p:spPr>
        <p:txBody>
          <a:bodyPr spcFirstLastPara="1" wrap="square" lIns="91425" tIns="45700" rIns="91425" bIns="45700" anchor="t" anchorCtr="0">
            <a:noAutofit/>
          </a:bodyPr>
          <a:lstStyle/>
          <a:p>
            <a:r>
              <a:rPr lang="en-US">
                <a:solidFill>
                  <a:srgbClr val="FF0000"/>
                </a:solidFill>
                <a:latin typeface="Calibri"/>
                <a:ea typeface="Calibri"/>
                <a:cs typeface="Calibri"/>
                <a:sym typeface="Calibri"/>
              </a:rPr>
              <a:t>5. Arrow, label, box to next box</a:t>
            </a:r>
            <a:endParaRPr/>
          </a:p>
        </p:txBody>
      </p:sp>
      <p:sp>
        <p:nvSpPr>
          <p:cNvPr id="49" name="Google Shape;728;p50">
            <a:extLst>
              <a:ext uri="{FF2B5EF4-FFF2-40B4-BE49-F238E27FC236}">
                <a16:creationId xmlns:a16="http://schemas.microsoft.com/office/drawing/2014/main" id="{7B13F3AB-02EA-4F6A-B60A-6860F2800F5E}"/>
              </a:ext>
            </a:extLst>
          </p:cNvPr>
          <p:cNvSpPr/>
          <p:nvPr/>
        </p:nvSpPr>
        <p:spPr>
          <a:xfrm>
            <a:off x="4830000" y="1824727"/>
            <a:ext cx="4970400" cy="587561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50" name="Google Shape;729;p50">
            <a:extLst>
              <a:ext uri="{FF2B5EF4-FFF2-40B4-BE49-F238E27FC236}">
                <a16:creationId xmlns:a16="http://schemas.microsoft.com/office/drawing/2014/main" id="{43D483F7-3741-44C7-A8B1-68DEF8949FA1}"/>
              </a:ext>
            </a:extLst>
          </p:cNvPr>
          <p:cNvSpPr/>
          <p:nvPr/>
        </p:nvSpPr>
        <p:spPr>
          <a:xfrm>
            <a:off x="5939837" y="3776501"/>
            <a:ext cx="1045500" cy="2214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51" name="Google Shape;730;p50">
            <a:extLst>
              <a:ext uri="{FF2B5EF4-FFF2-40B4-BE49-F238E27FC236}">
                <a16:creationId xmlns:a16="http://schemas.microsoft.com/office/drawing/2014/main" id="{F6DC25C0-C19E-4AB3-8814-87A1B192B951}"/>
              </a:ext>
            </a:extLst>
          </p:cNvPr>
          <p:cNvSpPr/>
          <p:nvPr/>
        </p:nvSpPr>
        <p:spPr>
          <a:xfrm>
            <a:off x="5411166" y="1986128"/>
            <a:ext cx="1493400" cy="6096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US" sz="1600" dirty="0">
                <a:solidFill>
                  <a:schemeClr val="dk1"/>
                </a:solidFill>
                <a:latin typeface="Arial" panose="020B0604020202020204" pitchFamily="34" charset="0"/>
                <a:ea typeface="Calibri"/>
                <a:cs typeface="Arial" panose="020B0604020202020204" pitchFamily="34" charset="0"/>
                <a:sym typeface="Calibri"/>
              </a:rPr>
              <a:t>Subsystem 2</a:t>
            </a:r>
            <a:endParaRPr sz="1600" dirty="0">
              <a:latin typeface="Arial" panose="020B0604020202020204" pitchFamily="34" charset="0"/>
              <a:cs typeface="Arial" panose="020B0604020202020204" pitchFamily="34" charset="0"/>
            </a:endParaRPr>
          </a:p>
        </p:txBody>
      </p:sp>
      <p:sp>
        <p:nvSpPr>
          <p:cNvPr id="52" name="Google Shape;731;p50">
            <a:extLst>
              <a:ext uri="{FF2B5EF4-FFF2-40B4-BE49-F238E27FC236}">
                <a16:creationId xmlns:a16="http://schemas.microsoft.com/office/drawing/2014/main" id="{9E1C3097-7592-4DFE-8044-4B13C9C964C8}"/>
              </a:ext>
            </a:extLst>
          </p:cNvPr>
          <p:cNvSpPr/>
          <p:nvPr/>
        </p:nvSpPr>
        <p:spPr>
          <a:xfrm>
            <a:off x="7514040" y="1974254"/>
            <a:ext cx="1600200" cy="6096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US" sz="1600">
                <a:solidFill>
                  <a:schemeClr val="dk1"/>
                </a:solidFill>
                <a:latin typeface="Arial" panose="020B0604020202020204" pitchFamily="34" charset="0"/>
                <a:ea typeface="Calibri"/>
                <a:cs typeface="Arial" panose="020B0604020202020204" pitchFamily="34" charset="0"/>
                <a:sym typeface="Calibri"/>
              </a:rPr>
              <a:t>Subsystem 1</a:t>
            </a:r>
            <a:endParaRPr sz="1600">
              <a:latin typeface="Arial" panose="020B0604020202020204" pitchFamily="34" charset="0"/>
              <a:cs typeface="Arial" panose="020B0604020202020204" pitchFamily="34" charset="0"/>
            </a:endParaRPr>
          </a:p>
        </p:txBody>
      </p:sp>
      <p:sp>
        <p:nvSpPr>
          <p:cNvPr id="53" name="Google Shape;732;p50">
            <a:extLst>
              <a:ext uri="{FF2B5EF4-FFF2-40B4-BE49-F238E27FC236}">
                <a16:creationId xmlns:a16="http://schemas.microsoft.com/office/drawing/2014/main" id="{C0EACEDC-BA17-4F61-9F4A-7F4B37D31FC4}"/>
              </a:ext>
            </a:extLst>
          </p:cNvPr>
          <p:cNvSpPr/>
          <p:nvPr/>
        </p:nvSpPr>
        <p:spPr>
          <a:xfrm>
            <a:off x="4847040" y="2748129"/>
            <a:ext cx="228600" cy="22860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cxnSp>
        <p:nvCxnSpPr>
          <p:cNvPr id="54" name="Google Shape;733;p50">
            <a:extLst>
              <a:ext uri="{FF2B5EF4-FFF2-40B4-BE49-F238E27FC236}">
                <a16:creationId xmlns:a16="http://schemas.microsoft.com/office/drawing/2014/main" id="{855618AD-2A19-4DA5-A7B8-C0CB5182B460}"/>
              </a:ext>
            </a:extLst>
          </p:cNvPr>
          <p:cNvCxnSpPr>
            <a:cxnSpLocks/>
            <a:stCxn id="53" idx="6"/>
          </p:cNvCxnSpPr>
          <p:nvPr/>
        </p:nvCxnSpPr>
        <p:spPr>
          <a:xfrm>
            <a:off x="5075640" y="2862428"/>
            <a:ext cx="1097700" cy="0"/>
          </a:xfrm>
          <a:prstGeom prst="straightConnector1">
            <a:avLst/>
          </a:prstGeom>
          <a:noFill/>
          <a:ln w="9525" cap="flat" cmpd="sng">
            <a:solidFill>
              <a:schemeClr val="dk1"/>
            </a:solidFill>
            <a:prstDash val="solid"/>
            <a:miter lim="800000"/>
            <a:headEnd type="none" w="sm" len="sm"/>
            <a:tailEnd type="triangle" w="med" len="med"/>
          </a:ln>
        </p:spPr>
      </p:cxnSp>
      <p:sp>
        <p:nvSpPr>
          <p:cNvPr id="55" name="Google Shape;734;p50">
            <a:extLst>
              <a:ext uri="{FF2B5EF4-FFF2-40B4-BE49-F238E27FC236}">
                <a16:creationId xmlns:a16="http://schemas.microsoft.com/office/drawing/2014/main" id="{000918AF-2357-44F3-8432-84287F9229CE}"/>
              </a:ext>
            </a:extLst>
          </p:cNvPr>
          <p:cNvSpPr txBox="1"/>
          <p:nvPr/>
        </p:nvSpPr>
        <p:spPr>
          <a:xfrm>
            <a:off x="5028139" y="2578903"/>
            <a:ext cx="1031100" cy="338700"/>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ea typeface="Calibri"/>
                <a:cs typeface="Arial" panose="020B0604020202020204" pitchFamily="34" charset="0"/>
                <a:sym typeface="Calibri"/>
              </a:rPr>
              <a:t>initial msg.</a:t>
            </a:r>
            <a:endParaRPr sz="1400" dirty="0">
              <a:solidFill>
                <a:schemeClr val="dk1"/>
              </a:solidFill>
              <a:latin typeface="Arial" panose="020B0604020202020204" pitchFamily="34" charset="0"/>
              <a:ea typeface="Calibri"/>
              <a:cs typeface="Arial" panose="020B0604020202020204" pitchFamily="34" charset="0"/>
              <a:sym typeface="Calibri"/>
            </a:endParaRPr>
          </a:p>
        </p:txBody>
      </p:sp>
      <p:sp>
        <p:nvSpPr>
          <p:cNvPr id="56" name="Google Shape;735;p50">
            <a:extLst>
              <a:ext uri="{FF2B5EF4-FFF2-40B4-BE49-F238E27FC236}">
                <a16:creationId xmlns:a16="http://schemas.microsoft.com/office/drawing/2014/main" id="{E1C64086-7D8F-4667-B9F3-19341D90A7E5}"/>
              </a:ext>
            </a:extLst>
          </p:cNvPr>
          <p:cNvSpPr/>
          <p:nvPr/>
        </p:nvSpPr>
        <p:spPr>
          <a:xfrm>
            <a:off x="6017869" y="6692870"/>
            <a:ext cx="1378500" cy="2214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cxnSp>
        <p:nvCxnSpPr>
          <p:cNvPr id="57" name="Google Shape;736;p50">
            <a:extLst>
              <a:ext uri="{FF2B5EF4-FFF2-40B4-BE49-F238E27FC236}">
                <a16:creationId xmlns:a16="http://schemas.microsoft.com/office/drawing/2014/main" id="{892A4F6F-3395-472F-9D48-172D91E17DDF}"/>
              </a:ext>
            </a:extLst>
          </p:cNvPr>
          <p:cNvCxnSpPr>
            <a:cxnSpLocks/>
          </p:cNvCxnSpPr>
          <p:nvPr/>
        </p:nvCxnSpPr>
        <p:spPr>
          <a:xfrm>
            <a:off x="6305863" y="2593952"/>
            <a:ext cx="0" cy="5117400"/>
          </a:xfrm>
          <a:prstGeom prst="straightConnector1">
            <a:avLst/>
          </a:prstGeom>
          <a:noFill/>
          <a:ln w="12700" cap="flat" cmpd="sng">
            <a:solidFill>
              <a:schemeClr val="dk1"/>
            </a:solidFill>
            <a:prstDash val="lgDash"/>
            <a:miter lim="800000"/>
            <a:headEnd type="none" w="sm" len="sm"/>
            <a:tailEnd type="none" w="sm" len="sm"/>
          </a:ln>
        </p:spPr>
      </p:cxnSp>
      <p:cxnSp>
        <p:nvCxnSpPr>
          <p:cNvPr id="58" name="Google Shape;737;p50">
            <a:extLst>
              <a:ext uri="{FF2B5EF4-FFF2-40B4-BE49-F238E27FC236}">
                <a16:creationId xmlns:a16="http://schemas.microsoft.com/office/drawing/2014/main" id="{14F8AC4F-E4F3-4583-8570-BEE4AF64F73C}"/>
              </a:ext>
            </a:extLst>
          </p:cNvPr>
          <p:cNvCxnSpPr>
            <a:cxnSpLocks/>
          </p:cNvCxnSpPr>
          <p:nvPr/>
        </p:nvCxnSpPr>
        <p:spPr>
          <a:xfrm>
            <a:off x="8366413" y="2582934"/>
            <a:ext cx="0" cy="5117400"/>
          </a:xfrm>
          <a:prstGeom prst="straightConnector1">
            <a:avLst/>
          </a:prstGeom>
          <a:noFill/>
          <a:ln w="12700" cap="flat" cmpd="sng">
            <a:solidFill>
              <a:schemeClr val="dk1"/>
            </a:solidFill>
            <a:prstDash val="lgDash"/>
            <a:miter lim="800000"/>
            <a:headEnd type="none" w="sm" len="sm"/>
            <a:tailEnd type="none" w="sm" len="sm"/>
          </a:ln>
        </p:spPr>
      </p:cxnSp>
      <p:sp>
        <p:nvSpPr>
          <p:cNvPr id="59" name="Google Shape;738;p50">
            <a:extLst>
              <a:ext uri="{FF2B5EF4-FFF2-40B4-BE49-F238E27FC236}">
                <a16:creationId xmlns:a16="http://schemas.microsoft.com/office/drawing/2014/main" id="{B98194D4-68D7-45F9-84FE-8C31A6CA7FB5}"/>
              </a:ext>
            </a:extLst>
          </p:cNvPr>
          <p:cNvSpPr/>
          <p:nvPr/>
        </p:nvSpPr>
        <p:spPr>
          <a:xfrm>
            <a:off x="6157413" y="2876802"/>
            <a:ext cx="297000" cy="46839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0" name="Google Shape;739;p50">
            <a:extLst>
              <a:ext uri="{FF2B5EF4-FFF2-40B4-BE49-F238E27FC236}">
                <a16:creationId xmlns:a16="http://schemas.microsoft.com/office/drawing/2014/main" id="{6B9C18E7-CF42-416E-A8C3-1B2948479568}"/>
              </a:ext>
            </a:extLst>
          </p:cNvPr>
          <p:cNvSpPr/>
          <p:nvPr/>
        </p:nvSpPr>
        <p:spPr>
          <a:xfrm>
            <a:off x="8241421" y="3694004"/>
            <a:ext cx="296999" cy="187592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grpSp>
        <p:nvGrpSpPr>
          <p:cNvPr id="61" name="Google Shape;740;p50">
            <a:extLst>
              <a:ext uri="{FF2B5EF4-FFF2-40B4-BE49-F238E27FC236}">
                <a16:creationId xmlns:a16="http://schemas.microsoft.com/office/drawing/2014/main" id="{68AE83E3-563D-4E91-8CA9-21D4907E56EF}"/>
              </a:ext>
            </a:extLst>
          </p:cNvPr>
          <p:cNvGrpSpPr/>
          <p:nvPr/>
        </p:nvGrpSpPr>
        <p:grpSpPr>
          <a:xfrm>
            <a:off x="5442063" y="3164237"/>
            <a:ext cx="2788666" cy="536573"/>
            <a:chOff x="1584687" y="1977634"/>
            <a:chExt cx="2733987" cy="536573"/>
          </a:xfrm>
        </p:grpSpPr>
        <p:sp>
          <p:nvSpPr>
            <p:cNvPr id="62" name="Google Shape;741;p50">
              <a:extLst>
                <a:ext uri="{FF2B5EF4-FFF2-40B4-BE49-F238E27FC236}">
                  <a16:creationId xmlns:a16="http://schemas.microsoft.com/office/drawing/2014/main" id="{DCF3C522-E86A-4DA0-98B8-17EAC1B76328}"/>
                </a:ext>
              </a:extLst>
            </p:cNvPr>
            <p:cNvSpPr txBox="1"/>
            <p:nvPr/>
          </p:nvSpPr>
          <p:spPr>
            <a:xfrm>
              <a:off x="1584687" y="1977634"/>
              <a:ext cx="2544164" cy="338700"/>
            </a:xfrm>
            <a:prstGeom prst="rect">
              <a:avLst/>
            </a:prstGeom>
            <a:noFill/>
            <a:ln>
              <a:noFill/>
            </a:ln>
          </p:spPr>
          <p:txBody>
            <a:bodyPr spcFirstLastPara="1" wrap="square" lIns="91425" tIns="45700" rIns="91425" bIns="45700" anchor="t" anchorCtr="0">
              <a:noAutofit/>
            </a:bodyPr>
            <a:lstStyle/>
            <a:p>
              <a:pPr lvl="1" algn="r"/>
              <a:r>
                <a:rPr lang="en-US" sz="1400" dirty="0">
                  <a:solidFill>
                    <a:schemeClr val="dk1"/>
                  </a:solidFill>
                  <a:latin typeface="Arial" panose="020B0604020202020204" pitchFamily="34" charset="0"/>
                  <a:ea typeface="Calibri"/>
                  <a:cs typeface="Arial" panose="020B0604020202020204" pitchFamily="34" charset="0"/>
                  <a:sym typeface="Calibri"/>
                </a:rPr>
                <a:t>sensor data (freq., accuracy)</a:t>
              </a:r>
              <a:endParaRPr sz="1400" dirty="0">
                <a:latin typeface="Arial" panose="020B0604020202020204" pitchFamily="34" charset="0"/>
                <a:cs typeface="Arial" panose="020B0604020202020204" pitchFamily="34" charset="0"/>
              </a:endParaRPr>
            </a:p>
          </p:txBody>
        </p:sp>
        <p:cxnSp>
          <p:nvCxnSpPr>
            <p:cNvPr id="63" name="Google Shape;742;p50">
              <a:extLst>
                <a:ext uri="{FF2B5EF4-FFF2-40B4-BE49-F238E27FC236}">
                  <a16:creationId xmlns:a16="http://schemas.microsoft.com/office/drawing/2014/main" id="{894CCB93-933E-4996-BCD0-06F56A13434B}"/>
                </a:ext>
              </a:extLst>
            </p:cNvPr>
            <p:cNvCxnSpPr/>
            <p:nvPr/>
          </p:nvCxnSpPr>
          <p:spPr>
            <a:xfrm>
              <a:off x="2564574" y="2514207"/>
              <a:ext cx="1754100" cy="0"/>
            </a:xfrm>
            <a:prstGeom prst="straightConnector1">
              <a:avLst/>
            </a:prstGeom>
            <a:noFill/>
            <a:ln w="9525" cap="flat" cmpd="sng">
              <a:solidFill>
                <a:schemeClr val="dk1"/>
              </a:solidFill>
              <a:prstDash val="solid"/>
              <a:miter lim="800000"/>
              <a:headEnd type="none" w="sm" len="sm"/>
              <a:tailEnd type="triangle" w="med" len="med"/>
            </a:ln>
          </p:spPr>
        </p:cxnSp>
      </p:grpSp>
      <p:sp>
        <p:nvSpPr>
          <p:cNvPr id="64" name="Google Shape;743;p50">
            <a:extLst>
              <a:ext uri="{FF2B5EF4-FFF2-40B4-BE49-F238E27FC236}">
                <a16:creationId xmlns:a16="http://schemas.microsoft.com/office/drawing/2014/main" id="{7B8CDCEB-BF6A-4B4F-B09F-4F9F97C6C2B1}"/>
              </a:ext>
            </a:extLst>
          </p:cNvPr>
          <p:cNvSpPr txBox="1"/>
          <p:nvPr/>
        </p:nvSpPr>
        <p:spPr>
          <a:xfrm>
            <a:off x="7616822" y="5255950"/>
            <a:ext cx="690629" cy="306796"/>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cs typeface="Arial" panose="020B0604020202020204" pitchFamily="34" charset="0"/>
                <a:sym typeface="Calibri"/>
              </a:rPr>
              <a:t>return</a:t>
            </a:r>
            <a:endParaRPr sz="1400" dirty="0">
              <a:latin typeface="Arial" panose="020B0604020202020204" pitchFamily="34" charset="0"/>
              <a:cs typeface="Arial" panose="020B0604020202020204" pitchFamily="34" charset="0"/>
            </a:endParaRPr>
          </a:p>
        </p:txBody>
      </p:sp>
      <p:cxnSp>
        <p:nvCxnSpPr>
          <p:cNvPr id="65" name="Google Shape;744;p50">
            <a:extLst>
              <a:ext uri="{FF2B5EF4-FFF2-40B4-BE49-F238E27FC236}">
                <a16:creationId xmlns:a16="http://schemas.microsoft.com/office/drawing/2014/main" id="{E6334F50-E16B-4B0C-9434-0D3D04F6958E}"/>
              </a:ext>
            </a:extLst>
          </p:cNvPr>
          <p:cNvCxnSpPr>
            <a:cxnSpLocks/>
          </p:cNvCxnSpPr>
          <p:nvPr/>
        </p:nvCxnSpPr>
        <p:spPr>
          <a:xfrm rot="10800000">
            <a:off x="6447273" y="5569928"/>
            <a:ext cx="1797000" cy="0"/>
          </a:xfrm>
          <a:prstGeom prst="straightConnector1">
            <a:avLst/>
          </a:prstGeom>
          <a:noFill/>
          <a:ln w="9525" cap="flat" cmpd="sng">
            <a:solidFill>
              <a:schemeClr val="dk1"/>
            </a:solidFill>
            <a:prstDash val="dash"/>
            <a:miter lim="800000"/>
            <a:headEnd type="none" w="sm" len="sm"/>
            <a:tailEnd type="triangle" w="med" len="med"/>
          </a:ln>
        </p:spPr>
      </p:cxnSp>
      <p:sp>
        <p:nvSpPr>
          <p:cNvPr id="68" name="Google Shape;752;p50">
            <a:extLst>
              <a:ext uri="{FF2B5EF4-FFF2-40B4-BE49-F238E27FC236}">
                <a16:creationId xmlns:a16="http://schemas.microsoft.com/office/drawing/2014/main" id="{B41A48D0-9AE7-4987-9827-97853085520B}"/>
              </a:ext>
            </a:extLst>
          </p:cNvPr>
          <p:cNvSpPr/>
          <p:nvPr/>
        </p:nvSpPr>
        <p:spPr>
          <a:xfrm>
            <a:off x="8241415" y="7351603"/>
            <a:ext cx="270000" cy="2715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grpSp>
        <p:nvGrpSpPr>
          <p:cNvPr id="69" name="Google Shape;753;p50">
            <a:extLst>
              <a:ext uri="{FF2B5EF4-FFF2-40B4-BE49-F238E27FC236}">
                <a16:creationId xmlns:a16="http://schemas.microsoft.com/office/drawing/2014/main" id="{EBE5ACFD-4063-4E83-A59D-15446C726D25}"/>
              </a:ext>
            </a:extLst>
          </p:cNvPr>
          <p:cNvGrpSpPr/>
          <p:nvPr/>
        </p:nvGrpSpPr>
        <p:grpSpPr>
          <a:xfrm>
            <a:off x="6441555" y="7065928"/>
            <a:ext cx="1830625" cy="338700"/>
            <a:chOff x="2564574" y="2221732"/>
            <a:chExt cx="1794730" cy="338700"/>
          </a:xfrm>
        </p:grpSpPr>
        <p:sp>
          <p:nvSpPr>
            <p:cNvPr id="70" name="Google Shape;754;p50">
              <a:extLst>
                <a:ext uri="{FF2B5EF4-FFF2-40B4-BE49-F238E27FC236}">
                  <a16:creationId xmlns:a16="http://schemas.microsoft.com/office/drawing/2014/main" id="{9682096E-C6C5-4902-A65C-FCC14EE71049}"/>
                </a:ext>
              </a:extLst>
            </p:cNvPr>
            <p:cNvSpPr txBox="1"/>
            <p:nvPr/>
          </p:nvSpPr>
          <p:spPr>
            <a:xfrm>
              <a:off x="2605204" y="2221732"/>
              <a:ext cx="1754100" cy="338700"/>
            </a:xfrm>
            <a:prstGeom prst="rect">
              <a:avLst/>
            </a:prstGeom>
            <a:noFill/>
            <a:ln>
              <a:noFill/>
            </a:ln>
          </p:spPr>
          <p:txBody>
            <a:bodyPr spcFirstLastPara="1" wrap="square" lIns="91425" tIns="45700" rIns="91425" bIns="45700" anchor="t" anchorCtr="0">
              <a:noAutofit/>
            </a:bodyPr>
            <a:lstStyle/>
            <a:p>
              <a:r>
                <a:rPr lang="en-US" sz="1400">
                  <a:solidFill>
                    <a:schemeClr val="dk1"/>
                  </a:solidFill>
                  <a:latin typeface="Arial" panose="020B0604020202020204" pitchFamily="34" charset="0"/>
                  <a:ea typeface="Calibri"/>
                  <a:cs typeface="Arial" panose="020B0604020202020204" pitchFamily="34" charset="0"/>
                  <a:sym typeface="Calibri"/>
                </a:rPr>
                <a:t>message Q</a:t>
              </a:r>
              <a:endParaRPr sz="1400">
                <a:latin typeface="Arial" panose="020B0604020202020204" pitchFamily="34" charset="0"/>
                <a:cs typeface="Arial" panose="020B0604020202020204" pitchFamily="34" charset="0"/>
              </a:endParaRPr>
            </a:p>
          </p:txBody>
        </p:sp>
        <p:cxnSp>
          <p:nvCxnSpPr>
            <p:cNvPr id="71" name="Google Shape;755;p50">
              <a:extLst>
                <a:ext uri="{FF2B5EF4-FFF2-40B4-BE49-F238E27FC236}">
                  <a16:creationId xmlns:a16="http://schemas.microsoft.com/office/drawing/2014/main" id="{50837973-D1B0-4A91-92C5-C13CE5CDA673}"/>
                </a:ext>
              </a:extLst>
            </p:cNvPr>
            <p:cNvCxnSpPr/>
            <p:nvPr/>
          </p:nvCxnSpPr>
          <p:spPr>
            <a:xfrm>
              <a:off x="2564574" y="2514207"/>
              <a:ext cx="1754100" cy="0"/>
            </a:xfrm>
            <a:prstGeom prst="straightConnector1">
              <a:avLst/>
            </a:prstGeom>
            <a:noFill/>
            <a:ln w="9525" cap="flat" cmpd="sng">
              <a:solidFill>
                <a:schemeClr val="dk1"/>
              </a:solidFill>
              <a:prstDash val="solid"/>
              <a:miter lim="800000"/>
              <a:headEnd type="none" w="sm" len="sm"/>
              <a:tailEnd type="triangle" w="med" len="med"/>
            </a:ln>
          </p:spPr>
        </p:cxnSp>
      </p:grpSp>
      <p:sp>
        <p:nvSpPr>
          <p:cNvPr id="30" name="Rectangle 29">
            <a:extLst>
              <a:ext uri="{FF2B5EF4-FFF2-40B4-BE49-F238E27FC236}">
                <a16:creationId xmlns:a16="http://schemas.microsoft.com/office/drawing/2014/main" id="{432FA654-57CE-2B44-BA3A-EA395EFB0041}"/>
              </a:ext>
            </a:extLst>
          </p:cNvPr>
          <p:cNvSpPr/>
          <p:nvPr/>
        </p:nvSpPr>
        <p:spPr>
          <a:xfrm>
            <a:off x="575085" y="10087526"/>
            <a:ext cx="13133851" cy="307777"/>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 2019 </a:t>
            </a:r>
            <a:r>
              <a:rPr lang="en-US" sz="1400" dirty="0" err="1">
                <a:latin typeface="Arial" panose="020B0604020202020204" pitchFamily="34" charset="0"/>
                <a:cs typeface="Arial" panose="020B0604020202020204" pitchFamily="34" charset="0"/>
              </a:rPr>
              <a:t>eCornell</a:t>
            </a:r>
            <a:r>
              <a:rPr lang="en-US" sz="1400" dirty="0">
                <a:latin typeface="Arial" panose="020B0604020202020204" pitchFamily="34" charset="0"/>
                <a:cs typeface="Arial" panose="020B0604020202020204" pitchFamily="34" charset="0"/>
              </a:rPr>
              <a:t>. All rights reserved. All other copyrights, trademarks, trade names, and logos are the sole property of their respective owners</a:t>
            </a:r>
            <a:r>
              <a:rPr lang="en-US" sz="1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96746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1C1F428-E40F-4431-87D1-D8E4B21CCF7D}"/>
              </a:ext>
            </a:extLst>
          </p:cNvPr>
          <p:cNvSpPr>
            <a:spLocks noChangeArrowheads="1"/>
          </p:cNvSpPr>
          <p:nvPr/>
        </p:nvSpPr>
        <p:spPr bwMode="auto">
          <a:xfrm>
            <a:off x="-595745" y="1667367"/>
            <a:ext cx="21933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37160" tIns="68580" rIns="137160" bIns="68580" numCol="1" anchor="ctr" anchorCtr="0" compatLnSpc="1">
            <a:prstTxWarp prst="textNoShape">
              <a:avLst/>
            </a:prstTxWarp>
            <a:spAutoFit/>
          </a:bodyPr>
          <a:lstStyle/>
          <a:p>
            <a:endParaRPr lang="en-US" sz="2100"/>
          </a:p>
        </p:txBody>
      </p:sp>
      <p:sp>
        <p:nvSpPr>
          <p:cNvPr id="124" name="Rectangle 123"/>
          <p:cNvSpPr/>
          <p:nvPr/>
        </p:nvSpPr>
        <p:spPr>
          <a:xfrm>
            <a:off x="1936357" y="2084551"/>
            <a:ext cx="6439879" cy="62217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5" name="Straight Connector 124"/>
          <p:cNvCxnSpPr/>
          <p:nvPr/>
        </p:nvCxnSpPr>
        <p:spPr>
          <a:xfrm>
            <a:off x="3463286" y="2770352"/>
            <a:ext cx="0" cy="553591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6" name="Rectangle 125"/>
          <p:cNvSpPr/>
          <p:nvPr/>
        </p:nvSpPr>
        <p:spPr>
          <a:xfrm>
            <a:off x="3332408" y="3039522"/>
            <a:ext cx="294030" cy="5101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7" name="Rectangle 126"/>
          <p:cNvSpPr/>
          <p:nvPr/>
        </p:nvSpPr>
        <p:spPr>
          <a:xfrm>
            <a:off x="3057324" y="3984272"/>
            <a:ext cx="104547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8" name="Straight Connector 127"/>
          <p:cNvCxnSpPr/>
          <p:nvPr/>
        </p:nvCxnSpPr>
        <p:spPr>
          <a:xfrm>
            <a:off x="5473185" y="2758474"/>
            <a:ext cx="0" cy="506030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7498683" y="2758477"/>
            <a:ext cx="0" cy="5547791"/>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5335135" y="3605188"/>
            <a:ext cx="310490" cy="35089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5" name="Rectangle 134"/>
          <p:cNvSpPr/>
          <p:nvPr/>
        </p:nvSpPr>
        <p:spPr>
          <a:xfrm>
            <a:off x="2387085" y="7278660"/>
            <a:ext cx="3690026" cy="7946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6" name="Snip Single Corner Rectangle 135"/>
          <p:cNvSpPr/>
          <p:nvPr/>
        </p:nvSpPr>
        <p:spPr>
          <a:xfrm flipV="1">
            <a:off x="2388044" y="7279649"/>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Rectangle 136"/>
          <p:cNvSpPr/>
          <p:nvPr/>
        </p:nvSpPr>
        <p:spPr>
          <a:xfrm>
            <a:off x="2274769" y="3798825"/>
            <a:ext cx="5562849" cy="31013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9" name="Rectangle 138"/>
          <p:cNvSpPr/>
          <p:nvPr/>
        </p:nvSpPr>
        <p:spPr>
          <a:xfrm>
            <a:off x="7374757" y="4338482"/>
            <a:ext cx="266700" cy="8022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41" name="Straight Arrow Connector 140"/>
          <p:cNvCxnSpPr/>
          <p:nvPr/>
        </p:nvCxnSpPr>
        <p:spPr>
          <a:xfrm>
            <a:off x="5650287" y="4365961"/>
            <a:ext cx="17244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42" name="Snip Single Corner Rectangle 141"/>
          <p:cNvSpPr/>
          <p:nvPr/>
        </p:nvSpPr>
        <p:spPr>
          <a:xfrm flipV="1">
            <a:off x="2274767" y="3799814"/>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3" name="TextBox 142"/>
          <p:cNvSpPr txBox="1"/>
          <p:nvPr/>
        </p:nvSpPr>
        <p:spPr>
          <a:xfrm>
            <a:off x="2387365" y="3787939"/>
            <a:ext cx="425116" cy="369332"/>
          </a:xfrm>
          <a:prstGeom prst="rect">
            <a:avLst/>
          </a:prstGeom>
          <a:noFill/>
        </p:spPr>
        <p:txBody>
          <a:bodyPr wrap="none" rtlCol="0">
            <a:spAutoFit/>
          </a:bodyPr>
          <a:lstStyle/>
          <a:p>
            <a:r>
              <a:rPr lang="en-US" dirty="0"/>
              <a:t>alt</a:t>
            </a:r>
          </a:p>
        </p:txBody>
      </p:sp>
      <p:sp>
        <p:nvSpPr>
          <p:cNvPr id="144" name="TextBox 143"/>
          <p:cNvSpPr txBox="1"/>
          <p:nvPr/>
        </p:nvSpPr>
        <p:spPr>
          <a:xfrm>
            <a:off x="2463289" y="7281916"/>
            <a:ext cx="504241" cy="369332"/>
          </a:xfrm>
          <a:prstGeom prst="rect">
            <a:avLst/>
          </a:prstGeom>
          <a:noFill/>
        </p:spPr>
        <p:txBody>
          <a:bodyPr wrap="none" rtlCol="0">
            <a:spAutoFit/>
          </a:bodyPr>
          <a:lstStyle/>
          <a:p>
            <a:r>
              <a:rPr lang="en-US" dirty="0"/>
              <a:t>opt</a:t>
            </a:r>
          </a:p>
        </p:txBody>
      </p:sp>
      <p:cxnSp>
        <p:nvCxnSpPr>
          <p:cNvPr id="145" name="Straight Connector 144"/>
          <p:cNvCxnSpPr/>
          <p:nvPr/>
        </p:nvCxnSpPr>
        <p:spPr>
          <a:xfrm>
            <a:off x="2274764" y="5848992"/>
            <a:ext cx="556285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6" name="TextBox 145"/>
          <p:cNvSpPr txBox="1"/>
          <p:nvPr/>
        </p:nvSpPr>
        <p:spPr>
          <a:xfrm>
            <a:off x="2304251" y="5820509"/>
            <a:ext cx="699230" cy="369332"/>
          </a:xfrm>
          <a:prstGeom prst="rect">
            <a:avLst/>
          </a:prstGeom>
          <a:noFill/>
        </p:spPr>
        <p:txBody>
          <a:bodyPr wrap="square" rtlCol="0">
            <a:spAutoFit/>
          </a:bodyPr>
          <a:lstStyle/>
          <a:p>
            <a:r>
              <a:rPr lang="en-US" dirty="0"/>
              <a:t>[else]</a:t>
            </a:r>
          </a:p>
        </p:txBody>
      </p:sp>
      <p:sp>
        <p:nvSpPr>
          <p:cNvPr id="147" name="TextBox 146"/>
          <p:cNvSpPr txBox="1"/>
          <p:nvPr/>
        </p:nvSpPr>
        <p:spPr>
          <a:xfrm>
            <a:off x="3019068" y="3900549"/>
            <a:ext cx="996918" cy="369332"/>
          </a:xfrm>
          <a:prstGeom prst="rect">
            <a:avLst/>
          </a:prstGeom>
          <a:noFill/>
        </p:spPr>
        <p:txBody>
          <a:bodyPr wrap="square" rtlCol="0">
            <a:spAutoFit/>
          </a:bodyPr>
          <a:lstStyle/>
          <a:p>
            <a:r>
              <a:rPr lang="en-US" dirty="0"/>
              <a:t>[x &gt; 100]</a:t>
            </a:r>
          </a:p>
        </p:txBody>
      </p:sp>
      <p:sp>
        <p:nvSpPr>
          <p:cNvPr id="148" name="Rectangle 147"/>
          <p:cNvSpPr/>
          <p:nvPr/>
        </p:nvSpPr>
        <p:spPr>
          <a:xfrm>
            <a:off x="2038251" y="3268121"/>
            <a:ext cx="5942365" cy="37191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9" name="Snip Single Corner Rectangle 148"/>
          <p:cNvSpPr/>
          <p:nvPr/>
        </p:nvSpPr>
        <p:spPr>
          <a:xfrm flipV="1">
            <a:off x="2033763" y="3268122"/>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0" name="TextBox 149"/>
          <p:cNvSpPr txBox="1"/>
          <p:nvPr/>
        </p:nvSpPr>
        <p:spPr>
          <a:xfrm>
            <a:off x="2070411" y="3268123"/>
            <a:ext cx="603050" cy="369332"/>
          </a:xfrm>
          <a:prstGeom prst="rect">
            <a:avLst/>
          </a:prstGeom>
          <a:noFill/>
        </p:spPr>
        <p:txBody>
          <a:bodyPr wrap="none" rtlCol="0">
            <a:spAutoFit/>
          </a:bodyPr>
          <a:lstStyle/>
          <a:p>
            <a:r>
              <a:rPr lang="en-US" dirty="0"/>
              <a:t>loop</a:t>
            </a:r>
          </a:p>
        </p:txBody>
      </p:sp>
      <p:sp>
        <p:nvSpPr>
          <p:cNvPr id="151" name="Rectangle 150"/>
          <p:cNvSpPr/>
          <p:nvPr/>
        </p:nvSpPr>
        <p:spPr>
          <a:xfrm>
            <a:off x="5490652" y="6521884"/>
            <a:ext cx="304584" cy="3057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2" name="Oval 151"/>
          <p:cNvSpPr/>
          <p:nvPr/>
        </p:nvSpPr>
        <p:spPr>
          <a:xfrm>
            <a:off x="2006085" y="2922749"/>
            <a:ext cx="228600" cy="228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3" name="Straight Arrow Connector 152"/>
          <p:cNvCxnSpPr>
            <a:stCxn id="152" idx="6"/>
          </p:cNvCxnSpPr>
          <p:nvPr/>
        </p:nvCxnSpPr>
        <p:spPr>
          <a:xfrm>
            <a:off x="2234685" y="3037048"/>
            <a:ext cx="1097724"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2187189" y="2753523"/>
            <a:ext cx="1031051" cy="338554"/>
          </a:xfrm>
          <a:prstGeom prst="rect">
            <a:avLst/>
          </a:prstGeom>
          <a:noFill/>
        </p:spPr>
        <p:txBody>
          <a:bodyPr wrap="none" rtlCol="0">
            <a:spAutoFit/>
          </a:bodyPr>
          <a:lstStyle/>
          <a:p>
            <a:r>
              <a:rPr lang="en-US" sz="1600" dirty="0"/>
              <a:t>initial </a:t>
            </a:r>
            <a:r>
              <a:rPr lang="en-US" sz="1600" dirty="0" err="1"/>
              <a:t>msg</a:t>
            </a:r>
            <a:endParaRPr lang="en-US" sz="1600" dirty="0"/>
          </a:p>
        </p:txBody>
      </p:sp>
      <p:sp>
        <p:nvSpPr>
          <p:cNvPr id="155" name="TextBox 154"/>
          <p:cNvSpPr txBox="1"/>
          <p:nvPr/>
        </p:nvSpPr>
        <p:spPr>
          <a:xfrm>
            <a:off x="5650287" y="4073037"/>
            <a:ext cx="1545572" cy="338554"/>
          </a:xfrm>
          <a:prstGeom prst="rect">
            <a:avLst/>
          </a:prstGeom>
          <a:noFill/>
        </p:spPr>
        <p:txBody>
          <a:bodyPr wrap="square" rtlCol="0">
            <a:spAutoFit/>
          </a:bodyPr>
          <a:lstStyle/>
          <a:p>
            <a:r>
              <a:rPr lang="en-US" sz="1600" dirty="0"/>
              <a:t>specific output</a:t>
            </a:r>
          </a:p>
        </p:txBody>
      </p:sp>
      <p:sp>
        <p:nvSpPr>
          <p:cNvPr id="156" name="TextBox 155"/>
          <p:cNvSpPr txBox="1"/>
          <p:nvPr/>
        </p:nvSpPr>
        <p:spPr>
          <a:xfrm>
            <a:off x="6183263" y="4837306"/>
            <a:ext cx="1202189" cy="338554"/>
          </a:xfrm>
          <a:prstGeom prst="rect">
            <a:avLst/>
          </a:prstGeom>
          <a:noFill/>
        </p:spPr>
        <p:txBody>
          <a:bodyPr wrap="none" rtlCol="0">
            <a:spAutoFit/>
          </a:bodyPr>
          <a:lstStyle/>
          <a:p>
            <a:r>
              <a:rPr lang="en-US" sz="1600" dirty="0"/>
              <a:t>return value</a:t>
            </a:r>
          </a:p>
        </p:txBody>
      </p:sp>
      <p:cxnSp>
        <p:nvCxnSpPr>
          <p:cNvPr id="158" name="Straight Arrow Connector 157"/>
          <p:cNvCxnSpPr/>
          <p:nvPr/>
        </p:nvCxnSpPr>
        <p:spPr>
          <a:xfrm flipH="1">
            <a:off x="5645627" y="5107090"/>
            <a:ext cx="1729135"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61" name="Elbow Connector 160"/>
          <p:cNvCxnSpPr>
            <a:stCxn id="151" idx="0"/>
            <a:endCxn id="151" idx="3"/>
          </p:cNvCxnSpPr>
          <p:nvPr/>
        </p:nvCxnSpPr>
        <p:spPr>
          <a:xfrm rot="16200000" flipH="1">
            <a:off x="5642645" y="6522181"/>
            <a:ext cx="152895" cy="152292"/>
          </a:xfrm>
          <a:prstGeom prst="bentConnector4">
            <a:avLst>
              <a:gd name="adj1" fmla="val -305529"/>
              <a:gd name="adj2" fmla="val 521603"/>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64" name="Straight Arrow Connector 163"/>
          <p:cNvCxnSpPr/>
          <p:nvPr/>
        </p:nvCxnSpPr>
        <p:spPr>
          <a:xfrm>
            <a:off x="3620591" y="7818780"/>
            <a:ext cx="1784939"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65" name="Group 164"/>
          <p:cNvGrpSpPr/>
          <p:nvPr/>
        </p:nvGrpSpPr>
        <p:grpSpPr>
          <a:xfrm>
            <a:off x="5325935" y="7678462"/>
            <a:ext cx="304800" cy="304800"/>
            <a:chOff x="838200" y="3352800"/>
            <a:chExt cx="457200" cy="457200"/>
          </a:xfrm>
        </p:grpSpPr>
        <p:cxnSp>
          <p:nvCxnSpPr>
            <p:cNvPr id="166" name="Straight Connector 165"/>
            <p:cNvCxnSpPr/>
            <p:nvPr/>
          </p:nvCxnSpPr>
          <p:spPr>
            <a:xfrm>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H="1">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p:nvGrpSpPr>
        <p:grpSpPr>
          <a:xfrm>
            <a:off x="3084764" y="7232929"/>
            <a:ext cx="1429241" cy="369332"/>
            <a:chOff x="-631616" y="3767554"/>
            <a:chExt cx="1429241" cy="369332"/>
          </a:xfrm>
        </p:grpSpPr>
        <p:sp>
          <p:nvSpPr>
            <p:cNvPr id="169" name="Rectangle 168"/>
            <p:cNvSpPr/>
            <p:nvPr/>
          </p:nvSpPr>
          <p:spPr>
            <a:xfrm>
              <a:off x="-581024" y="3860170"/>
              <a:ext cx="137864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0" name="TextBox 169"/>
            <p:cNvSpPr txBox="1"/>
            <p:nvPr/>
          </p:nvSpPr>
          <p:spPr>
            <a:xfrm>
              <a:off x="-631616" y="3767554"/>
              <a:ext cx="1263231" cy="369332"/>
            </a:xfrm>
            <a:prstGeom prst="rect">
              <a:avLst/>
            </a:prstGeom>
            <a:noFill/>
          </p:spPr>
          <p:txBody>
            <a:bodyPr wrap="none" rtlCol="0">
              <a:spAutoFit/>
            </a:bodyPr>
            <a:lstStyle/>
            <a:p>
              <a:r>
                <a:rPr lang="en-US" dirty="0"/>
                <a:t>[shutdown]</a:t>
              </a:r>
            </a:p>
          </p:txBody>
        </p:sp>
      </p:grpSp>
      <p:sp>
        <p:nvSpPr>
          <p:cNvPr id="171" name="TextBox 170"/>
          <p:cNvSpPr txBox="1"/>
          <p:nvPr/>
        </p:nvSpPr>
        <p:spPr>
          <a:xfrm>
            <a:off x="3939169" y="7537731"/>
            <a:ext cx="662361" cy="369332"/>
          </a:xfrm>
          <a:prstGeom prst="rect">
            <a:avLst/>
          </a:prstGeom>
          <a:noFill/>
        </p:spPr>
        <p:txBody>
          <a:bodyPr wrap="none" rtlCol="0">
            <a:spAutoFit/>
          </a:bodyPr>
          <a:lstStyle/>
          <a:p>
            <a:r>
              <a:rPr lang="en-US" dirty="0"/>
              <a:t>close</a:t>
            </a:r>
          </a:p>
        </p:txBody>
      </p:sp>
      <p:sp>
        <p:nvSpPr>
          <p:cNvPr id="172" name="Rectangle 171"/>
          <p:cNvSpPr/>
          <p:nvPr/>
        </p:nvSpPr>
        <p:spPr>
          <a:xfrm>
            <a:off x="6157823" y="6132022"/>
            <a:ext cx="1045479" cy="4672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3" name="TextBox 172"/>
          <p:cNvSpPr txBox="1"/>
          <p:nvPr/>
        </p:nvSpPr>
        <p:spPr>
          <a:xfrm>
            <a:off x="6149328" y="6052775"/>
            <a:ext cx="1018099" cy="584775"/>
          </a:xfrm>
          <a:prstGeom prst="rect">
            <a:avLst/>
          </a:prstGeom>
          <a:noFill/>
        </p:spPr>
        <p:txBody>
          <a:bodyPr wrap="none" rtlCol="0">
            <a:spAutoFit/>
          </a:bodyPr>
          <a:lstStyle/>
          <a:p>
            <a:r>
              <a:rPr lang="en-US" sz="1600" dirty="0"/>
              <a:t>activate </a:t>
            </a:r>
          </a:p>
          <a:p>
            <a:r>
              <a:rPr lang="en-US" sz="1600" dirty="0"/>
              <a:t>command</a:t>
            </a:r>
          </a:p>
        </p:txBody>
      </p:sp>
      <p:sp>
        <p:nvSpPr>
          <p:cNvPr id="190" name="Rectangle 189"/>
          <p:cNvSpPr/>
          <p:nvPr/>
        </p:nvSpPr>
        <p:spPr>
          <a:xfrm>
            <a:off x="2796784" y="3311274"/>
            <a:ext cx="843150" cy="2715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TextBox 190"/>
          <p:cNvSpPr txBox="1"/>
          <p:nvPr/>
        </p:nvSpPr>
        <p:spPr>
          <a:xfrm>
            <a:off x="2703654" y="3227549"/>
            <a:ext cx="996918" cy="369332"/>
          </a:xfrm>
          <a:prstGeom prst="rect">
            <a:avLst/>
          </a:prstGeom>
          <a:noFill/>
        </p:spPr>
        <p:txBody>
          <a:bodyPr wrap="square" rtlCol="0">
            <a:spAutoFit/>
          </a:bodyPr>
          <a:lstStyle/>
          <a:p>
            <a:r>
              <a:rPr lang="en-US" dirty="0"/>
              <a:t>[y &gt; 100]</a:t>
            </a:r>
          </a:p>
        </p:txBody>
      </p:sp>
      <p:sp>
        <p:nvSpPr>
          <p:cNvPr id="194" name="TextBox 193"/>
          <p:cNvSpPr txBox="1"/>
          <p:nvPr/>
        </p:nvSpPr>
        <p:spPr>
          <a:xfrm>
            <a:off x="3560600" y="3337218"/>
            <a:ext cx="1830116" cy="338554"/>
          </a:xfrm>
          <a:prstGeom prst="rect">
            <a:avLst/>
          </a:prstGeom>
          <a:noFill/>
        </p:spPr>
        <p:txBody>
          <a:bodyPr wrap="none" rtlCol="0">
            <a:spAutoFit/>
          </a:bodyPr>
          <a:lstStyle/>
          <a:p>
            <a:r>
              <a:rPr lang="en-US" sz="1600" dirty="0"/>
              <a:t>interface(</a:t>
            </a:r>
            <a:r>
              <a:rPr lang="en-US" sz="1600" dirty="0" err="1"/>
              <a:t>add’l</a:t>
            </a:r>
            <a:r>
              <a:rPr lang="en-US" sz="1600" dirty="0"/>
              <a:t> Info)</a:t>
            </a:r>
          </a:p>
        </p:txBody>
      </p:sp>
      <p:cxnSp>
        <p:nvCxnSpPr>
          <p:cNvPr id="195" name="Straight Arrow Connector 194"/>
          <p:cNvCxnSpPr/>
          <p:nvPr/>
        </p:nvCxnSpPr>
        <p:spPr>
          <a:xfrm>
            <a:off x="3620588" y="3608155"/>
            <a:ext cx="1713526"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96" name="Rectangle 195"/>
          <p:cNvSpPr/>
          <p:nvPr/>
        </p:nvSpPr>
        <p:spPr>
          <a:xfrm>
            <a:off x="2757688" y="2160749"/>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Subsystem 1</a:t>
            </a:r>
          </a:p>
        </p:txBody>
      </p:sp>
      <p:sp>
        <p:nvSpPr>
          <p:cNvPr id="197" name="Rectangle 196"/>
          <p:cNvSpPr/>
          <p:nvPr/>
        </p:nvSpPr>
        <p:spPr>
          <a:xfrm>
            <a:off x="4752741" y="2165966"/>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Subsystem 2</a:t>
            </a:r>
          </a:p>
        </p:txBody>
      </p:sp>
      <p:sp>
        <p:nvSpPr>
          <p:cNvPr id="198" name="Rectangle 197"/>
          <p:cNvSpPr/>
          <p:nvPr/>
        </p:nvSpPr>
        <p:spPr>
          <a:xfrm>
            <a:off x="6808672" y="2160748"/>
            <a:ext cx="1389436"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Exterior System</a:t>
            </a:r>
          </a:p>
        </p:txBody>
      </p:sp>
      <p:sp>
        <p:nvSpPr>
          <p:cNvPr id="205" name="TextBox 204">
            <a:extLst>
              <a:ext uri="{FF2B5EF4-FFF2-40B4-BE49-F238E27FC236}">
                <a16:creationId xmlns:a16="http://schemas.microsoft.com/office/drawing/2014/main" id="{C4FC0698-E69F-4C04-B840-00AE73480D39}"/>
              </a:ext>
            </a:extLst>
          </p:cNvPr>
          <p:cNvSpPr txBox="1"/>
          <p:nvPr/>
        </p:nvSpPr>
        <p:spPr>
          <a:xfrm>
            <a:off x="468749" y="443964"/>
            <a:ext cx="10540441" cy="400110"/>
          </a:xfrm>
          <a:prstGeom prst="rect">
            <a:avLst/>
          </a:prstGeom>
          <a:noFill/>
        </p:spPr>
        <p:txBody>
          <a:bodyPr wrap="square" rtlCol="0">
            <a:spAutoFit/>
          </a:bodyPr>
          <a:lstStyle/>
          <a:p>
            <a:r>
              <a:rPr lang="en-US" sz="2000" b="1" dirty="0">
                <a:latin typeface="Arial" panose="020B0604020202020204" pitchFamily="34" charset="0"/>
                <a:ea typeface="Calibri"/>
                <a:cs typeface="Arial" panose="020B0604020202020204" pitchFamily="34" charset="0"/>
                <a:sym typeface="Calibri"/>
              </a:rPr>
              <a:t>Sequence Diagram Template – Advanced </a:t>
            </a:r>
            <a:endParaRPr lang="en-US" sz="2000" dirty="0">
              <a:latin typeface="Arial" panose="020B0604020202020204" pitchFamily="34" charset="0"/>
              <a:cs typeface="Arial" panose="020B0604020202020204" pitchFamily="34" charset="0"/>
            </a:endParaRPr>
          </a:p>
        </p:txBody>
      </p:sp>
      <p:sp>
        <p:nvSpPr>
          <p:cNvPr id="206" name="TextBox 205"/>
          <p:cNvSpPr txBox="1"/>
          <p:nvPr/>
        </p:nvSpPr>
        <p:spPr>
          <a:xfrm>
            <a:off x="9654676" y="2082709"/>
            <a:ext cx="4170342" cy="6186309"/>
          </a:xfrm>
          <a:prstGeom prst="rect">
            <a:avLst/>
          </a:prstGeom>
          <a:noFill/>
          <a:ln>
            <a:solidFill>
              <a:schemeClr val="tx1"/>
            </a:solidFill>
          </a:ln>
        </p:spPr>
        <p:txBody>
          <a:bodyPr wrap="square" rtlCol="0">
            <a:spAutoFit/>
          </a:bodyPr>
          <a:lstStyle/>
          <a:p>
            <a:r>
              <a:rPr lang="en-US" b="1" dirty="0"/>
              <a:t>Activity Description</a:t>
            </a:r>
          </a:p>
          <a:p>
            <a:endParaRPr lang="en-US" dirty="0"/>
          </a:p>
          <a:p>
            <a:r>
              <a:rPr lang="en-US" dirty="0"/>
              <a:t>An optional informal description of what is occurring within system the activation boxes may be shown on the side</a:t>
            </a:r>
          </a:p>
          <a:p>
            <a:endParaRPr lang="en-US" dirty="0"/>
          </a:p>
          <a:p>
            <a:pPr lvl="1"/>
            <a:r>
              <a:rPr lang="en-US" dirty="0"/>
              <a:t>Indentation may be used to visually highlight which activities are occurring within frames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83" name="Google Shape;957;p54">
            <a:extLst>
              <a:ext uri="{FF2B5EF4-FFF2-40B4-BE49-F238E27FC236}">
                <a16:creationId xmlns:a16="http://schemas.microsoft.com/office/drawing/2014/main" id="{FDD87F7C-1213-46CA-AF93-15D86ED32338}"/>
              </a:ext>
            </a:extLst>
          </p:cNvPr>
          <p:cNvSpPr/>
          <p:nvPr/>
        </p:nvSpPr>
        <p:spPr>
          <a:xfrm rot="10800000">
            <a:off x="6553456" y="5179424"/>
            <a:ext cx="170700" cy="1707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84" name="Google Shape;958;p54">
            <a:extLst>
              <a:ext uri="{FF2B5EF4-FFF2-40B4-BE49-F238E27FC236}">
                <a16:creationId xmlns:a16="http://schemas.microsoft.com/office/drawing/2014/main" id="{EBA4EFF9-E625-4174-B854-43EEA87393FC}"/>
              </a:ext>
            </a:extLst>
          </p:cNvPr>
          <p:cNvCxnSpPr/>
          <p:nvPr/>
        </p:nvCxnSpPr>
        <p:spPr>
          <a:xfrm rot="10800000">
            <a:off x="6314656" y="5264774"/>
            <a:ext cx="238800" cy="0"/>
          </a:xfrm>
          <a:prstGeom prst="straightConnector1">
            <a:avLst/>
          </a:prstGeom>
          <a:noFill/>
          <a:ln w="19050" cap="flat" cmpd="sng">
            <a:solidFill>
              <a:srgbClr val="000000"/>
            </a:solidFill>
            <a:prstDash val="solid"/>
            <a:round/>
            <a:headEnd type="none" w="med" len="med"/>
            <a:tailEnd type="stealth" w="med" len="med"/>
          </a:ln>
        </p:spPr>
      </p:cxnSp>
      <p:sp>
        <p:nvSpPr>
          <p:cNvPr id="85" name="Google Shape;959;p54">
            <a:extLst>
              <a:ext uri="{FF2B5EF4-FFF2-40B4-BE49-F238E27FC236}">
                <a16:creationId xmlns:a16="http://schemas.microsoft.com/office/drawing/2014/main" id="{B8DF3C6A-6BEA-484E-B285-64EF31A899AB}"/>
              </a:ext>
            </a:extLst>
          </p:cNvPr>
          <p:cNvSpPr txBox="1"/>
          <p:nvPr/>
        </p:nvSpPr>
        <p:spPr>
          <a:xfrm>
            <a:off x="6214392" y="5317081"/>
            <a:ext cx="1031100" cy="338700"/>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ea typeface="Calibri"/>
                <a:cs typeface="Arial" panose="020B0604020202020204" pitchFamily="34" charset="0"/>
                <a:sym typeface="Calibri"/>
              </a:rPr>
              <a:t>data D</a:t>
            </a:r>
            <a:endParaRPr sz="1400" dirty="0">
              <a:solidFill>
                <a:schemeClr val="dk1"/>
              </a:solidFill>
              <a:latin typeface="Arial" panose="020B0604020202020204" pitchFamily="34" charset="0"/>
              <a:ea typeface="Calibri"/>
              <a:cs typeface="Arial" panose="020B0604020202020204" pitchFamily="34" charset="0"/>
              <a:sym typeface="Calibri"/>
            </a:endParaRPr>
          </a:p>
        </p:txBody>
      </p:sp>
      <p:sp>
        <p:nvSpPr>
          <p:cNvPr id="56" name="Rectangle 55">
            <a:extLst>
              <a:ext uri="{FF2B5EF4-FFF2-40B4-BE49-F238E27FC236}">
                <a16:creationId xmlns:a16="http://schemas.microsoft.com/office/drawing/2014/main" id="{6B56A6B8-8406-E64B-8D34-CC318A9A03E8}"/>
              </a:ext>
            </a:extLst>
          </p:cNvPr>
          <p:cNvSpPr/>
          <p:nvPr/>
        </p:nvSpPr>
        <p:spPr>
          <a:xfrm>
            <a:off x="662386" y="10133418"/>
            <a:ext cx="13133851" cy="307777"/>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 2019 </a:t>
            </a:r>
            <a:r>
              <a:rPr lang="en-US" sz="1400" dirty="0" err="1">
                <a:latin typeface="Arial" panose="020B0604020202020204" pitchFamily="34" charset="0"/>
                <a:cs typeface="Arial" panose="020B0604020202020204" pitchFamily="34" charset="0"/>
              </a:rPr>
              <a:t>eCornell</a:t>
            </a:r>
            <a:r>
              <a:rPr lang="en-US" sz="1400" dirty="0">
                <a:latin typeface="Arial" panose="020B0604020202020204" pitchFamily="34" charset="0"/>
                <a:cs typeface="Arial" panose="020B0604020202020204" pitchFamily="34" charset="0"/>
              </a:rPr>
              <a:t>. All rights reserved. All other copyrights, trademarks, trade names, and logos are the sole property of their respective owners</a:t>
            </a:r>
            <a:r>
              <a:rPr lang="en-US" sz="1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725130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9068633" y="1669928"/>
            <a:ext cx="5137084" cy="7294305"/>
          </a:xfrm>
          <a:prstGeom prst="rect">
            <a:avLst/>
          </a:prstGeom>
          <a:noFill/>
          <a:ln>
            <a:solidFill>
              <a:schemeClr val="tx1"/>
            </a:solidFill>
          </a:ln>
        </p:spPr>
        <p:txBody>
          <a:bodyPr wrap="square" rtlCol="0">
            <a:spAutoFit/>
          </a:bodyPr>
          <a:lstStyle/>
          <a:p>
            <a:r>
              <a:rPr lang="en-US" b="1" dirty="0"/>
              <a:t>Path Planning Update Sequence for Sensor Filtering and Path Planning Subsystems</a:t>
            </a:r>
          </a:p>
          <a:p>
            <a:endParaRPr lang="en-US" dirty="0"/>
          </a:p>
          <a:p>
            <a:r>
              <a:rPr lang="en-US" dirty="0"/>
              <a:t>sensor data and destination update received </a:t>
            </a:r>
          </a:p>
          <a:p>
            <a:r>
              <a:rPr lang="en-US" i="1" dirty="0"/>
              <a:t>loop</a:t>
            </a:r>
            <a:r>
              <a:rPr lang="en-US" dirty="0"/>
              <a:t> until the destination is reached</a:t>
            </a:r>
          </a:p>
          <a:p>
            <a:r>
              <a:rPr lang="en-US" dirty="0"/>
              <a:t>	convert the data into a new map</a:t>
            </a:r>
          </a:p>
          <a:p>
            <a:endParaRPr lang="en-US" dirty="0"/>
          </a:p>
          <a:p>
            <a:r>
              <a:rPr lang="en-US" dirty="0"/>
              <a:t>	send the map with an updated time stamp</a:t>
            </a:r>
          </a:p>
          <a:p>
            <a:endParaRPr lang="en-US" dirty="0"/>
          </a:p>
          <a:p>
            <a:r>
              <a:rPr lang="en-US" dirty="0"/>
              <a:t>	attempt to find a path to the destination</a:t>
            </a:r>
          </a:p>
          <a:p>
            <a:pPr lvl="1"/>
            <a:r>
              <a:rPr lang="en-US" i="1" dirty="0"/>
              <a:t>if </a:t>
            </a:r>
            <a:r>
              <a:rPr lang="en-US" dirty="0"/>
              <a:t>a valid path is found	</a:t>
            </a:r>
          </a:p>
          <a:p>
            <a:pPr lvl="1"/>
            <a:r>
              <a:rPr lang="en-US" dirty="0"/>
              <a:t>	send the planned route to Mission Control</a:t>
            </a:r>
          </a:p>
          <a:p>
            <a:pPr lvl="1"/>
            <a:r>
              <a:rPr lang="en-US" dirty="0"/>
              <a:t>	Mission Control verifies the route</a:t>
            </a:r>
          </a:p>
          <a:p>
            <a:pPr lvl="1"/>
            <a:r>
              <a:rPr lang="en-US" dirty="0"/>
              <a:t>	Sends route verification result</a:t>
            </a:r>
          </a:p>
          <a:p>
            <a:pPr lvl="1"/>
            <a:r>
              <a:rPr lang="en-US" dirty="0"/>
              <a:t>	Send record of additional mission control 	information</a:t>
            </a:r>
          </a:p>
          <a:p>
            <a:pPr lvl="1"/>
            <a:endParaRPr lang="en-US" dirty="0"/>
          </a:p>
          <a:p>
            <a:pPr lvl="1"/>
            <a:r>
              <a:rPr lang="en-US" i="1" dirty="0"/>
              <a:t>else</a:t>
            </a:r>
            <a:r>
              <a:rPr lang="en-US" dirty="0"/>
              <a:t>	</a:t>
            </a:r>
          </a:p>
          <a:p>
            <a:pPr lvl="1"/>
            <a:r>
              <a:rPr lang="en-US" dirty="0"/>
              <a:t>	calculate local recon path to aid in 	finding new alternate route</a:t>
            </a:r>
          </a:p>
          <a:p>
            <a:r>
              <a:rPr lang="en-US" dirty="0"/>
              <a:t>	</a:t>
            </a:r>
            <a:r>
              <a:rPr lang="en-US" i="1" dirty="0"/>
              <a:t>end if</a:t>
            </a:r>
          </a:p>
          <a:p>
            <a:r>
              <a:rPr lang="en-US" i="1" dirty="0"/>
              <a:t>end loop</a:t>
            </a:r>
          </a:p>
          <a:p>
            <a:r>
              <a:rPr lang="en-US" dirty="0"/>
              <a:t>Destination is reached so enter standby mode</a:t>
            </a:r>
          </a:p>
          <a:p>
            <a:r>
              <a:rPr lang="en-US" dirty="0"/>
              <a:t>	shut down path planning operations to 	conserve energy</a:t>
            </a:r>
          </a:p>
        </p:txBody>
      </p:sp>
      <p:sp>
        <p:nvSpPr>
          <p:cNvPr id="124" name="Rectangle 123"/>
          <p:cNvSpPr/>
          <p:nvPr/>
        </p:nvSpPr>
        <p:spPr>
          <a:xfrm>
            <a:off x="1287948" y="1669928"/>
            <a:ext cx="6439879" cy="71387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5" name="Straight Connector 124"/>
          <p:cNvCxnSpPr>
            <a:stCxn id="196" idx="2"/>
          </p:cNvCxnSpPr>
          <p:nvPr/>
        </p:nvCxnSpPr>
        <p:spPr>
          <a:xfrm flipH="1">
            <a:off x="2803428" y="2404761"/>
            <a:ext cx="28729" cy="6425069"/>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6" name="Rectangle 125"/>
          <p:cNvSpPr/>
          <p:nvPr/>
        </p:nvSpPr>
        <p:spPr>
          <a:xfrm>
            <a:off x="2684003" y="2991987"/>
            <a:ext cx="297623" cy="57747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7" name="Rectangle 126"/>
          <p:cNvSpPr/>
          <p:nvPr/>
        </p:nvSpPr>
        <p:spPr>
          <a:xfrm>
            <a:off x="2408915" y="4485372"/>
            <a:ext cx="104547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8" name="Straight Connector 127"/>
          <p:cNvCxnSpPr/>
          <p:nvPr/>
        </p:nvCxnSpPr>
        <p:spPr>
          <a:xfrm flipH="1">
            <a:off x="4843113" y="2409977"/>
            <a:ext cx="1" cy="598266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6850274" y="2404756"/>
            <a:ext cx="0" cy="6403918"/>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4686726" y="3923411"/>
            <a:ext cx="310490" cy="38377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5" name="Rectangle 134"/>
          <p:cNvSpPr/>
          <p:nvPr/>
        </p:nvSpPr>
        <p:spPr>
          <a:xfrm>
            <a:off x="1738676" y="7852519"/>
            <a:ext cx="3690026" cy="7946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6" name="Snip Single Corner Rectangle 135"/>
          <p:cNvSpPr/>
          <p:nvPr/>
        </p:nvSpPr>
        <p:spPr>
          <a:xfrm flipV="1">
            <a:off x="1739635" y="7853508"/>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Rectangle 136"/>
          <p:cNvSpPr/>
          <p:nvPr/>
        </p:nvSpPr>
        <p:spPr>
          <a:xfrm>
            <a:off x="1626360" y="4299927"/>
            <a:ext cx="5562849" cy="31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9" name="Rectangle 138"/>
          <p:cNvSpPr/>
          <p:nvPr/>
        </p:nvSpPr>
        <p:spPr>
          <a:xfrm>
            <a:off x="6726348" y="4847534"/>
            <a:ext cx="266700" cy="8022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41" name="Straight Arrow Connector 140"/>
          <p:cNvCxnSpPr/>
          <p:nvPr/>
        </p:nvCxnSpPr>
        <p:spPr>
          <a:xfrm>
            <a:off x="5001878" y="4875013"/>
            <a:ext cx="17244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42" name="Snip Single Corner Rectangle 141"/>
          <p:cNvSpPr/>
          <p:nvPr/>
        </p:nvSpPr>
        <p:spPr>
          <a:xfrm flipV="1">
            <a:off x="1626358" y="4300914"/>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3" name="TextBox 142"/>
          <p:cNvSpPr txBox="1"/>
          <p:nvPr/>
        </p:nvSpPr>
        <p:spPr>
          <a:xfrm>
            <a:off x="1699201" y="4289039"/>
            <a:ext cx="425116" cy="369332"/>
          </a:xfrm>
          <a:prstGeom prst="rect">
            <a:avLst/>
          </a:prstGeom>
          <a:noFill/>
        </p:spPr>
        <p:txBody>
          <a:bodyPr wrap="none" rtlCol="0">
            <a:spAutoFit/>
          </a:bodyPr>
          <a:lstStyle/>
          <a:p>
            <a:r>
              <a:rPr lang="en-US" dirty="0"/>
              <a:t>alt</a:t>
            </a:r>
          </a:p>
        </p:txBody>
      </p:sp>
      <p:sp>
        <p:nvSpPr>
          <p:cNvPr id="144" name="TextBox 143"/>
          <p:cNvSpPr txBox="1"/>
          <p:nvPr/>
        </p:nvSpPr>
        <p:spPr>
          <a:xfrm>
            <a:off x="1814880" y="7855774"/>
            <a:ext cx="504241" cy="369332"/>
          </a:xfrm>
          <a:prstGeom prst="rect">
            <a:avLst/>
          </a:prstGeom>
          <a:noFill/>
        </p:spPr>
        <p:txBody>
          <a:bodyPr wrap="none" rtlCol="0">
            <a:spAutoFit/>
          </a:bodyPr>
          <a:lstStyle/>
          <a:p>
            <a:r>
              <a:rPr lang="en-US" dirty="0"/>
              <a:t>opt</a:t>
            </a:r>
          </a:p>
        </p:txBody>
      </p:sp>
      <p:cxnSp>
        <p:nvCxnSpPr>
          <p:cNvPr id="145" name="Straight Connector 144"/>
          <p:cNvCxnSpPr/>
          <p:nvPr/>
        </p:nvCxnSpPr>
        <p:spPr>
          <a:xfrm>
            <a:off x="1626355" y="6375145"/>
            <a:ext cx="556285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6" name="TextBox 145"/>
          <p:cNvSpPr txBox="1"/>
          <p:nvPr/>
        </p:nvSpPr>
        <p:spPr>
          <a:xfrm>
            <a:off x="1621810" y="6348384"/>
            <a:ext cx="699230" cy="369332"/>
          </a:xfrm>
          <a:prstGeom prst="rect">
            <a:avLst/>
          </a:prstGeom>
          <a:noFill/>
        </p:spPr>
        <p:txBody>
          <a:bodyPr wrap="square" rtlCol="0">
            <a:spAutoFit/>
          </a:bodyPr>
          <a:lstStyle/>
          <a:p>
            <a:r>
              <a:rPr lang="en-US" dirty="0"/>
              <a:t>[else]</a:t>
            </a:r>
          </a:p>
        </p:txBody>
      </p:sp>
      <p:sp>
        <p:nvSpPr>
          <p:cNvPr id="147" name="TextBox 146"/>
          <p:cNvSpPr txBox="1"/>
          <p:nvPr/>
        </p:nvSpPr>
        <p:spPr>
          <a:xfrm>
            <a:off x="2370658" y="4401649"/>
            <a:ext cx="1972190" cy="369332"/>
          </a:xfrm>
          <a:prstGeom prst="rect">
            <a:avLst/>
          </a:prstGeom>
          <a:noFill/>
        </p:spPr>
        <p:txBody>
          <a:bodyPr wrap="square" rtlCol="0">
            <a:spAutoFit/>
          </a:bodyPr>
          <a:lstStyle/>
          <a:p>
            <a:r>
              <a:rPr lang="en-US" dirty="0"/>
              <a:t>[valid path found]</a:t>
            </a:r>
          </a:p>
        </p:txBody>
      </p:sp>
      <p:sp>
        <p:nvSpPr>
          <p:cNvPr id="148" name="Rectangle 147"/>
          <p:cNvSpPr/>
          <p:nvPr/>
        </p:nvSpPr>
        <p:spPr>
          <a:xfrm>
            <a:off x="1389842" y="3172880"/>
            <a:ext cx="5942365" cy="44676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9" name="Snip Single Corner Rectangle 148"/>
          <p:cNvSpPr/>
          <p:nvPr/>
        </p:nvSpPr>
        <p:spPr>
          <a:xfrm flipV="1">
            <a:off x="1385354" y="3172880"/>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0" name="TextBox 149"/>
          <p:cNvSpPr txBox="1"/>
          <p:nvPr/>
        </p:nvSpPr>
        <p:spPr>
          <a:xfrm>
            <a:off x="1414050" y="3172879"/>
            <a:ext cx="603050" cy="369332"/>
          </a:xfrm>
          <a:prstGeom prst="rect">
            <a:avLst/>
          </a:prstGeom>
          <a:noFill/>
        </p:spPr>
        <p:txBody>
          <a:bodyPr wrap="none" rtlCol="0">
            <a:spAutoFit/>
          </a:bodyPr>
          <a:lstStyle/>
          <a:p>
            <a:r>
              <a:rPr lang="en-US" dirty="0"/>
              <a:t>loop</a:t>
            </a:r>
          </a:p>
        </p:txBody>
      </p:sp>
      <p:sp>
        <p:nvSpPr>
          <p:cNvPr id="151" name="Rectangle 150"/>
          <p:cNvSpPr/>
          <p:nvPr/>
        </p:nvSpPr>
        <p:spPr>
          <a:xfrm>
            <a:off x="4842243" y="7048037"/>
            <a:ext cx="304584" cy="3057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2" name="Oval 151"/>
          <p:cNvSpPr/>
          <p:nvPr/>
        </p:nvSpPr>
        <p:spPr>
          <a:xfrm>
            <a:off x="1357676" y="2487271"/>
            <a:ext cx="228600" cy="228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3" name="Straight Arrow Connector 152"/>
          <p:cNvCxnSpPr>
            <a:cxnSpLocks/>
          </p:cNvCxnSpPr>
          <p:nvPr/>
        </p:nvCxnSpPr>
        <p:spPr>
          <a:xfrm>
            <a:off x="1586276" y="2989511"/>
            <a:ext cx="1097724"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1538779" y="2467449"/>
            <a:ext cx="1260503" cy="584775"/>
          </a:xfrm>
          <a:prstGeom prst="rect">
            <a:avLst/>
          </a:prstGeom>
          <a:noFill/>
        </p:spPr>
        <p:txBody>
          <a:bodyPr wrap="square" rtlCol="0">
            <a:spAutoFit/>
          </a:bodyPr>
          <a:lstStyle/>
          <a:p>
            <a:r>
              <a:rPr lang="en-US" sz="1600" dirty="0"/>
              <a:t>new data &amp; destination</a:t>
            </a:r>
          </a:p>
        </p:txBody>
      </p:sp>
      <p:sp>
        <p:nvSpPr>
          <p:cNvPr id="155" name="TextBox 154"/>
          <p:cNvSpPr txBox="1"/>
          <p:nvPr/>
        </p:nvSpPr>
        <p:spPr>
          <a:xfrm>
            <a:off x="5001878" y="4582089"/>
            <a:ext cx="1545572" cy="338554"/>
          </a:xfrm>
          <a:prstGeom prst="rect">
            <a:avLst/>
          </a:prstGeom>
          <a:noFill/>
        </p:spPr>
        <p:txBody>
          <a:bodyPr wrap="square" rtlCol="0">
            <a:spAutoFit/>
          </a:bodyPr>
          <a:lstStyle/>
          <a:p>
            <a:r>
              <a:rPr lang="en-US" sz="1600" dirty="0"/>
              <a:t>planned route</a:t>
            </a:r>
          </a:p>
        </p:txBody>
      </p:sp>
      <p:sp>
        <p:nvSpPr>
          <p:cNvPr id="156" name="TextBox 155"/>
          <p:cNvSpPr txBox="1"/>
          <p:nvPr/>
        </p:nvSpPr>
        <p:spPr>
          <a:xfrm>
            <a:off x="5819019" y="5091782"/>
            <a:ext cx="1165814" cy="584775"/>
          </a:xfrm>
          <a:prstGeom prst="rect">
            <a:avLst/>
          </a:prstGeom>
          <a:noFill/>
        </p:spPr>
        <p:txBody>
          <a:bodyPr wrap="square" rtlCol="0">
            <a:spAutoFit/>
          </a:bodyPr>
          <a:lstStyle/>
          <a:p>
            <a:r>
              <a:rPr lang="en-US" sz="1600" dirty="0"/>
              <a:t>Go/No Go approval</a:t>
            </a:r>
          </a:p>
        </p:txBody>
      </p:sp>
      <p:cxnSp>
        <p:nvCxnSpPr>
          <p:cNvPr id="158" name="Straight Arrow Connector 157"/>
          <p:cNvCxnSpPr/>
          <p:nvPr/>
        </p:nvCxnSpPr>
        <p:spPr>
          <a:xfrm flipH="1">
            <a:off x="4997218" y="5616142"/>
            <a:ext cx="1729135"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61" name="Elbow Connector 160"/>
          <p:cNvCxnSpPr>
            <a:stCxn id="151" idx="0"/>
            <a:endCxn id="151" idx="3"/>
          </p:cNvCxnSpPr>
          <p:nvPr/>
        </p:nvCxnSpPr>
        <p:spPr>
          <a:xfrm rot="16200000" flipH="1">
            <a:off x="4994236" y="7048334"/>
            <a:ext cx="152895" cy="152292"/>
          </a:xfrm>
          <a:prstGeom prst="bentConnector4">
            <a:avLst>
              <a:gd name="adj1" fmla="val -305529"/>
              <a:gd name="adj2" fmla="val 521603"/>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64" name="Straight Arrow Connector 163"/>
          <p:cNvCxnSpPr/>
          <p:nvPr/>
        </p:nvCxnSpPr>
        <p:spPr>
          <a:xfrm>
            <a:off x="2991525" y="8405165"/>
            <a:ext cx="18031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65" name="Group 164"/>
          <p:cNvGrpSpPr/>
          <p:nvPr/>
        </p:nvGrpSpPr>
        <p:grpSpPr>
          <a:xfrm>
            <a:off x="4677526" y="8252321"/>
            <a:ext cx="304800" cy="304800"/>
            <a:chOff x="838200" y="3352800"/>
            <a:chExt cx="457200" cy="457200"/>
          </a:xfrm>
        </p:grpSpPr>
        <p:cxnSp>
          <p:nvCxnSpPr>
            <p:cNvPr id="166" name="Straight Connector 165"/>
            <p:cNvCxnSpPr/>
            <p:nvPr/>
          </p:nvCxnSpPr>
          <p:spPr>
            <a:xfrm>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H="1">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p:nvGrpSpPr>
        <p:grpSpPr>
          <a:xfrm>
            <a:off x="2436352" y="7806788"/>
            <a:ext cx="1662506" cy="369332"/>
            <a:chOff x="-631616" y="3767554"/>
            <a:chExt cx="1662506" cy="369332"/>
          </a:xfrm>
        </p:grpSpPr>
        <p:sp>
          <p:nvSpPr>
            <p:cNvPr id="169" name="Rectangle 168"/>
            <p:cNvSpPr/>
            <p:nvPr/>
          </p:nvSpPr>
          <p:spPr>
            <a:xfrm>
              <a:off x="-581024" y="3860170"/>
              <a:ext cx="137864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0" name="TextBox 169"/>
            <p:cNvSpPr txBox="1"/>
            <p:nvPr/>
          </p:nvSpPr>
          <p:spPr>
            <a:xfrm>
              <a:off x="-631616" y="3767554"/>
              <a:ext cx="1662506" cy="369332"/>
            </a:xfrm>
            <a:prstGeom prst="rect">
              <a:avLst/>
            </a:prstGeom>
            <a:noFill/>
          </p:spPr>
          <p:txBody>
            <a:bodyPr wrap="none" rtlCol="0">
              <a:spAutoFit/>
            </a:bodyPr>
            <a:lstStyle/>
            <a:p>
              <a:r>
                <a:rPr lang="en-US" dirty="0"/>
                <a:t>[standby mode]</a:t>
              </a:r>
            </a:p>
          </p:txBody>
        </p:sp>
      </p:grpSp>
      <p:sp>
        <p:nvSpPr>
          <p:cNvPr id="171" name="TextBox 170"/>
          <p:cNvSpPr txBox="1"/>
          <p:nvPr/>
        </p:nvSpPr>
        <p:spPr>
          <a:xfrm>
            <a:off x="3290760" y="8111590"/>
            <a:ext cx="662361" cy="369332"/>
          </a:xfrm>
          <a:prstGeom prst="rect">
            <a:avLst/>
          </a:prstGeom>
          <a:noFill/>
        </p:spPr>
        <p:txBody>
          <a:bodyPr wrap="none" rtlCol="0">
            <a:spAutoFit/>
          </a:bodyPr>
          <a:lstStyle/>
          <a:p>
            <a:r>
              <a:rPr lang="en-US" dirty="0"/>
              <a:t>close</a:t>
            </a:r>
          </a:p>
        </p:txBody>
      </p:sp>
      <p:sp>
        <p:nvSpPr>
          <p:cNvPr id="172" name="Rectangle 171"/>
          <p:cNvSpPr/>
          <p:nvPr/>
        </p:nvSpPr>
        <p:spPr>
          <a:xfrm>
            <a:off x="5509414" y="6658175"/>
            <a:ext cx="1045479" cy="4672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3" name="TextBox 172"/>
          <p:cNvSpPr txBox="1"/>
          <p:nvPr/>
        </p:nvSpPr>
        <p:spPr>
          <a:xfrm>
            <a:off x="5500919" y="6578928"/>
            <a:ext cx="1018099" cy="584775"/>
          </a:xfrm>
          <a:prstGeom prst="rect">
            <a:avLst/>
          </a:prstGeom>
          <a:noFill/>
        </p:spPr>
        <p:txBody>
          <a:bodyPr wrap="none" rtlCol="0">
            <a:spAutoFit/>
          </a:bodyPr>
          <a:lstStyle/>
          <a:p>
            <a:r>
              <a:rPr lang="en-US" sz="1600" dirty="0"/>
              <a:t>activate </a:t>
            </a:r>
          </a:p>
          <a:p>
            <a:r>
              <a:rPr lang="en-US" sz="1600" dirty="0"/>
              <a:t>command</a:t>
            </a:r>
          </a:p>
        </p:txBody>
      </p:sp>
      <p:sp>
        <p:nvSpPr>
          <p:cNvPr id="190" name="Rectangle 189"/>
          <p:cNvSpPr/>
          <p:nvPr/>
        </p:nvSpPr>
        <p:spPr>
          <a:xfrm>
            <a:off x="2148375" y="3216031"/>
            <a:ext cx="843150" cy="2715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TextBox 190"/>
          <p:cNvSpPr txBox="1"/>
          <p:nvPr/>
        </p:nvSpPr>
        <p:spPr>
          <a:xfrm>
            <a:off x="2055245" y="3132305"/>
            <a:ext cx="2287604" cy="369332"/>
          </a:xfrm>
          <a:prstGeom prst="rect">
            <a:avLst/>
          </a:prstGeom>
          <a:noFill/>
        </p:spPr>
        <p:txBody>
          <a:bodyPr wrap="square" rtlCol="0">
            <a:spAutoFit/>
          </a:bodyPr>
          <a:lstStyle/>
          <a:p>
            <a:r>
              <a:rPr lang="en-US" dirty="0"/>
              <a:t>[destination reached]</a:t>
            </a:r>
          </a:p>
        </p:txBody>
      </p:sp>
      <p:sp>
        <p:nvSpPr>
          <p:cNvPr id="194" name="TextBox 193"/>
          <p:cNvSpPr txBox="1"/>
          <p:nvPr/>
        </p:nvSpPr>
        <p:spPr>
          <a:xfrm>
            <a:off x="2903922" y="3615841"/>
            <a:ext cx="1740285" cy="338554"/>
          </a:xfrm>
          <a:prstGeom prst="rect">
            <a:avLst/>
          </a:prstGeom>
          <a:noFill/>
        </p:spPr>
        <p:txBody>
          <a:bodyPr wrap="none" rtlCol="0">
            <a:spAutoFit/>
          </a:bodyPr>
          <a:lstStyle/>
          <a:p>
            <a:r>
              <a:rPr lang="en-US" sz="1600" dirty="0"/>
              <a:t>map (update time)</a:t>
            </a:r>
          </a:p>
        </p:txBody>
      </p:sp>
      <p:cxnSp>
        <p:nvCxnSpPr>
          <p:cNvPr id="195" name="Straight Arrow Connector 194"/>
          <p:cNvCxnSpPr/>
          <p:nvPr/>
        </p:nvCxnSpPr>
        <p:spPr>
          <a:xfrm>
            <a:off x="2991529" y="3926377"/>
            <a:ext cx="1694179"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96" name="Rectangle 195"/>
          <p:cNvSpPr/>
          <p:nvPr/>
        </p:nvSpPr>
        <p:spPr>
          <a:xfrm>
            <a:off x="2101328" y="1795157"/>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Sensor Filtering</a:t>
            </a:r>
          </a:p>
        </p:txBody>
      </p:sp>
      <p:sp>
        <p:nvSpPr>
          <p:cNvPr id="197" name="Rectangle 196"/>
          <p:cNvSpPr/>
          <p:nvPr/>
        </p:nvSpPr>
        <p:spPr>
          <a:xfrm>
            <a:off x="4096381" y="1800374"/>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 Planning</a:t>
            </a:r>
          </a:p>
        </p:txBody>
      </p:sp>
      <p:sp>
        <p:nvSpPr>
          <p:cNvPr id="198" name="Rectangle 197"/>
          <p:cNvSpPr/>
          <p:nvPr/>
        </p:nvSpPr>
        <p:spPr>
          <a:xfrm>
            <a:off x="6137200" y="1795156"/>
            <a:ext cx="1389436"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Mission Control</a:t>
            </a:r>
          </a:p>
        </p:txBody>
      </p:sp>
      <p:sp>
        <p:nvSpPr>
          <p:cNvPr id="205" name="TextBox 204">
            <a:extLst>
              <a:ext uri="{FF2B5EF4-FFF2-40B4-BE49-F238E27FC236}">
                <a16:creationId xmlns:a16="http://schemas.microsoft.com/office/drawing/2014/main" id="{C4FC0698-E69F-4C04-B840-00AE73480D39}"/>
              </a:ext>
            </a:extLst>
          </p:cNvPr>
          <p:cNvSpPr txBox="1"/>
          <p:nvPr/>
        </p:nvSpPr>
        <p:spPr>
          <a:xfrm>
            <a:off x="426958" y="411335"/>
            <a:ext cx="10540441" cy="400110"/>
          </a:xfrm>
          <a:prstGeom prst="rect">
            <a:avLst/>
          </a:prstGeom>
          <a:noFill/>
        </p:spPr>
        <p:txBody>
          <a:bodyPr wrap="square" rtlCol="0">
            <a:spAutoFit/>
          </a:bodyPr>
          <a:lstStyle/>
          <a:p>
            <a:r>
              <a:rPr lang="en-US" sz="2000" b="1" dirty="0">
                <a:latin typeface="Arial" panose="020B0604020202020204" pitchFamily="34" charset="0"/>
                <a:ea typeface="Calibri"/>
                <a:cs typeface="Arial" panose="020B0604020202020204" pitchFamily="34" charset="0"/>
                <a:sym typeface="Calibri"/>
              </a:rPr>
              <a:t>Sequence Diagram Sample – Advanced </a:t>
            </a:r>
            <a:endParaRPr lang="en-US" sz="2000" dirty="0">
              <a:latin typeface="Arial" panose="020B0604020202020204" pitchFamily="34" charset="0"/>
              <a:cs typeface="Arial" panose="020B0604020202020204" pitchFamily="34" charset="0"/>
            </a:endParaRPr>
          </a:p>
        </p:txBody>
      </p:sp>
      <p:sp>
        <p:nvSpPr>
          <p:cNvPr id="55" name="Google Shape;957;p54">
            <a:extLst>
              <a:ext uri="{FF2B5EF4-FFF2-40B4-BE49-F238E27FC236}">
                <a16:creationId xmlns:a16="http://schemas.microsoft.com/office/drawing/2014/main" id="{FDD87F7C-1213-46CA-AF93-15D86ED32338}"/>
              </a:ext>
            </a:extLst>
          </p:cNvPr>
          <p:cNvSpPr/>
          <p:nvPr/>
        </p:nvSpPr>
        <p:spPr>
          <a:xfrm rot="10800000">
            <a:off x="6237116" y="5669306"/>
            <a:ext cx="187770" cy="1707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56" name="Google Shape;958;p54">
            <a:extLst>
              <a:ext uri="{FF2B5EF4-FFF2-40B4-BE49-F238E27FC236}">
                <a16:creationId xmlns:a16="http://schemas.microsoft.com/office/drawing/2014/main" id="{EBA4EFF9-E625-4174-B854-43EEA87393FC}"/>
              </a:ext>
            </a:extLst>
          </p:cNvPr>
          <p:cNvCxnSpPr/>
          <p:nvPr/>
        </p:nvCxnSpPr>
        <p:spPr>
          <a:xfrm flipH="1">
            <a:off x="5246716" y="5754656"/>
            <a:ext cx="994019" cy="0"/>
          </a:xfrm>
          <a:prstGeom prst="straightConnector1">
            <a:avLst/>
          </a:prstGeom>
          <a:noFill/>
          <a:ln w="19050" cap="flat" cmpd="sng">
            <a:solidFill>
              <a:srgbClr val="000000"/>
            </a:solidFill>
            <a:prstDash val="solid"/>
            <a:round/>
            <a:headEnd type="none" w="med" len="med"/>
            <a:tailEnd type="stealth" w="med" len="med"/>
          </a:ln>
        </p:spPr>
      </p:cxnSp>
      <p:sp>
        <p:nvSpPr>
          <p:cNvPr id="57" name="Google Shape;959;p54">
            <a:extLst>
              <a:ext uri="{FF2B5EF4-FFF2-40B4-BE49-F238E27FC236}">
                <a16:creationId xmlns:a16="http://schemas.microsoft.com/office/drawing/2014/main" id="{B8DF3C6A-6BEA-484E-B285-64EF31A899AB}"/>
              </a:ext>
            </a:extLst>
          </p:cNvPr>
          <p:cNvSpPr txBox="1"/>
          <p:nvPr/>
        </p:nvSpPr>
        <p:spPr>
          <a:xfrm>
            <a:off x="5108478" y="5806963"/>
            <a:ext cx="1691427" cy="338700"/>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ea typeface="Calibri"/>
                <a:cs typeface="Arial" panose="020B0604020202020204" pitchFamily="34" charset="0"/>
                <a:sym typeface="Calibri"/>
              </a:rPr>
              <a:t>approval record</a:t>
            </a:r>
            <a:endParaRPr sz="1400" dirty="0">
              <a:solidFill>
                <a:schemeClr val="dk1"/>
              </a:solidFill>
              <a:latin typeface="Arial" panose="020B0604020202020204" pitchFamily="34" charset="0"/>
              <a:ea typeface="Calibri"/>
              <a:cs typeface="Arial" panose="020B0604020202020204" pitchFamily="34" charset="0"/>
              <a:sym typeface="Calibri"/>
            </a:endParaRPr>
          </a:p>
        </p:txBody>
      </p:sp>
      <p:sp>
        <p:nvSpPr>
          <p:cNvPr id="101" name="Rectangle 100">
            <a:extLst>
              <a:ext uri="{FF2B5EF4-FFF2-40B4-BE49-F238E27FC236}">
                <a16:creationId xmlns:a16="http://schemas.microsoft.com/office/drawing/2014/main" id="{B6571B1A-9D8D-4844-9A67-B1D23547F8C4}"/>
              </a:ext>
            </a:extLst>
          </p:cNvPr>
          <p:cNvSpPr/>
          <p:nvPr/>
        </p:nvSpPr>
        <p:spPr>
          <a:xfrm>
            <a:off x="562824" y="10267059"/>
            <a:ext cx="13133851" cy="307777"/>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 2019 </a:t>
            </a:r>
            <a:r>
              <a:rPr lang="en-US" sz="1400" dirty="0" err="1">
                <a:latin typeface="Arial" panose="020B0604020202020204" pitchFamily="34" charset="0"/>
                <a:cs typeface="Arial" panose="020B0604020202020204" pitchFamily="34" charset="0"/>
              </a:rPr>
              <a:t>eCornell</a:t>
            </a:r>
            <a:r>
              <a:rPr lang="en-US" sz="1400" dirty="0">
                <a:latin typeface="Arial" panose="020B0604020202020204" pitchFamily="34" charset="0"/>
                <a:cs typeface="Arial" panose="020B0604020202020204" pitchFamily="34" charset="0"/>
              </a:rPr>
              <a:t>. All rights reserved. All other copyrights, trademarks, trade names, and logos are the sole property of their respective owners</a:t>
            </a:r>
            <a:r>
              <a:rPr lang="en-US" sz="1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219901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9068633" y="1669928"/>
            <a:ext cx="5137084" cy="7294305"/>
          </a:xfrm>
          <a:prstGeom prst="rect">
            <a:avLst/>
          </a:prstGeom>
          <a:noFill/>
          <a:ln>
            <a:solidFill>
              <a:schemeClr val="tx1"/>
            </a:solidFill>
          </a:ln>
        </p:spPr>
        <p:txBody>
          <a:bodyPr wrap="square" rtlCol="0">
            <a:spAutoFit/>
          </a:bodyPr>
          <a:lstStyle/>
          <a:p>
            <a:r>
              <a:rPr lang="en-US" b="1" dirty="0"/>
              <a:t>Path Planning Update Sequence for Sensor Filtering and Path Planning Subsystems</a:t>
            </a:r>
          </a:p>
          <a:p>
            <a:endParaRPr lang="en-US" dirty="0"/>
          </a:p>
          <a:p>
            <a:r>
              <a:rPr lang="en-US" dirty="0"/>
              <a:t>sensor data and destination update received </a:t>
            </a:r>
          </a:p>
          <a:p>
            <a:r>
              <a:rPr lang="en-US" i="1" dirty="0"/>
              <a:t>loop</a:t>
            </a:r>
            <a:r>
              <a:rPr lang="en-US" dirty="0"/>
              <a:t> until the destination is reached</a:t>
            </a:r>
          </a:p>
          <a:p>
            <a:r>
              <a:rPr lang="en-US" dirty="0"/>
              <a:t>	convert the data into a new map</a:t>
            </a:r>
          </a:p>
          <a:p>
            <a:endParaRPr lang="en-US" dirty="0"/>
          </a:p>
          <a:p>
            <a:r>
              <a:rPr lang="en-US" dirty="0"/>
              <a:t>	send the map with an updated time stamp</a:t>
            </a:r>
          </a:p>
          <a:p>
            <a:endParaRPr lang="en-US" dirty="0"/>
          </a:p>
          <a:p>
            <a:r>
              <a:rPr lang="en-US" dirty="0"/>
              <a:t>	attempt to find a path to the destination</a:t>
            </a:r>
          </a:p>
          <a:p>
            <a:pPr lvl="1"/>
            <a:r>
              <a:rPr lang="en-US" i="1" dirty="0"/>
              <a:t>if </a:t>
            </a:r>
            <a:r>
              <a:rPr lang="en-US" dirty="0"/>
              <a:t>a valid path is found	</a:t>
            </a:r>
          </a:p>
          <a:p>
            <a:pPr lvl="1"/>
            <a:r>
              <a:rPr lang="en-US" dirty="0"/>
              <a:t>	send the planned route to Mission Control</a:t>
            </a:r>
          </a:p>
          <a:p>
            <a:pPr lvl="1"/>
            <a:r>
              <a:rPr lang="en-US" dirty="0"/>
              <a:t>	Mission Control verifies the route</a:t>
            </a:r>
          </a:p>
          <a:p>
            <a:pPr lvl="1"/>
            <a:r>
              <a:rPr lang="en-US" dirty="0"/>
              <a:t>	Sends route verification result</a:t>
            </a:r>
          </a:p>
          <a:p>
            <a:pPr lvl="1"/>
            <a:r>
              <a:rPr lang="en-US" dirty="0"/>
              <a:t>	Send record of additional mission control 	information</a:t>
            </a:r>
          </a:p>
          <a:p>
            <a:pPr lvl="1"/>
            <a:endParaRPr lang="en-US" dirty="0"/>
          </a:p>
          <a:p>
            <a:pPr lvl="1"/>
            <a:r>
              <a:rPr lang="en-US" i="1" dirty="0"/>
              <a:t>else</a:t>
            </a:r>
            <a:r>
              <a:rPr lang="en-US" dirty="0"/>
              <a:t>	</a:t>
            </a:r>
          </a:p>
          <a:p>
            <a:pPr lvl="1"/>
            <a:r>
              <a:rPr lang="en-US" dirty="0"/>
              <a:t>	calculate local recon path to aid in 	finding new alternate route</a:t>
            </a:r>
          </a:p>
          <a:p>
            <a:r>
              <a:rPr lang="en-US" dirty="0"/>
              <a:t>	</a:t>
            </a:r>
            <a:r>
              <a:rPr lang="en-US" i="1" dirty="0"/>
              <a:t>end if</a:t>
            </a:r>
          </a:p>
          <a:p>
            <a:r>
              <a:rPr lang="en-US" i="1" dirty="0"/>
              <a:t>end loop</a:t>
            </a:r>
          </a:p>
          <a:p>
            <a:r>
              <a:rPr lang="en-US" dirty="0"/>
              <a:t>Destination is reached so enter standby mode</a:t>
            </a:r>
          </a:p>
          <a:p>
            <a:r>
              <a:rPr lang="en-US" dirty="0"/>
              <a:t>	shut down path planning operations to 	conserve energy</a:t>
            </a:r>
          </a:p>
        </p:txBody>
      </p:sp>
      <p:sp>
        <p:nvSpPr>
          <p:cNvPr id="124" name="Rectangle 123"/>
          <p:cNvSpPr/>
          <p:nvPr/>
        </p:nvSpPr>
        <p:spPr>
          <a:xfrm>
            <a:off x="1287948" y="1669928"/>
            <a:ext cx="6439879" cy="71387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5" name="Straight Connector 124"/>
          <p:cNvCxnSpPr>
            <a:stCxn id="196" idx="2"/>
          </p:cNvCxnSpPr>
          <p:nvPr/>
        </p:nvCxnSpPr>
        <p:spPr>
          <a:xfrm flipH="1">
            <a:off x="2803428" y="2404761"/>
            <a:ext cx="28729" cy="6425069"/>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6" name="Rectangle 125"/>
          <p:cNvSpPr/>
          <p:nvPr/>
        </p:nvSpPr>
        <p:spPr>
          <a:xfrm>
            <a:off x="2684003" y="2991987"/>
            <a:ext cx="297623" cy="57747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7" name="Rectangle 126"/>
          <p:cNvSpPr/>
          <p:nvPr/>
        </p:nvSpPr>
        <p:spPr>
          <a:xfrm>
            <a:off x="2408915" y="4485372"/>
            <a:ext cx="104547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8" name="Straight Connector 127"/>
          <p:cNvCxnSpPr/>
          <p:nvPr/>
        </p:nvCxnSpPr>
        <p:spPr>
          <a:xfrm flipH="1">
            <a:off x="4843113" y="2409977"/>
            <a:ext cx="1" cy="598266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6850274" y="2404756"/>
            <a:ext cx="0" cy="6403918"/>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4686726" y="3923411"/>
            <a:ext cx="310490" cy="38377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5" name="Rectangle 134"/>
          <p:cNvSpPr/>
          <p:nvPr/>
        </p:nvSpPr>
        <p:spPr>
          <a:xfrm>
            <a:off x="1738676" y="7852519"/>
            <a:ext cx="3690026" cy="7946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6" name="Snip Single Corner Rectangle 135"/>
          <p:cNvSpPr/>
          <p:nvPr/>
        </p:nvSpPr>
        <p:spPr>
          <a:xfrm flipV="1">
            <a:off x="1739635" y="7853508"/>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Rectangle 136"/>
          <p:cNvSpPr/>
          <p:nvPr/>
        </p:nvSpPr>
        <p:spPr>
          <a:xfrm>
            <a:off x="1626360" y="4299927"/>
            <a:ext cx="5562849" cy="31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9" name="Rectangle 138"/>
          <p:cNvSpPr/>
          <p:nvPr/>
        </p:nvSpPr>
        <p:spPr>
          <a:xfrm>
            <a:off x="6726348" y="4847534"/>
            <a:ext cx="266700" cy="8022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41" name="Straight Arrow Connector 140"/>
          <p:cNvCxnSpPr/>
          <p:nvPr/>
        </p:nvCxnSpPr>
        <p:spPr>
          <a:xfrm>
            <a:off x="5001878" y="4875013"/>
            <a:ext cx="17244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42" name="Snip Single Corner Rectangle 141"/>
          <p:cNvSpPr/>
          <p:nvPr/>
        </p:nvSpPr>
        <p:spPr>
          <a:xfrm flipV="1">
            <a:off x="1626358" y="4300914"/>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3" name="TextBox 142"/>
          <p:cNvSpPr txBox="1"/>
          <p:nvPr/>
        </p:nvSpPr>
        <p:spPr>
          <a:xfrm>
            <a:off x="1699201" y="4289039"/>
            <a:ext cx="425116" cy="369332"/>
          </a:xfrm>
          <a:prstGeom prst="rect">
            <a:avLst/>
          </a:prstGeom>
          <a:noFill/>
        </p:spPr>
        <p:txBody>
          <a:bodyPr wrap="none" rtlCol="0">
            <a:spAutoFit/>
          </a:bodyPr>
          <a:lstStyle/>
          <a:p>
            <a:r>
              <a:rPr lang="en-US" dirty="0"/>
              <a:t>alt</a:t>
            </a:r>
          </a:p>
        </p:txBody>
      </p:sp>
      <p:sp>
        <p:nvSpPr>
          <p:cNvPr id="144" name="TextBox 143"/>
          <p:cNvSpPr txBox="1"/>
          <p:nvPr/>
        </p:nvSpPr>
        <p:spPr>
          <a:xfrm>
            <a:off x="1814880" y="7855774"/>
            <a:ext cx="504241" cy="369332"/>
          </a:xfrm>
          <a:prstGeom prst="rect">
            <a:avLst/>
          </a:prstGeom>
          <a:noFill/>
        </p:spPr>
        <p:txBody>
          <a:bodyPr wrap="none" rtlCol="0">
            <a:spAutoFit/>
          </a:bodyPr>
          <a:lstStyle/>
          <a:p>
            <a:r>
              <a:rPr lang="en-US" dirty="0"/>
              <a:t>opt</a:t>
            </a:r>
          </a:p>
        </p:txBody>
      </p:sp>
      <p:cxnSp>
        <p:nvCxnSpPr>
          <p:cNvPr id="145" name="Straight Connector 144"/>
          <p:cNvCxnSpPr/>
          <p:nvPr/>
        </p:nvCxnSpPr>
        <p:spPr>
          <a:xfrm>
            <a:off x="1626355" y="6375145"/>
            <a:ext cx="556285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6" name="TextBox 145"/>
          <p:cNvSpPr txBox="1"/>
          <p:nvPr/>
        </p:nvSpPr>
        <p:spPr>
          <a:xfrm>
            <a:off x="1621810" y="6348384"/>
            <a:ext cx="699230" cy="369332"/>
          </a:xfrm>
          <a:prstGeom prst="rect">
            <a:avLst/>
          </a:prstGeom>
          <a:noFill/>
        </p:spPr>
        <p:txBody>
          <a:bodyPr wrap="square" rtlCol="0">
            <a:spAutoFit/>
          </a:bodyPr>
          <a:lstStyle/>
          <a:p>
            <a:r>
              <a:rPr lang="en-US" dirty="0"/>
              <a:t>[else]</a:t>
            </a:r>
          </a:p>
        </p:txBody>
      </p:sp>
      <p:sp>
        <p:nvSpPr>
          <p:cNvPr id="147" name="TextBox 146"/>
          <p:cNvSpPr txBox="1"/>
          <p:nvPr/>
        </p:nvSpPr>
        <p:spPr>
          <a:xfrm>
            <a:off x="2370658" y="4401649"/>
            <a:ext cx="1972190" cy="369332"/>
          </a:xfrm>
          <a:prstGeom prst="rect">
            <a:avLst/>
          </a:prstGeom>
          <a:noFill/>
        </p:spPr>
        <p:txBody>
          <a:bodyPr wrap="square" rtlCol="0">
            <a:spAutoFit/>
          </a:bodyPr>
          <a:lstStyle/>
          <a:p>
            <a:r>
              <a:rPr lang="en-US" dirty="0"/>
              <a:t>[valid path found]</a:t>
            </a:r>
          </a:p>
        </p:txBody>
      </p:sp>
      <p:sp>
        <p:nvSpPr>
          <p:cNvPr id="148" name="Rectangle 147"/>
          <p:cNvSpPr/>
          <p:nvPr/>
        </p:nvSpPr>
        <p:spPr>
          <a:xfrm>
            <a:off x="1389842" y="3172880"/>
            <a:ext cx="5942365" cy="44676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9" name="Snip Single Corner Rectangle 148"/>
          <p:cNvSpPr/>
          <p:nvPr/>
        </p:nvSpPr>
        <p:spPr>
          <a:xfrm flipV="1">
            <a:off x="1385354" y="3172880"/>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0" name="TextBox 149"/>
          <p:cNvSpPr txBox="1"/>
          <p:nvPr/>
        </p:nvSpPr>
        <p:spPr>
          <a:xfrm>
            <a:off x="1414050" y="3172879"/>
            <a:ext cx="603050" cy="369332"/>
          </a:xfrm>
          <a:prstGeom prst="rect">
            <a:avLst/>
          </a:prstGeom>
          <a:noFill/>
        </p:spPr>
        <p:txBody>
          <a:bodyPr wrap="none" rtlCol="0">
            <a:spAutoFit/>
          </a:bodyPr>
          <a:lstStyle/>
          <a:p>
            <a:r>
              <a:rPr lang="en-US" dirty="0"/>
              <a:t>loop</a:t>
            </a:r>
          </a:p>
        </p:txBody>
      </p:sp>
      <p:sp>
        <p:nvSpPr>
          <p:cNvPr id="151" name="Rectangle 150"/>
          <p:cNvSpPr/>
          <p:nvPr/>
        </p:nvSpPr>
        <p:spPr>
          <a:xfrm>
            <a:off x="4842243" y="7048037"/>
            <a:ext cx="304584" cy="3057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2" name="Oval 151"/>
          <p:cNvSpPr/>
          <p:nvPr/>
        </p:nvSpPr>
        <p:spPr>
          <a:xfrm>
            <a:off x="1357676" y="2487271"/>
            <a:ext cx="228600" cy="228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3" name="Straight Arrow Connector 152"/>
          <p:cNvCxnSpPr>
            <a:cxnSpLocks/>
          </p:cNvCxnSpPr>
          <p:nvPr/>
        </p:nvCxnSpPr>
        <p:spPr>
          <a:xfrm>
            <a:off x="1586276" y="2989511"/>
            <a:ext cx="1097724"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1538779" y="2467449"/>
            <a:ext cx="1260503" cy="584775"/>
          </a:xfrm>
          <a:prstGeom prst="rect">
            <a:avLst/>
          </a:prstGeom>
          <a:noFill/>
        </p:spPr>
        <p:txBody>
          <a:bodyPr wrap="square" rtlCol="0">
            <a:spAutoFit/>
          </a:bodyPr>
          <a:lstStyle/>
          <a:p>
            <a:r>
              <a:rPr lang="en-US" sz="1600" dirty="0"/>
              <a:t>new data &amp; destination</a:t>
            </a:r>
          </a:p>
        </p:txBody>
      </p:sp>
      <p:sp>
        <p:nvSpPr>
          <p:cNvPr id="155" name="TextBox 154"/>
          <p:cNvSpPr txBox="1"/>
          <p:nvPr/>
        </p:nvSpPr>
        <p:spPr>
          <a:xfrm>
            <a:off x="5001878" y="4582089"/>
            <a:ext cx="1545572" cy="338554"/>
          </a:xfrm>
          <a:prstGeom prst="rect">
            <a:avLst/>
          </a:prstGeom>
          <a:noFill/>
        </p:spPr>
        <p:txBody>
          <a:bodyPr wrap="square" rtlCol="0">
            <a:spAutoFit/>
          </a:bodyPr>
          <a:lstStyle/>
          <a:p>
            <a:r>
              <a:rPr lang="en-US" sz="1600" dirty="0"/>
              <a:t>planned route</a:t>
            </a:r>
          </a:p>
        </p:txBody>
      </p:sp>
      <p:sp>
        <p:nvSpPr>
          <p:cNvPr id="156" name="TextBox 155"/>
          <p:cNvSpPr txBox="1"/>
          <p:nvPr/>
        </p:nvSpPr>
        <p:spPr>
          <a:xfrm>
            <a:off x="5819019" y="5091782"/>
            <a:ext cx="1165814" cy="584775"/>
          </a:xfrm>
          <a:prstGeom prst="rect">
            <a:avLst/>
          </a:prstGeom>
          <a:noFill/>
        </p:spPr>
        <p:txBody>
          <a:bodyPr wrap="square" rtlCol="0">
            <a:spAutoFit/>
          </a:bodyPr>
          <a:lstStyle/>
          <a:p>
            <a:r>
              <a:rPr lang="en-US" sz="1600" dirty="0"/>
              <a:t>Go/No Go approval</a:t>
            </a:r>
          </a:p>
        </p:txBody>
      </p:sp>
      <p:cxnSp>
        <p:nvCxnSpPr>
          <p:cNvPr id="158" name="Straight Arrow Connector 157"/>
          <p:cNvCxnSpPr/>
          <p:nvPr/>
        </p:nvCxnSpPr>
        <p:spPr>
          <a:xfrm flipH="1">
            <a:off x="4997218" y="5616142"/>
            <a:ext cx="1729135"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61" name="Elbow Connector 160"/>
          <p:cNvCxnSpPr>
            <a:stCxn id="151" idx="0"/>
            <a:endCxn id="151" idx="3"/>
          </p:cNvCxnSpPr>
          <p:nvPr/>
        </p:nvCxnSpPr>
        <p:spPr>
          <a:xfrm rot="16200000" flipH="1">
            <a:off x="4994236" y="7048334"/>
            <a:ext cx="152895" cy="152292"/>
          </a:xfrm>
          <a:prstGeom prst="bentConnector4">
            <a:avLst>
              <a:gd name="adj1" fmla="val -305529"/>
              <a:gd name="adj2" fmla="val 521603"/>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64" name="Straight Arrow Connector 163"/>
          <p:cNvCxnSpPr/>
          <p:nvPr/>
        </p:nvCxnSpPr>
        <p:spPr>
          <a:xfrm>
            <a:off x="2991525" y="8405165"/>
            <a:ext cx="18031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65" name="Group 164"/>
          <p:cNvGrpSpPr/>
          <p:nvPr/>
        </p:nvGrpSpPr>
        <p:grpSpPr>
          <a:xfrm>
            <a:off x="4677526" y="8252321"/>
            <a:ext cx="304800" cy="304800"/>
            <a:chOff x="838200" y="3352800"/>
            <a:chExt cx="457200" cy="457200"/>
          </a:xfrm>
        </p:grpSpPr>
        <p:cxnSp>
          <p:nvCxnSpPr>
            <p:cNvPr id="166" name="Straight Connector 165"/>
            <p:cNvCxnSpPr/>
            <p:nvPr/>
          </p:nvCxnSpPr>
          <p:spPr>
            <a:xfrm>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H="1">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p:nvGrpSpPr>
        <p:grpSpPr>
          <a:xfrm>
            <a:off x="2436352" y="7806788"/>
            <a:ext cx="1662506" cy="369332"/>
            <a:chOff x="-631616" y="3767554"/>
            <a:chExt cx="1662506" cy="369332"/>
          </a:xfrm>
        </p:grpSpPr>
        <p:sp>
          <p:nvSpPr>
            <p:cNvPr id="169" name="Rectangle 168"/>
            <p:cNvSpPr/>
            <p:nvPr/>
          </p:nvSpPr>
          <p:spPr>
            <a:xfrm>
              <a:off x="-581024" y="3860170"/>
              <a:ext cx="137864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0" name="TextBox 169"/>
            <p:cNvSpPr txBox="1"/>
            <p:nvPr/>
          </p:nvSpPr>
          <p:spPr>
            <a:xfrm>
              <a:off x="-631616" y="3767554"/>
              <a:ext cx="1662506" cy="369332"/>
            </a:xfrm>
            <a:prstGeom prst="rect">
              <a:avLst/>
            </a:prstGeom>
            <a:noFill/>
          </p:spPr>
          <p:txBody>
            <a:bodyPr wrap="none" rtlCol="0">
              <a:spAutoFit/>
            </a:bodyPr>
            <a:lstStyle/>
            <a:p>
              <a:r>
                <a:rPr lang="en-US" dirty="0"/>
                <a:t>[standby mode]</a:t>
              </a:r>
            </a:p>
          </p:txBody>
        </p:sp>
      </p:grpSp>
      <p:sp>
        <p:nvSpPr>
          <p:cNvPr id="171" name="TextBox 170"/>
          <p:cNvSpPr txBox="1"/>
          <p:nvPr/>
        </p:nvSpPr>
        <p:spPr>
          <a:xfrm>
            <a:off x="3290760" y="8111590"/>
            <a:ext cx="662361" cy="369332"/>
          </a:xfrm>
          <a:prstGeom prst="rect">
            <a:avLst/>
          </a:prstGeom>
          <a:noFill/>
        </p:spPr>
        <p:txBody>
          <a:bodyPr wrap="none" rtlCol="0">
            <a:spAutoFit/>
          </a:bodyPr>
          <a:lstStyle/>
          <a:p>
            <a:r>
              <a:rPr lang="en-US" dirty="0"/>
              <a:t>close</a:t>
            </a:r>
          </a:p>
        </p:txBody>
      </p:sp>
      <p:sp>
        <p:nvSpPr>
          <p:cNvPr id="172" name="Rectangle 171"/>
          <p:cNvSpPr/>
          <p:nvPr/>
        </p:nvSpPr>
        <p:spPr>
          <a:xfrm>
            <a:off x="5509414" y="6658175"/>
            <a:ext cx="1045479" cy="4672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3" name="TextBox 172"/>
          <p:cNvSpPr txBox="1"/>
          <p:nvPr/>
        </p:nvSpPr>
        <p:spPr>
          <a:xfrm>
            <a:off x="5500919" y="6578928"/>
            <a:ext cx="1018099" cy="584775"/>
          </a:xfrm>
          <a:prstGeom prst="rect">
            <a:avLst/>
          </a:prstGeom>
          <a:noFill/>
        </p:spPr>
        <p:txBody>
          <a:bodyPr wrap="none" rtlCol="0">
            <a:spAutoFit/>
          </a:bodyPr>
          <a:lstStyle/>
          <a:p>
            <a:r>
              <a:rPr lang="en-US" sz="1600" dirty="0"/>
              <a:t>activate </a:t>
            </a:r>
          </a:p>
          <a:p>
            <a:r>
              <a:rPr lang="en-US" sz="1600" dirty="0"/>
              <a:t>command</a:t>
            </a:r>
          </a:p>
        </p:txBody>
      </p:sp>
      <p:sp>
        <p:nvSpPr>
          <p:cNvPr id="190" name="Rectangle 189"/>
          <p:cNvSpPr/>
          <p:nvPr/>
        </p:nvSpPr>
        <p:spPr>
          <a:xfrm>
            <a:off x="2148375" y="3216031"/>
            <a:ext cx="843150" cy="2715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TextBox 190"/>
          <p:cNvSpPr txBox="1"/>
          <p:nvPr/>
        </p:nvSpPr>
        <p:spPr>
          <a:xfrm>
            <a:off x="2055245" y="3132305"/>
            <a:ext cx="2287604" cy="369332"/>
          </a:xfrm>
          <a:prstGeom prst="rect">
            <a:avLst/>
          </a:prstGeom>
          <a:noFill/>
        </p:spPr>
        <p:txBody>
          <a:bodyPr wrap="square" rtlCol="0">
            <a:spAutoFit/>
          </a:bodyPr>
          <a:lstStyle/>
          <a:p>
            <a:r>
              <a:rPr lang="en-US" dirty="0"/>
              <a:t>[destination reached]</a:t>
            </a:r>
          </a:p>
        </p:txBody>
      </p:sp>
      <p:sp>
        <p:nvSpPr>
          <p:cNvPr id="194" name="TextBox 193"/>
          <p:cNvSpPr txBox="1"/>
          <p:nvPr/>
        </p:nvSpPr>
        <p:spPr>
          <a:xfrm>
            <a:off x="2903922" y="3615841"/>
            <a:ext cx="1740285" cy="338554"/>
          </a:xfrm>
          <a:prstGeom prst="rect">
            <a:avLst/>
          </a:prstGeom>
          <a:noFill/>
        </p:spPr>
        <p:txBody>
          <a:bodyPr wrap="none" rtlCol="0">
            <a:spAutoFit/>
          </a:bodyPr>
          <a:lstStyle/>
          <a:p>
            <a:r>
              <a:rPr lang="en-US" sz="1600" dirty="0"/>
              <a:t>map (update time)</a:t>
            </a:r>
          </a:p>
        </p:txBody>
      </p:sp>
      <p:cxnSp>
        <p:nvCxnSpPr>
          <p:cNvPr id="195" name="Straight Arrow Connector 194"/>
          <p:cNvCxnSpPr/>
          <p:nvPr/>
        </p:nvCxnSpPr>
        <p:spPr>
          <a:xfrm>
            <a:off x="2991529" y="3926377"/>
            <a:ext cx="1694179"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96" name="Rectangle 195"/>
          <p:cNvSpPr/>
          <p:nvPr/>
        </p:nvSpPr>
        <p:spPr>
          <a:xfrm>
            <a:off x="2101328" y="1795157"/>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Sensor Filtering</a:t>
            </a:r>
          </a:p>
        </p:txBody>
      </p:sp>
      <p:sp>
        <p:nvSpPr>
          <p:cNvPr id="197" name="Rectangle 196"/>
          <p:cNvSpPr/>
          <p:nvPr/>
        </p:nvSpPr>
        <p:spPr>
          <a:xfrm>
            <a:off x="4096381" y="1800374"/>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 Planning</a:t>
            </a:r>
          </a:p>
        </p:txBody>
      </p:sp>
      <p:sp>
        <p:nvSpPr>
          <p:cNvPr id="198" name="Rectangle 197"/>
          <p:cNvSpPr/>
          <p:nvPr/>
        </p:nvSpPr>
        <p:spPr>
          <a:xfrm>
            <a:off x="6137200" y="1795156"/>
            <a:ext cx="1389436"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Mission Control</a:t>
            </a:r>
          </a:p>
        </p:txBody>
      </p:sp>
      <p:sp>
        <p:nvSpPr>
          <p:cNvPr id="205" name="TextBox 204">
            <a:extLst>
              <a:ext uri="{FF2B5EF4-FFF2-40B4-BE49-F238E27FC236}">
                <a16:creationId xmlns:a16="http://schemas.microsoft.com/office/drawing/2014/main" id="{C4FC0698-E69F-4C04-B840-00AE73480D39}"/>
              </a:ext>
            </a:extLst>
          </p:cNvPr>
          <p:cNvSpPr txBox="1"/>
          <p:nvPr/>
        </p:nvSpPr>
        <p:spPr>
          <a:xfrm>
            <a:off x="429756" y="391311"/>
            <a:ext cx="10540441" cy="400110"/>
          </a:xfrm>
          <a:prstGeom prst="rect">
            <a:avLst/>
          </a:prstGeom>
          <a:noFill/>
        </p:spPr>
        <p:txBody>
          <a:bodyPr wrap="square" rtlCol="0">
            <a:spAutoFit/>
          </a:bodyPr>
          <a:lstStyle/>
          <a:p>
            <a:r>
              <a:rPr lang="en-US" sz="2000" b="1" dirty="0">
                <a:latin typeface="Arial" panose="020B0604020202020204" pitchFamily="34" charset="0"/>
                <a:ea typeface="Calibri"/>
                <a:cs typeface="Arial" panose="020B0604020202020204" pitchFamily="34" charset="0"/>
                <a:sym typeface="Calibri"/>
              </a:rPr>
              <a:t>Sequence Diagram Sample – with Callouts</a:t>
            </a:r>
            <a:endParaRPr lang="en-US" sz="2000" dirty="0">
              <a:latin typeface="Arial" panose="020B0604020202020204" pitchFamily="34" charset="0"/>
              <a:cs typeface="Arial" panose="020B0604020202020204" pitchFamily="34" charset="0"/>
            </a:endParaRPr>
          </a:p>
        </p:txBody>
      </p:sp>
      <p:sp>
        <p:nvSpPr>
          <p:cNvPr id="55" name="Google Shape;957;p54">
            <a:extLst>
              <a:ext uri="{FF2B5EF4-FFF2-40B4-BE49-F238E27FC236}">
                <a16:creationId xmlns:a16="http://schemas.microsoft.com/office/drawing/2014/main" id="{FDD87F7C-1213-46CA-AF93-15D86ED32338}"/>
              </a:ext>
            </a:extLst>
          </p:cNvPr>
          <p:cNvSpPr/>
          <p:nvPr/>
        </p:nvSpPr>
        <p:spPr>
          <a:xfrm rot="10800000">
            <a:off x="6237116" y="5669306"/>
            <a:ext cx="187770" cy="1707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56" name="Google Shape;958;p54">
            <a:extLst>
              <a:ext uri="{FF2B5EF4-FFF2-40B4-BE49-F238E27FC236}">
                <a16:creationId xmlns:a16="http://schemas.microsoft.com/office/drawing/2014/main" id="{EBA4EFF9-E625-4174-B854-43EEA87393FC}"/>
              </a:ext>
            </a:extLst>
          </p:cNvPr>
          <p:cNvCxnSpPr/>
          <p:nvPr/>
        </p:nvCxnSpPr>
        <p:spPr>
          <a:xfrm flipH="1">
            <a:off x="5246716" y="5754656"/>
            <a:ext cx="994019" cy="0"/>
          </a:xfrm>
          <a:prstGeom prst="straightConnector1">
            <a:avLst/>
          </a:prstGeom>
          <a:noFill/>
          <a:ln w="19050" cap="flat" cmpd="sng">
            <a:solidFill>
              <a:srgbClr val="000000"/>
            </a:solidFill>
            <a:prstDash val="solid"/>
            <a:round/>
            <a:headEnd type="none" w="med" len="med"/>
            <a:tailEnd type="stealth" w="med" len="med"/>
          </a:ln>
        </p:spPr>
      </p:cxnSp>
      <p:sp>
        <p:nvSpPr>
          <p:cNvPr id="57" name="Google Shape;959;p54">
            <a:extLst>
              <a:ext uri="{FF2B5EF4-FFF2-40B4-BE49-F238E27FC236}">
                <a16:creationId xmlns:a16="http://schemas.microsoft.com/office/drawing/2014/main" id="{B8DF3C6A-6BEA-484E-B285-64EF31A899AB}"/>
              </a:ext>
            </a:extLst>
          </p:cNvPr>
          <p:cNvSpPr txBox="1"/>
          <p:nvPr/>
        </p:nvSpPr>
        <p:spPr>
          <a:xfrm>
            <a:off x="5108478" y="5806963"/>
            <a:ext cx="1691427" cy="338700"/>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ea typeface="Calibri"/>
                <a:cs typeface="Arial" panose="020B0604020202020204" pitchFamily="34" charset="0"/>
                <a:sym typeface="Calibri"/>
              </a:rPr>
              <a:t>approval record</a:t>
            </a:r>
            <a:endParaRPr sz="1400" dirty="0">
              <a:solidFill>
                <a:schemeClr val="dk1"/>
              </a:solidFill>
              <a:latin typeface="Arial" panose="020B0604020202020204" pitchFamily="34" charset="0"/>
              <a:ea typeface="Calibri"/>
              <a:cs typeface="Arial" panose="020B0604020202020204" pitchFamily="34" charset="0"/>
              <a:sym typeface="Calibri"/>
            </a:endParaRPr>
          </a:p>
        </p:txBody>
      </p:sp>
      <p:sp>
        <p:nvSpPr>
          <p:cNvPr id="87" name="TextBox 86">
            <a:extLst>
              <a:ext uri="{FF2B5EF4-FFF2-40B4-BE49-F238E27FC236}">
                <a16:creationId xmlns:a16="http://schemas.microsoft.com/office/drawing/2014/main" id="{76F779C8-1577-C14D-8FAA-1D3C491845A4}"/>
              </a:ext>
            </a:extLst>
          </p:cNvPr>
          <p:cNvSpPr txBox="1"/>
          <p:nvPr/>
        </p:nvSpPr>
        <p:spPr>
          <a:xfrm>
            <a:off x="4068391" y="964982"/>
            <a:ext cx="1234633"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participant</a:t>
            </a:r>
          </a:p>
        </p:txBody>
      </p:sp>
      <p:sp>
        <p:nvSpPr>
          <p:cNvPr id="88" name="TextBox 87">
            <a:extLst>
              <a:ext uri="{FF2B5EF4-FFF2-40B4-BE49-F238E27FC236}">
                <a16:creationId xmlns:a16="http://schemas.microsoft.com/office/drawing/2014/main" id="{7B5AC7E1-ECF2-E34E-A539-4D77B40136A6}"/>
              </a:ext>
            </a:extLst>
          </p:cNvPr>
          <p:cNvSpPr txBox="1"/>
          <p:nvPr/>
        </p:nvSpPr>
        <p:spPr>
          <a:xfrm>
            <a:off x="7845605" y="7691960"/>
            <a:ext cx="939681"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self call</a:t>
            </a:r>
          </a:p>
        </p:txBody>
      </p:sp>
      <p:sp>
        <p:nvSpPr>
          <p:cNvPr id="89" name="TextBox 88">
            <a:extLst>
              <a:ext uri="{FF2B5EF4-FFF2-40B4-BE49-F238E27FC236}">
                <a16:creationId xmlns:a16="http://schemas.microsoft.com/office/drawing/2014/main" id="{887AE9CA-0FA9-DC48-A0B5-29001B73E33A}"/>
              </a:ext>
            </a:extLst>
          </p:cNvPr>
          <p:cNvSpPr txBox="1"/>
          <p:nvPr/>
        </p:nvSpPr>
        <p:spPr>
          <a:xfrm>
            <a:off x="7868373" y="5899620"/>
            <a:ext cx="777777"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return</a:t>
            </a:r>
          </a:p>
        </p:txBody>
      </p:sp>
      <p:sp>
        <p:nvSpPr>
          <p:cNvPr id="91" name="TextBox 90">
            <a:extLst>
              <a:ext uri="{FF2B5EF4-FFF2-40B4-BE49-F238E27FC236}">
                <a16:creationId xmlns:a16="http://schemas.microsoft.com/office/drawing/2014/main" id="{26D6B8E6-FD5F-5E4D-9C0D-1217FFD98FE3}"/>
              </a:ext>
            </a:extLst>
          </p:cNvPr>
          <p:cNvSpPr txBox="1"/>
          <p:nvPr/>
        </p:nvSpPr>
        <p:spPr>
          <a:xfrm>
            <a:off x="7828677" y="5074514"/>
            <a:ext cx="1143262"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activation</a:t>
            </a:r>
          </a:p>
        </p:txBody>
      </p:sp>
      <p:sp>
        <p:nvSpPr>
          <p:cNvPr id="92" name="TextBox 91">
            <a:extLst>
              <a:ext uri="{FF2B5EF4-FFF2-40B4-BE49-F238E27FC236}">
                <a16:creationId xmlns:a16="http://schemas.microsoft.com/office/drawing/2014/main" id="{1D55195F-65A9-BE47-A126-01D8BFBEBE11}"/>
              </a:ext>
            </a:extLst>
          </p:cNvPr>
          <p:cNvSpPr txBox="1"/>
          <p:nvPr/>
        </p:nvSpPr>
        <p:spPr>
          <a:xfrm>
            <a:off x="6975493" y="9179631"/>
            <a:ext cx="837089"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lifeline</a:t>
            </a:r>
          </a:p>
        </p:txBody>
      </p:sp>
      <p:sp>
        <p:nvSpPr>
          <p:cNvPr id="93" name="TextBox 92">
            <a:extLst>
              <a:ext uri="{FF2B5EF4-FFF2-40B4-BE49-F238E27FC236}">
                <a16:creationId xmlns:a16="http://schemas.microsoft.com/office/drawing/2014/main" id="{5CAAB2E0-F551-3F41-A849-632A99181571}"/>
              </a:ext>
            </a:extLst>
          </p:cNvPr>
          <p:cNvSpPr txBox="1"/>
          <p:nvPr/>
        </p:nvSpPr>
        <p:spPr>
          <a:xfrm>
            <a:off x="206418" y="6713013"/>
            <a:ext cx="744114"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frame</a:t>
            </a:r>
          </a:p>
        </p:txBody>
      </p:sp>
      <p:sp>
        <p:nvSpPr>
          <p:cNvPr id="94" name="TextBox 93">
            <a:extLst>
              <a:ext uri="{FF2B5EF4-FFF2-40B4-BE49-F238E27FC236}">
                <a16:creationId xmlns:a16="http://schemas.microsoft.com/office/drawing/2014/main" id="{E7DCCCF4-D1CA-7A4C-8A51-0EFA57AB8122}"/>
              </a:ext>
            </a:extLst>
          </p:cNvPr>
          <p:cNvSpPr txBox="1"/>
          <p:nvPr/>
        </p:nvSpPr>
        <p:spPr>
          <a:xfrm>
            <a:off x="95098" y="5516577"/>
            <a:ext cx="753732"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guard</a:t>
            </a:r>
          </a:p>
        </p:txBody>
      </p:sp>
      <p:cxnSp>
        <p:nvCxnSpPr>
          <p:cNvPr id="174" name="Straight Arrow Connector 173">
            <a:extLst>
              <a:ext uri="{FF2B5EF4-FFF2-40B4-BE49-F238E27FC236}">
                <a16:creationId xmlns:a16="http://schemas.microsoft.com/office/drawing/2014/main" id="{F049BDE9-3C5F-9845-9A30-23ACF2963BD0}"/>
              </a:ext>
            </a:extLst>
          </p:cNvPr>
          <p:cNvCxnSpPr>
            <a:cxnSpLocks/>
          </p:cNvCxnSpPr>
          <p:nvPr/>
        </p:nvCxnSpPr>
        <p:spPr>
          <a:xfrm>
            <a:off x="837496" y="1475229"/>
            <a:ext cx="548629" cy="1041214"/>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EBAC3817-69C3-4941-BFD3-9BAA3B6BDA23}"/>
              </a:ext>
            </a:extLst>
          </p:cNvPr>
          <p:cNvCxnSpPr>
            <a:cxnSpLocks/>
          </p:cNvCxnSpPr>
          <p:nvPr/>
        </p:nvCxnSpPr>
        <p:spPr>
          <a:xfrm flipV="1">
            <a:off x="996433" y="3538608"/>
            <a:ext cx="415065" cy="178277"/>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C450415C-629D-9D4E-A323-A9DB102268C5}"/>
              </a:ext>
            </a:extLst>
          </p:cNvPr>
          <p:cNvCxnSpPr>
            <a:cxnSpLocks/>
            <a:endCxn id="142" idx="2"/>
          </p:cNvCxnSpPr>
          <p:nvPr/>
        </p:nvCxnSpPr>
        <p:spPr>
          <a:xfrm>
            <a:off x="1016997" y="3903512"/>
            <a:ext cx="609361" cy="58790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D8AB9558-C0FE-8B47-AFAB-567FD72C9342}"/>
              </a:ext>
            </a:extLst>
          </p:cNvPr>
          <p:cNvCxnSpPr>
            <a:cxnSpLocks/>
            <a:endCxn id="144" idx="1"/>
          </p:cNvCxnSpPr>
          <p:nvPr/>
        </p:nvCxnSpPr>
        <p:spPr>
          <a:xfrm>
            <a:off x="1128467" y="7738548"/>
            <a:ext cx="686413" cy="30189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177F39F5-CC50-8447-A651-D7973647427A}"/>
              </a:ext>
            </a:extLst>
          </p:cNvPr>
          <p:cNvCxnSpPr>
            <a:cxnSpLocks/>
          </p:cNvCxnSpPr>
          <p:nvPr/>
        </p:nvCxnSpPr>
        <p:spPr>
          <a:xfrm>
            <a:off x="810275" y="5781480"/>
            <a:ext cx="889282" cy="724880"/>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9" name="Straight Arrow Connector 178">
            <a:extLst>
              <a:ext uri="{FF2B5EF4-FFF2-40B4-BE49-F238E27FC236}">
                <a16:creationId xmlns:a16="http://schemas.microsoft.com/office/drawing/2014/main" id="{AA555305-B767-A14A-A38D-4DA6A25FB702}"/>
              </a:ext>
            </a:extLst>
          </p:cNvPr>
          <p:cNvCxnSpPr>
            <a:cxnSpLocks/>
          </p:cNvCxnSpPr>
          <p:nvPr/>
        </p:nvCxnSpPr>
        <p:spPr>
          <a:xfrm flipV="1">
            <a:off x="858546" y="6578928"/>
            <a:ext cx="552952" cy="219028"/>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5E2FCBA9-890B-084A-A86E-FFE004CA5597}"/>
              </a:ext>
            </a:extLst>
          </p:cNvPr>
          <p:cNvCxnSpPr>
            <a:cxnSpLocks/>
          </p:cNvCxnSpPr>
          <p:nvPr/>
        </p:nvCxnSpPr>
        <p:spPr>
          <a:xfrm flipV="1">
            <a:off x="3991890" y="8624452"/>
            <a:ext cx="687879" cy="508024"/>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C87A2630-4024-C842-AE3A-7650E86F082E}"/>
              </a:ext>
            </a:extLst>
          </p:cNvPr>
          <p:cNvCxnSpPr>
            <a:cxnSpLocks/>
          </p:cNvCxnSpPr>
          <p:nvPr/>
        </p:nvCxnSpPr>
        <p:spPr>
          <a:xfrm flipH="1" flipV="1">
            <a:off x="6459922" y="6943324"/>
            <a:ext cx="1412199" cy="863153"/>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2A7CE2EF-F0AC-324F-836E-2B748B7D0623}"/>
              </a:ext>
            </a:extLst>
          </p:cNvPr>
          <p:cNvCxnSpPr>
            <a:cxnSpLocks/>
            <a:stCxn id="89" idx="1"/>
          </p:cNvCxnSpPr>
          <p:nvPr/>
        </p:nvCxnSpPr>
        <p:spPr>
          <a:xfrm flipH="1" flipV="1">
            <a:off x="6574925" y="5628763"/>
            <a:ext cx="1293448" cy="440134"/>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FFBABA01-B000-834E-A20B-87F3B4BE048E}"/>
              </a:ext>
            </a:extLst>
          </p:cNvPr>
          <p:cNvSpPr txBox="1"/>
          <p:nvPr/>
        </p:nvSpPr>
        <p:spPr>
          <a:xfrm>
            <a:off x="7866861" y="4276307"/>
            <a:ext cx="1061509"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message</a:t>
            </a:r>
          </a:p>
        </p:txBody>
      </p:sp>
      <p:cxnSp>
        <p:nvCxnSpPr>
          <p:cNvPr id="183" name="Straight Arrow Connector 182">
            <a:extLst>
              <a:ext uri="{FF2B5EF4-FFF2-40B4-BE49-F238E27FC236}">
                <a16:creationId xmlns:a16="http://schemas.microsoft.com/office/drawing/2014/main" id="{C4E64838-C8B8-DD49-8F06-F8CCFBA4C490}"/>
              </a:ext>
            </a:extLst>
          </p:cNvPr>
          <p:cNvCxnSpPr>
            <a:cxnSpLocks/>
          </p:cNvCxnSpPr>
          <p:nvPr/>
        </p:nvCxnSpPr>
        <p:spPr>
          <a:xfrm flipH="1">
            <a:off x="6313144" y="4461686"/>
            <a:ext cx="1550260" cy="332103"/>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6F51EB19-1623-B145-9B0B-04A5983B0F76}"/>
              </a:ext>
            </a:extLst>
          </p:cNvPr>
          <p:cNvCxnSpPr>
            <a:cxnSpLocks/>
            <a:stCxn id="91" idx="1"/>
          </p:cNvCxnSpPr>
          <p:nvPr/>
        </p:nvCxnSpPr>
        <p:spPr>
          <a:xfrm flipH="1" flipV="1">
            <a:off x="7029675" y="5226969"/>
            <a:ext cx="799002" cy="1682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5" name="Straight Arrow Connector 184">
            <a:extLst>
              <a:ext uri="{FF2B5EF4-FFF2-40B4-BE49-F238E27FC236}">
                <a16:creationId xmlns:a16="http://schemas.microsoft.com/office/drawing/2014/main" id="{F9242BA3-1805-8749-B606-A24439E6EDB4}"/>
              </a:ext>
            </a:extLst>
          </p:cNvPr>
          <p:cNvCxnSpPr>
            <a:cxnSpLocks/>
          </p:cNvCxnSpPr>
          <p:nvPr/>
        </p:nvCxnSpPr>
        <p:spPr>
          <a:xfrm flipH="1">
            <a:off x="4332331" y="2325812"/>
            <a:ext cx="3511275" cy="1392564"/>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52BF2C50-E6E2-D942-A82F-47A6AD722693}"/>
              </a:ext>
            </a:extLst>
          </p:cNvPr>
          <p:cNvCxnSpPr>
            <a:cxnSpLocks/>
          </p:cNvCxnSpPr>
          <p:nvPr/>
        </p:nvCxnSpPr>
        <p:spPr>
          <a:xfrm>
            <a:off x="5262754" y="1226483"/>
            <a:ext cx="874446" cy="568670"/>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6AE92544-3C0C-8648-A86E-46148DD299A6}"/>
              </a:ext>
            </a:extLst>
          </p:cNvPr>
          <p:cNvCxnSpPr>
            <a:cxnSpLocks/>
          </p:cNvCxnSpPr>
          <p:nvPr/>
        </p:nvCxnSpPr>
        <p:spPr>
          <a:xfrm flipH="1" flipV="1">
            <a:off x="6860925" y="8542191"/>
            <a:ext cx="471282" cy="598474"/>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2" name="TextBox 191">
            <a:extLst>
              <a:ext uri="{FF2B5EF4-FFF2-40B4-BE49-F238E27FC236}">
                <a16:creationId xmlns:a16="http://schemas.microsoft.com/office/drawing/2014/main" id="{448D23A2-C98D-A94C-9569-0D40D6D069F3}"/>
              </a:ext>
            </a:extLst>
          </p:cNvPr>
          <p:cNvSpPr txBox="1"/>
          <p:nvPr/>
        </p:nvSpPr>
        <p:spPr>
          <a:xfrm>
            <a:off x="361599" y="1142500"/>
            <a:ext cx="237800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found message</a:t>
            </a:r>
          </a:p>
        </p:txBody>
      </p:sp>
      <p:sp>
        <p:nvSpPr>
          <p:cNvPr id="193" name="TextBox 192">
            <a:extLst>
              <a:ext uri="{FF2B5EF4-FFF2-40B4-BE49-F238E27FC236}">
                <a16:creationId xmlns:a16="http://schemas.microsoft.com/office/drawing/2014/main" id="{24EFE5A5-9162-F747-8DD5-3CA6F444C218}"/>
              </a:ext>
            </a:extLst>
          </p:cNvPr>
          <p:cNvSpPr txBox="1"/>
          <p:nvPr/>
        </p:nvSpPr>
        <p:spPr>
          <a:xfrm>
            <a:off x="97361" y="3635512"/>
            <a:ext cx="101662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operator</a:t>
            </a:r>
          </a:p>
        </p:txBody>
      </p:sp>
      <p:cxnSp>
        <p:nvCxnSpPr>
          <p:cNvPr id="204" name="Straight Arrow Connector 203">
            <a:extLst>
              <a:ext uri="{FF2B5EF4-FFF2-40B4-BE49-F238E27FC236}">
                <a16:creationId xmlns:a16="http://schemas.microsoft.com/office/drawing/2014/main" id="{5D494BE0-BB47-8141-98AD-F4C819AC50F1}"/>
              </a:ext>
            </a:extLst>
          </p:cNvPr>
          <p:cNvCxnSpPr>
            <a:cxnSpLocks/>
          </p:cNvCxnSpPr>
          <p:nvPr/>
        </p:nvCxnSpPr>
        <p:spPr>
          <a:xfrm flipH="1">
            <a:off x="3378672" y="1276038"/>
            <a:ext cx="667119" cy="532007"/>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6" name="Straight Arrow Connector 205">
            <a:extLst>
              <a:ext uri="{FF2B5EF4-FFF2-40B4-BE49-F238E27FC236}">
                <a16:creationId xmlns:a16="http://schemas.microsoft.com/office/drawing/2014/main" id="{57B85071-27A2-5A45-BB5E-CC09DB019F84}"/>
              </a:ext>
            </a:extLst>
          </p:cNvPr>
          <p:cNvCxnSpPr>
            <a:cxnSpLocks/>
          </p:cNvCxnSpPr>
          <p:nvPr/>
        </p:nvCxnSpPr>
        <p:spPr>
          <a:xfrm flipH="1">
            <a:off x="4579191" y="1337330"/>
            <a:ext cx="1" cy="470715"/>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7" name="TextBox 206">
            <a:extLst>
              <a:ext uri="{FF2B5EF4-FFF2-40B4-BE49-F238E27FC236}">
                <a16:creationId xmlns:a16="http://schemas.microsoft.com/office/drawing/2014/main" id="{E7D67747-6C88-0A4D-98EB-64A668738531}"/>
              </a:ext>
            </a:extLst>
          </p:cNvPr>
          <p:cNvSpPr txBox="1"/>
          <p:nvPr/>
        </p:nvSpPr>
        <p:spPr>
          <a:xfrm>
            <a:off x="3048386" y="9140665"/>
            <a:ext cx="971741"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deletion</a:t>
            </a:r>
          </a:p>
        </p:txBody>
      </p:sp>
      <p:cxnSp>
        <p:nvCxnSpPr>
          <p:cNvPr id="208" name="Straight Arrow Connector 207">
            <a:extLst>
              <a:ext uri="{FF2B5EF4-FFF2-40B4-BE49-F238E27FC236}">
                <a16:creationId xmlns:a16="http://schemas.microsoft.com/office/drawing/2014/main" id="{6793AB84-3FD1-974A-9D11-BD207E94BC17}"/>
              </a:ext>
            </a:extLst>
          </p:cNvPr>
          <p:cNvCxnSpPr>
            <a:cxnSpLocks/>
          </p:cNvCxnSpPr>
          <p:nvPr/>
        </p:nvCxnSpPr>
        <p:spPr>
          <a:xfrm flipV="1">
            <a:off x="822516" y="4704241"/>
            <a:ext cx="1590585" cy="92773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9" name="TextBox 208">
            <a:extLst>
              <a:ext uri="{FF2B5EF4-FFF2-40B4-BE49-F238E27FC236}">
                <a16:creationId xmlns:a16="http://schemas.microsoft.com/office/drawing/2014/main" id="{F73C709A-B4F0-C04E-91BC-1E4D73AFBCD3}"/>
              </a:ext>
            </a:extLst>
          </p:cNvPr>
          <p:cNvSpPr txBox="1"/>
          <p:nvPr/>
        </p:nvSpPr>
        <p:spPr>
          <a:xfrm>
            <a:off x="176476" y="7519878"/>
            <a:ext cx="101662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operator</a:t>
            </a:r>
          </a:p>
        </p:txBody>
      </p:sp>
      <p:cxnSp>
        <p:nvCxnSpPr>
          <p:cNvPr id="210" name="Straight Arrow Connector 209">
            <a:extLst>
              <a:ext uri="{FF2B5EF4-FFF2-40B4-BE49-F238E27FC236}">
                <a16:creationId xmlns:a16="http://schemas.microsoft.com/office/drawing/2014/main" id="{B574CA10-D1FE-5A44-A95D-78438CE33D93}"/>
              </a:ext>
            </a:extLst>
          </p:cNvPr>
          <p:cNvCxnSpPr>
            <a:cxnSpLocks/>
          </p:cNvCxnSpPr>
          <p:nvPr/>
        </p:nvCxnSpPr>
        <p:spPr>
          <a:xfrm>
            <a:off x="893495" y="6935779"/>
            <a:ext cx="692781" cy="7545"/>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4" name="TextBox 213">
            <a:extLst>
              <a:ext uri="{FF2B5EF4-FFF2-40B4-BE49-F238E27FC236}">
                <a16:creationId xmlns:a16="http://schemas.microsoft.com/office/drawing/2014/main" id="{DD4F39F8-BCBE-B849-B7B1-146B63057301}"/>
              </a:ext>
            </a:extLst>
          </p:cNvPr>
          <p:cNvSpPr txBox="1"/>
          <p:nvPr/>
        </p:nvSpPr>
        <p:spPr>
          <a:xfrm>
            <a:off x="7825964" y="6586997"/>
            <a:ext cx="1090565" cy="584775"/>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data</a:t>
            </a:r>
          </a:p>
          <a:p>
            <a:r>
              <a:rPr lang="en-US" sz="1600" b="1" dirty="0">
                <a:latin typeface="Arial" panose="020B0604020202020204" pitchFamily="34" charset="0"/>
                <a:cs typeface="Arial" panose="020B0604020202020204" pitchFamily="34" charset="0"/>
              </a:rPr>
              <a:t>tadpole</a:t>
            </a:r>
          </a:p>
        </p:txBody>
      </p:sp>
      <p:cxnSp>
        <p:nvCxnSpPr>
          <p:cNvPr id="215" name="Straight Arrow Connector 214">
            <a:extLst>
              <a:ext uri="{FF2B5EF4-FFF2-40B4-BE49-F238E27FC236}">
                <a16:creationId xmlns:a16="http://schemas.microsoft.com/office/drawing/2014/main" id="{0B30CBD4-4E98-7B44-BA48-07290E7A6162}"/>
              </a:ext>
            </a:extLst>
          </p:cNvPr>
          <p:cNvCxnSpPr>
            <a:cxnSpLocks/>
            <a:stCxn id="214" idx="1"/>
          </p:cNvCxnSpPr>
          <p:nvPr/>
        </p:nvCxnSpPr>
        <p:spPr>
          <a:xfrm flipH="1" flipV="1">
            <a:off x="6449284" y="5763382"/>
            <a:ext cx="1376680" cy="1116003"/>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7" name="TextBox 296">
            <a:extLst>
              <a:ext uri="{FF2B5EF4-FFF2-40B4-BE49-F238E27FC236}">
                <a16:creationId xmlns:a16="http://schemas.microsoft.com/office/drawing/2014/main" id="{CAD8EF7C-A127-6C40-B3EC-9B45495BF038}"/>
              </a:ext>
            </a:extLst>
          </p:cNvPr>
          <p:cNvSpPr txBox="1"/>
          <p:nvPr/>
        </p:nvSpPr>
        <p:spPr>
          <a:xfrm>
            <a:off x="7828677" y="2117811"/>
            <a:ext cx="117692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parameter</a:t>
            </a:r>
          </a:p>
        </p:txBody>
      </p:sp>
      <p:sp>
        <p:nvSpPr>
          <p:cNvPr id="101" name="Rectangle 100">
            <a:extLst>
              <a:ext uri="{FF2B5EF4-FFF2-40B4-BE49-F238E27FC236}">
                <a16:creationId xmlns:a16="http://schemas.microsoft.com/office/drawing/2014/main" id="{B6571B1A-9D8D-4844-9A67-B1D23547F8C4}"/>
              </a:ext>
            </a:extLst>
          </p:cNvPr>
          <p:cNvSpPr/>
          <p:nvPr/>
        </p:nvSpPr>
        <p:spPr>
          <a:xfrm>
            <a:off x="562824" y="10267059"/>
            <a:ext cx="13133851" cy="307777"/>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 2019 </a:t>
            </a:r>
            <a:r>
              <a:rPr lang="en-US" sz="1400" dirty="0" err="1">
                <a:latin typeface="Arial" panose="020B0604020202020204" pitchFamily="34" charset="0"/>
                <a:cs typeface="Arial" panose="020B0604020202020204" pitchFamily="34" charset="0"/>
              </a:rPr>
              <a:t>eCornell</a:t>
            </a:r>
            <a:r>
              <a:rPr lang="en-US" sz="1400" dirty="0">
                <a:latin typeface="Arial" panose="020B0604020202020204" pitchFamily="34" charset="0"/>
                <a:cs typeface="Arial" panose="020B0604020202020204" pitchFamily="34" charset="0"/>
              </a:rPr>
              <a:t>. All rights reserved. All other copyrights, trademarks, trade names, and logos are the sole property of their respective owners</a:t>
            </a:r>
            <a:r>
              <a:rPr lang="en-US" sz="1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135066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1C1F428-E40F-4431-87D1-D8E4B21CCF7D}"/>
              </a:ext>
            </a:extLst>
          </p:cNvPr>
          <p:cNvSpPr>
            <a:spLocks noChangeArrowheads="1"/>
          </p:cNvSpPr>
          <p:nvPr/>
        </p:nvSpPr>
        <p:spPr bwMode="auto">
          <a:xfrm>
            <a:off x="-595745" y="1667367"/>
            <a:ext cx="21933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37160" tIns="68580" rIns="137160" bIns="68580" numCol="1" anchor="ctr" anchorCtr="0" compatLnSpc="1">
            <a:prstTxWarp prst="textNoShape">
              <a:avLst/>
            </a:prstTxWarp>
            <a:spAutoFit/>
          </a:bodyPr>
          <a:lstStyle/>
          <a:p>
            <a:endParaRPr lang="en-US" sz="2100"/>
          </a:p>
        </p:txBody>
      </p:sp>
      <p:sp>
        <p:nvSpPr>
          <p:cNvPr id="124" name="Rectangle 123"/>
          <p:cNvSpPr/>
          <p:nvPr/>
        </p:nvSpPr>
        <p:spPr>
          <a:xfrm>
            <a:off x="1524208" y="1220029"/>
            <a:ext cx="6439879" cy="8488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5" name="Straight Connector 124"/>
          <p:cNvCxnSpPr>
            <a:cxnSpLocks/>
            <a:stCxn id="196" idx="2"/>
          </p:cNvCxnSpPr>
          <p:nvPr/>
        </p:nvCxnSpPr>
        <p:spPr>
          <a:xfrm flipH="1">
            <a:off x="3035542" y="1669108"/>
            <a:ext cx="32872" cy="8039121"/>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6" name="Rectangle 125"/>
          <p:cNvSpPr/>
          <p:nvPr/>
        </p:nvSpPr>
        <p:spPr>
          <a:xfrm>
            <a:off x="2920747" y="2158612"/>
            <a:ext cx="300037" cy="70806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7" name="Rectangle 126"/>
          <p:cNvSpPr/>
          <p:nvPr/>
        </p:nvSpPr>
        <p:spPr>
          <a:xfrm>
            <a:off x="2645175" y="4206923"/>
            <a:ext cx="104547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8" name="Straight Connector 127"/>
          <p:cNvCxnSpPr>
            <a:cxnSpLocks/>
          </p:cNvCxnSpPr>
          <p:nvPr/>
        </p:nvCxnSpPr>
        <p:spPr>
          <a:xfrm flipH="1">
            <a:off x="5079374" y="1674328"/>
            <a:ext cx="1" cy="7240539"/>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a:cxnSpLocks/>
          </p:cNvCxnSpPr>
          <p:nvPr/>
        </p:nvCxnSpPr>
        <p:spPr>
          <a:xfrm>
            <a:off x="7086534" y="1669107"/>
            <a:ext cx="0" cy="803912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4922988" y="3256846"/>
            <a:ext cx="304884" cy="48633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5" name="Rectangle 134"/>
          <p:cNvSpPr/>
          <p:nvPr/>
        </p:nvSpPr>
        <p:spPr>
          <a:xfrm>
            <a:off x="1974936" y="8275513"/>
            <a:ext cx="3690026" cy="109752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6" name="Snip Single Corner Rectangle 135"/>
          <p:cNvSpPr/>
          <p:nvPr/>
        </p:nvSpPr>
        <p:spPr>
          <a:xfrm flipV="1">
            <a:off x="1975895" y="8272734"/>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Rectangle 136"/>
          <p:cNvSpPr/>
          <p:nvPr/>
        </p:nvSpPr>
        <p:spPr>
          <a:xfrm>
            <a:off x="1858070" y="4005402"/>
            <a:ext cx="5567399" cy="35623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9" name="Rectangle 138"/>
          <p:cNvSpPr/>
          <p:nvPr/>
        </p:nvSpPr>
        <p:spPr>
          <a:xfrm>
            <a:off x="6962608" y="4593929"/>
            <a:ext cx="303599" cy="11081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41" name="Straight Arrow Connector 140"/>
          <p:cNvCxnSpPr/>
          <p:nvPr/>
        </p:nvCxnSpPr>
        <p:spPr>
          <a:xfrm>
            <a:off x="5238138" y="4589389"/>
            <a:ext cx="17244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42" name="Snip Single Corner Rectangle 141"/>
          <p:cNvSpPr/>
          <p:nvPr/>
        </p:nvSpPr>
        <p:spPr>
          <a:xfrm flipV="1">
            <a:off x="1850743" y="3998715"/>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3" name="TextBox 142"/>
          <p:cNvSpPr txBox="1"/>
          <p:nvPr/>
        </p:nvSpPr>
        <p:spPr>
          <a:xfrm>
            <a:off x="1935461" y="3986840"/>
            <a:ext cx="425116" cy="369332"/>
          </a:xfrm>
          <a:prstGeom prst="rect">
            <a:avLst/>
          </a:prstGeom>
          <a:noFill/>
        </p:spPr>
        <p:txBody>
          <a:bodyPr wrap="none" rtlCol="0">
            <a:spAutoFit/>
          </a:bodyPr>
          <a:lstStyle/>
          <a:p>
            <a:r>
              <a:rPr lang="en-US" dirty="0"/>
              <a:t>alt</a:t>
            </a:r>
          </a:p>
        </p:txBody>
      </p:sp>
      <p:sp>
        <p:nvSpPr>
          <p:cNvPr id="144" name="TextBox 143"/>
          <p:cNvSpPr txBox="1"/>
          <p:nvPr/>
        </p:nvSpPr>
        <p:spPr>
          <a:xfrm>
            <a:off x="2051140" y="8263125"/>
            <a:ext cx="504241" cy="369332"/>
          </a:xfrm>
          <a:prstGeom prst="rect">
            <a:avLst/>
          </a:prstGeom>
          <a:noFill/>
        </p:spPr>
        <p:txBody>
          <a:bodyPr wrap="none" rtlCol="0">
            <a:spAutoFit/>
          </a:bodyPr>
          <a:lstStyle/>
          <a:p>
            <a:r>
              <a:rPr lang="en-US" dirty="0"/>
              <a:t>opt</a:t>
            </a:r>
          </a:p>
        </p:txBody>
      </p:sp>
      <p:cxnSp>
        <p:nvCxnSpPr>
          <p:cNvPr id="145" name="Straight Connector 144"/>
          <p:cNvCxnSpPr/>
          <p:nvPr/>
        </p:nvCxnSpPr>
        <p:spPr>
          <a:xfrm>
            <a:off x="1862615" y="6534846"/>
            <a:ext cx="556285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6" name="TextBox 145"/>
          <p:cNvSpPr txBox="1"/>
          <p:nvPr/>
        </p:nvSpPr>
        <p:spPr>
          <a:xfrm>
            <a:off x="1858070" y="6508085"/>
            <a:ext cx="699230" cy="369332"/>
          </a:xfrm>
          <a:prstGeom prst="rect">
            <a:avLst/>
          </a:prstGeom>
          <a:noFill/>
        </p:spPr>
        <p:txBody>
          <a:bodyPr wrap="square" rtlCol="0">
            <a:spAutoFit/>
          </a:bodyPr>
          <a:lstStyle/>
          <a:p>
            <a:r>
              <a:rPr lang="en-US" dirty="0"/>
              <a:t>[else]</a:t>
            </a:r>
          </a:p>
        </p:txBody>
      </p:sp>
      <p:sp>
        <p:nvSpPr>
          <p:cNvPr id="147" name="TextBox 146"/>
          <p:cNvSpPr txBox="1"/>
          <p:nvPr/>
        </p:nvSpPr>
        <p:spPr>
          <a:xfrm>
            <a:off x="2589756" y="4125198"/>
            <a:ext cx="1972190" cy="369332"/>
          </a:xfrm>
          <a:prstGeom prst="rect">
            <a:avLst/>
          </a:prstGeom>
          <a:noFill/>
        </p:spPr>
        <p:txBody>
          <a:bodyPr wrap="square" rtlCol="0">
            <a:spAutoFit/>
          </a:bodyPr>
          <a:lstStyle/>
          <a:p>
            <a:r>
              <a:rPr lang="en-US" dirty="0"/>
              <a:t>[valid path found]</a:t>
            </a:r>
          </a:p>
        </p:txBody>
      </p:sp>
      <p:sp>
        <p:nvSpPr>
          <p:cNvPr id="148" name="Rectangle 147"/>
          <p:cNvSpPr/>
          <p:nvPr/>
        </p:nvSpPr>
        <p:spPr>
          <a:xfrm>
            <a:off x="1626102" y="2475330"/>
            <a:ext cx="5942365" cy="54642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9" name="Snip Single Corner Rectangle 148"/>
          <p:cNvSpPr/>
          <p:nvPr/>
        </p:nvSpPr>
        <p:spPr>
          <a:xfrm flipV="1">
            <a:off x="1621614" y="2475331"/>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0" name="TextBox 149"/>
          <p:cNvSpPr txBox="1"/>
          <p:nvPr/>
        </p:nvSpPr>
        <p:spPr>
          <a:xfrm>
            <a:off x="1650310" y="2494380"/>
            <a:ext cx="603050" cy="369332"/>
          </a:xfrm>
          <a:prstGeom prst="rect">
            <a:avLst/>
          </a:prstGeom>
          <a:noFill/>
        </p:spPr>
        <p:txBody>
          <a:bodyPr wrap="none" rtlCol="0">
            <a:spAutoFit/>
          </a:bodyPr>
          <a:lstStyle/>
          <a:p>
            <a:r>
              <a:rPr lang="en-US" dirty="0"/>
              <a:t>loop</a:t>
            </a:r>
          </a:p>
        </p:txBody>
      </p:sp>
      <p:sp>
        <p:nvSpPr>
          <p:cNvPr id="151" name="Rectangle 150"/>
          <p:cNvSpPr/>
          <p:nvPr/>
        </p:nvSpPr>
        <p:spPr>
          <a:xfrm>
            <a:off x="5078503" y="7150588"/>
            <a:ext cx="304584" cy="3057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2" name="Oval 151"/>
          <p:cNvSpPr/>
          <p:nvPr/>
        </p:nvSpPr>
        <p:spPr>
          <a:xfrm>
            <a:off x="1593936" y="2044312"/>
            <a:ext cx="228600" cy="228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3" name="Straight Arrow Connector 152"/>
          <p:cNvCxnSpPr>
            <a:stCxn id="152" idx="6"/>
          </p:cNvCxnSpPr>
          <p:nvPr/>
        </p:nvCxnSpPr>
        <p:spPr>
          <a:xfrm>
            <a:off x="1822536" y="2158612"/>
            <a:ext cx="1097724"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1775039" y="1636550"/>
            <a:ext cx="1260503" cy="584775"/>
          </a:xfrm>
          <a:prstGeom prst="rect">
            <a:avLst/>
          </a:prstGeom>
          <a:noFill/>
        </p:spPr>
        <p:txBody>
          <a:bodyPr wrap="square" rtlCol="0">
            <a:spAutoFit/>
          </a:bodyPr>
          <a:lstStyle/>
          <a:p>
            <a:r>
              <a:rPr lang="en-US" sz="1600" dirty="0"/>
              <a:t>new data &amp; destination</a:t>
            </a:r>
          </a:p>
        </p:txBody>
      </p:sp>
      <p:sp>
        <p:nvSpPr>
          <p:cNvPr id="155" name="TextBox 154"/>
          <p:cNvSpPr txBox="1"/>
          <p:nvPr/>
        </p:nvSpPr>
        <p:spPr>
          <a:xfrm>
            <a:off x="5238138" y="4284590"/>
            <a:ext cx="1545572" cy="338554"/>
          </a:xfrm>
          <a:prstGeom prst="rect">
            <a:avLst/>
          </a:prstGeom>
          <a:noFill/>
        </p:spPr>
        <p:txBody>
          <a:bodyPr wrap="square" rtlCol="0">
            <a:spAutoFit/>
          </a:bodyPr>
          <a:lstStyle/>
          <a:p>
            <a:r>
              <a:rPr lang="en-US" sz="1600" dirty="0"/>
              <a:t>planned route</a:t>
            </a:r>
          </a:p>
        </p:txBody>
      </p:sp>
      <p:sp>
        <p:nvSpPr>
          <p:cNvPr id="156" name="TextBox 155"/>
          <p:cNvSpPr txBox="1"/>
          <p:nvPr/>
        </p:nvSpPr>
        <p:spPr>
          <a:xfrm>
            <a:off x="6055279" y="5099083"/>
            <a:ext cx="1165814" cy="584775"/>
          </a:xfrm>
          <a:prstGeom prst="rect">
            <a:avLst/>
          </a:prstGeom>
          <a:noFill/>
        </p:spPr>
        <p:txBody>
          <a:bodyPr wrap="square" rtlCol="0">
            <a:spAutoFit/>
          </a:bodyPr>
          <a:lstStyle/>
          <a:p>
            <a:r>
              <a:rPr lang="en-US" sz="1600" dirty="0"/>
              <a:t>Go/No Go approval</a:t>
            </a:r>
          </a:p>
        </p:txBody>
      </p:sp>
      <p:cxnSp>
        <p:nvCxnSpPr>
          <p:cNvPr id="158" name="Straight Arrow Connector 157"/>
          <p:cNvCxnSpPr>
            <a:cxnSpLocks/>
          </p:cNvCxnSpPr>
          <p:nvPr/>
        </p:nvCxnSpPr>
        <p:spPr>
          <a:xfrm flipH="1">
            <a:off x="5233478" y="5699643"/>
            <a:ext cx="1729135"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61" name="Elbow Connector 160"/>
          <p:cNvCxnSpPr>
            <a:cxnSpLocks/>
            <a:stCxn id="151" idx="0"/>
            <a:endCxn id="151" idx="3"/>
          </p:cNvCxnSpPr>
          <p:nvPr/>
        </p:nvCxnSpPr>
        <p:spPr>
          <a:xfrm rot="16200000" flipH="1">
            <a:off x="5230496" y="7150885"/>
            <a:ext cx="152895" cy="152292"/>
          </a:xfrm>
          <a:prstGeom prst="bentConnector4">
            <a:avLst>
              <a:gd name="adj1" fmla="val -305529"/>
              <a:gd name="adj2" fmla="val 521603"/>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64" name="Straight Arrow Connector 163"/>
          <p:cNvCxnSpPr/>
          <p:nvPr/>
        </p:nvCxnSpPr>
        <p:spPr>
          <a:xfrm>
            <a:off x="3227785" y="8926816"/>
            <a:ext cx="18031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65" name="Group 164"/>
          <p:cNvGrpSpPr/>
          <p:nvPr/>
        </p:nvGrpSpPr>
        <p:grpSpPr>
          <a:xfrm>
            <a:off x="4932836" y="8773972"/>
            <a:ext cx="304800" cy="304800"/>
            <a:chOff x="866775" y="3438525"/>
            <a:chExt cx="457200" cy="457200"/>
          </a:xfrm>
        </p:grpSpPr>
        <p:cxnSp>
          <p:nvCxnSpPr>
            <p:cNvPr id="166" name="Straight Connector 165"/>
            <p:cNvCxnSpPr/>
            <p:nvPr/>
          </p:nvCxnSpPr>
          <p:spPr>
            <a:xfrm>
              <a:off x="866775" y="3438525"/>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H="1">
              <a:off x="866775" y="3438525"/>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p:nvGrpSpPr>
        <p:grpSpPr>
          <a:xfrm>
            <a:off x="2672612" y="8214139"/>
            <a:ext cx="1662506" cy="369332"/>
            <a:chOff x="-631616" y="3767554"/>
            <a:chExt cx="1662506" cy="369332"/>
          </a:xfrm>
        </p:grpSpPr>
        <p:sp>
          <p:nvSpPr>
            <p:cNvPr id="169" name="Rectangle 168"/>
            <p:cNvSpPr/>
            <p:nvPr/>
          </p:nvSpPr>
          <p:spPr>
            <a:xfrm>
              <a:off x="-581024" y="3860170"/>
              <a:ext cx="137864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0" name="TextBox 169"/>
            <p:cNvSpPr txBox="1"/>
            <p:nvPr/>
          </p:nvSpPr>
          <p:spPr>
            <a:xfrm>
              <a:off x="-631616" y="3767554"/>
              <a:ext cx="1662506" cy="369332"/>
            </a:xfrm>
            <a:prstGeom prst="rect">
              <a:avLst/>
            </a:prstGeom>
            <a:noFill/>
          </p:spPr>
          <p:txBody>
            <a:bodyPr wrap="none" rtlCol="0">
              <a:spAutoFit/>
            </a:bodyPr>
            <a:lstStyle/>
            <a:p>
              <a:r>
                <a:rPr lang="en-US" dirty="0"/>
                <a:t>[standby mode]</a:t>
              </a:r>
            </a:p>
          </p:txBody>
        </p:sp>
      </p:grpSp>
      <p:sp>
        <p:nvSpPr>
          <p:cNvPr id="171" name="TextBox 170"/>
          <p:cNvSpPr txBox="1"/>
          <p:nvPr/>
        </p:nvSpPr>
        <p:spPr>
          <a:xfrm>
            <a:off x="3527020" y="8633241"/>
            <a:ext cx="662361" cy="369332"/>
          </a:xfrm>
          <a:prstGeom prst="rect">
            <a:avLst/>
          </a:prstGeom>
          <a:noFill/>
        </p:spPr>
        <p:txBody>
          <a:bodyPr wrap="none" rtlCol="0">
            <a:spAutoFit/>
          </a:bodyPr>
          <a:lstStyle/>
          <a:p>
            <a:r>
              <a:rPr lang="en-US" dirty="0"/>
              <a:t>close</a:t>
            </a:r>
          </a:p>
        </p:txBody>
      </p:sp>
      <p:sp>
        <p:nvSpPr>
          <p:cNvPr id="172" name="Rectangle 171"/>
          <p:cNvSpPr/>
          <p:nvPr/>
        </p:nvSpPr>
        <p:spPr>
          <a:xfrm>
            <a:off x="5745674" y="6760726"/>
            <a:ext cx="1045479" cy="4672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3" name="TextBox 172"/>
          <p:cNvSpPr txBox="1"/>
          <p:nvPr/>
        </p:nvSpPr>
        <p:spPr>
          <a:xfrm>
            <a:off x="5737179" y="6681479"/>
            <a:ext cx="1018099" cy="584775"/>
          </a:xfrm>
          <a:prstGeom prst="rect">
            <a:avLst/>
          </a:prstGeom>
          <a:noFill/>
        </p:spPr>
        <p:txBody>
          <a:bodyPr wrap="none" rtlCol="0">
            <a:spAutoFit/>
          </a:bodyPr>
          <a:lstStyle/>
          <a:p>
            <a:r>
              <a:rPr lang="en-US" sz="1600" dirty="0"/>
              <a:t>activate </a:t>
            </a:r>
          </a:p>
          <a:p>
            <a:r>
              <a:rPr lang="en-US" sz="1600" dirty="0"/>
              <a:t>command</a:t>
            </a:r>
          </a:p>
        </p:txBody>
      </p:sp>
      <p:sp>
        <p:nvSpPr>
          <p:cNvPr id="190" name="Rectangle 189"/>
          <p:cNvSpPr/>
          <p:nvPr/>
        </p:nvSpPr>
        <p:spPr>
          <a:xfrm>
            <a:off x="2384635" y="2518482"/>
            <a:ext cx="843150" cy="2715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TextBox 190"/>
          <p:cNvSpPr txBox="1"/>
          <p:nvPr/>
        </p:nvSpPr>
        <p:spPr>
          <a:xfrm>
            <a:off x="2291505" y="2453806"/>
            <a:ext cx="2287604" cy="369332"/>
          </a:xfrm>
          <a:prstGeom prst="rect">
            <a:avLst/>
          </a:prstGeom>
          <a:noFill/>
        </p:spPr>
        <p:txBody>
          <a:bodyPr wrap="square" rtlCol="0">
            <a:spAutoFit/>
          </a:bodyPr>
          <a:lstStyle/>
          <a:p>
            <a:r>
              <a:rPr lang="en-US" dirty="0"/>
              <a:t>[destination reached]</a:t>
            </a:r>
          </a:p>
        </p:txBody>
      </p:sp>
      <p:sp>
        <p:nvSpPr>
          <p:cNvPr id="194" name="TextBox 193"/>
          <p:cNvSpPr txBox="1"/>
          <p:nvPr/>
        </p:nvSpPr>
        <p:spPr>
          <a:xfrm>
            <a:off x="3235432" y="2918292"/>
            <a:ext cx="1740285" cy="338554"/>
          </a:xfrm>
          <a:prstGeom prst="rect">
            <a:avLst/>
          </a:prstGeom>
          <a:noFill/>
        </p:spPr>
        <p:txBody>
          <a:bodyPr wrap="none" rtlCol="0">
            <a:spAutoFit/>
          </a:bodyPr>
          <a:lstStyle/>
          <a:p>
            <a:r>
              <a:rPr lang="en-US" sz="1600" dirty="0"/>
              <a:t>map (update time)</a:t>
            </a:r>
          </a:p>
        </p:txBody>
      </p:sp>
      <p:cxnSp>
        <p:nvCxnSpPr>
          <p:cNvPr id="195" name="Straight Arrow Connector 194"/>
          <p:cNvCxnSpPr/>
          <p:nvPr/>
        </p:nvCxnSpPr>
        <p:spPr>
          <a:xfrm>
            <a:off x="3245220" y="3242899"/>
            <a:ext cx="1694179"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96" name="Rectangle 195"/>
          <p:cNvSpPr/>
          <p:nvPr/>
        </p:nvSpPr>
        <p:spPr>
          <a:xfrm>
            <a:off x="2337588" y="1059508"/>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Sensor Filtering</a:t>
            </a:r>
          </a:p>
        </p:txBody>
      </p:sp>
      <p:sp>
        <p:nvSpPr>
          <p:cNvPr id="197" name="Rectangle 196"/>
          <p:cNvSpPr/>
          <p:nvPr/>
        </p:nvSpPr>
        <p:spPr>
          <a:xfrm>
            <a:off x="4332641" y="1064725"/>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 Planning</a:t>
            </a:r>
          </a:p>
        </p:txBody>
      </p:sp>
      <p:sp>
        <p:nvSpPr>
          <p:cNvPr id="198" name="Rectangle 197"/>
          <p:cNvSpPr/>
          <p:nvPr/>
        </p:nvSpPr>
        <p:spPr>
          <a:xfrm>
            <a:off x="6396523" y="1059507"/>
            <a:ext cx="1389436"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Mission Control</a:t>
            </a:r>
          </a:p>
        </p:txBody>
      </p:sp>
      <p:sp>
        <p:nvSpPr>
          <p:cNvPr id="13" name="TextBox 12"/>
          <p:cNvSpPr txBox="1"/>
          <p:nvPr/>
        </p:nvSpPr>
        <p:spPr>
          <a:xfrm>
            <a:off x="8473395" y="1093262"/>
            <a:ext cx="5137084" cy="8402300"/>
          </a:xfrm>
          <a:prstGeom prst="rect">
            <a:avLst/>
          </a:prstGeom>
          <a:noFill/>
          <a:ln>
            <a:solidFill>
              <a:schemeClr val="tx1"/>
            </a:solidFill>
          </a:ln>
        </p:spPr>
        <p:txBody>
          <a:bodyPr wrap="square" rtlCol="0">
            <a:spAutoFit/>
          </a:bodyPr>
          <a:lstStyle/>
          <a:p>
            <a:r>
              <a:rPr lang="en-US" b="1" dirty="0"/>
              <a:t>Path Planning Update Sequence for Sensor Filtering and Path Planning Subsystems</a:t>
            </a:r>
          </a:p>
          <a:p>
            <a:endParaRPr lang="en-US" dirty="0"/>
          </a:p>
          <a:p>
            <a:r>
              <a:rPr lang="en-US" dirty="0"/>
              <a:t>sensor data and destination update received </a:t>
            </a:r>
          </a:p>
          <a:p>
            <a:endParaRPr lang="en-US" dirty="0"/>
          </a:p>
          <a:p>
            <a:r>
              <a:rPr lang="en-US" i="1" dirty="0"/>
              <a:t>loop</a:t>
            </a:r>
            <a:r>
              <a:rPr lang="en-US" dirty="0"/>
              <a:t> until the destination is reached</a:t>
            </a:r>
          </a:p>
          <a:p>
            <a:endParaRPr lang="en-US" dirty="0"/>
          </a:p>
          <a:p>
            <a:r>
              <a:rPr lang="en-US" dirty="0"/>
              <a:t>	convert the data into a new map</a:t>
            </a:r>
          </a:p>
          <a:p>
            <a:r>
              <a:rPr lang="en-US" dirty="0"/>
              <a:t>	send the map with an updated time stamp</a:t>
            </a:r>
          </a:p>
          <a:p>
            <a:endParaRPr lang="en-US" dirty="0"/>
          </a:p>
          <a:p>
            <a:r>
              <a:rPr lang="en-US" dirty="0"/>
              <a:t>	attempt to find a path to the destination</a:t>
            </a:r>
          </a:p>
          <a:p>
            <a:pPr lvl="1"/>
            <a:r>
              <a:rPr lang="en-US" i="1" dirty="0"/>
              <a:t>if </a:t>
            </a:r>
            <a:r>
              <a:rPr lang="en-US" dirty="0"/>
              <a:t>a valid path is found	</a:t>
            </a:r>
          </a:p>
          <a:p>
            <a:pPr lvl="1"/>
            <a:r>
              <a:rPr lang="en-US" dirty="0"/>
              <a:t>	send the planned route to Mission Control</a:t>
            </a:r>
          </a:p>
          <a:p>
            <a:pPr lvl="1"/>
            <a:endParaRPr lang="en-US" dirty="0"/>
          </a:p>
          <a:p>
            <a:pPr lvl="1"/>
            <a:r>
              <a:rPr lang="en-US" dirty="0"/>
              <a:t>	Mission Control verifies the route</a:t>
            </a:r>
          </a:p>
          <a:p>
            <a:pPr lvl="1"/>
            <a:endParaRPr lang="en-US" dirty="0"/>
          </a:p>
          <a:p>
            <a:pPr lvl="1"/>
            <a:r>
              <a:rPr lang="en-US" dirty="0"/>
              <a:t>	Sends route verification result</a:t>
            </a:r>
          </a:p>
          <a:p>
            <a:pPr lvl="1"/>
            <a:r>
              <a:rPr lang="en-US" dirty="0"/>
              <a:t>	Send record of additional mission control 	information</a:t>
            </a:r>
          </a:p>
          <a:p>
            <a:pPr lvl="1"/>
            <a:r>
              <a:rPr lang="en-US" i="1" dirty="0"/>
              <a:t>else</a:t>
            </a:r>
            <a:r>
              <a:rPr lang="en-US" dirty="0"/>
              <a:t>	</a:t>
            </a:r>
          </a:p>
          <a:p>
            <a:pPr lvl="1"/>
            <a:r>
              <a:rPr lang="en-US" dirty="0"/>
              <a:t>	calculate local recon path to aid in 	finding new alternate route</a:t>
            </a:r>
          </a:p>
          <a:p>
            <a:pPr lvl="1"/>
            <a:endParaRPr lang="en-US" dirty="0"/>
          </a:p>
          <a:p>
            <a:r>
              <a:rPr lang="en-US" dirty="0"/>
              <a:t>	</a:t>
            </a:r>
            <a:r>
              <a:rPr lang="en-US" i="1" dirty="0"/>
              <a:t>end if</a:t>
            </a:r>
          </a:p>
          <a:p>
            <a:r>
              <a:rPr lang="en-US" i="1" dirty="0"/>
              <a:t>end loop</a:t>
            </a:r>
          </a:p>
          <a:p>
            <a:endParaRPr lang="en-US" i="1" dirty="0"/>
          </a:p>
          <a:p>
            <a:r>
              <a:rPr lang="en-US" dirty="0"/>
              <a:t>Destination is reached so enter standby mode</a:t>
            </a:r>
          </a:p>
          <a:p>
            <a:endParaRPr lang="en-US" dirty="0"/>
          </a:p>
          <a:p>
            <a:r>
              <a:rPr lang="en-US" dirty="0"/>
              <a:t>	shut down path planning operations to 	conserve energy</a:t>
            </a:r>
          </a:p>
        </p:txBody>
      </p:sp>
      <p:sp>
        <p:nvSpPr>
          <p:cNvPr id="55" name="Google Shape;957;p54">
            <a:extLst>
              <a:ext uri="{FF2B5EF4-FFF2-40B4-BE49-F238E27FC236}">
                <a16:creationId xmlns:a16="http://schemas.microsoft.com/office/drawing/2014/main" id="{FDD87F7C-1213-46CA-AF93-15D86ED32338}"/>
              </a:ext>
            </a:extLst>
          </p:cNvPr>
          <p:cNvSpPr/>
          <p:nvPr/>
        </p:nvSpPr>
        <p:spPr>
          <a:xfrm rot="10800000">
            <a:off x="6473375" y="5771857"/>
            <a:ext cx="213873" cy="19443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56" name="Google Shape;958;p54">
            <a:extLst>
              <a:ext uri="{FF2B5EF4-FFF2-40B4-BE49-F238E27FC236}">
                <a16:creationId xmlns:a16="http://schemas.microsoft.com/office/drawing/2014/main" id="{EBA4EFF9-E625-4174-B854-43EEA87393FC}"/>
              </a:ext>
            </a:extLst>
          </p:cNvPr>
          <p:cNvCxnSpPr/>
          <p:nvPr/>
        </p:nvCxnSpPr>
        <p:spPr>
          <a:xfrm flipH="1">
            <a:off x="5482976" y="5876257"/>
            <a:ext cx="994019" cy="0"/>
          </a:xfrm>
          <a:prstGeom prst="straightConnector1">
            <a:avLst/>
          </a:prstGeom>
          <a:noFill/>
          <a:ln w="19050" cap="flat" cmpd="sng">
            <a:solidFill>
              <a:srgbClr val="000000"/>
            </a:solidFill>
            <a:prstDash val="solid"/>
            <a:round/>
            <a:headEnd type="none" w="med" len="med"/>
            <a:tailEnd type="stealth" w="med" len="med"/>
          </a:ln>
        </p:spPr>
      </p:cxnSp>
      <p:sp>
        <p:nvSpPr>
          <p:cNvPr id="57" name="Google Shape;959;p54">
            <a:extLst>
              <a:ext uri="{FF2B5EF4-FFF2-40B4-BE49-F238E27FC236}">
                <a16:creationId xmlns:a16="http://schemas.microsoft.com/office/drawing/2014/main" id="{B8DF3C6A-6BEA-484E-B285-64EF31A899AB}"/>
              </a:ext>
            </a:extLst>
          </p:cNvPr>
          <p:cNvSpPr txBox="1"/>
          <p:nvPr/>
        </p:nvSpPr>
        <p:spPr>
          <a:xfrm>
            <a:off x="5344738" y="5883289"/>
            <a:ext cx="1691427" cy="338700"/>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ea typeface="Calibri"/>
                <a:cs typeface="Arial" panose="020B0604020202020204" pitchFamily="34" charset="0"/>
                <a:sym typeface="Calibri"/>
              </a:rPr>
              <a:t>approval record</a:t>
            </a:r>
            <a:endParaRPr sz="1400" dirty="0">
              <a:solidFill>
                <a:schemeClr val="dk1"/>
              </a:solidFill>
              <a:latin typeface="Arial" panose="020B0604020202020204" pitchFamily="34" charset="0"/>
              <a:ea typeface="Calibri"/>
              <a:cs typeface="Arial" panose="020B0604020202020204" pitchFamily="34" charset="0"/>
              <a:sym typeface="Calibri"/>
            </a:endParaRPr>
          </a:p>
        </p:txBody>
      </p:sp>
      <p:sp>
        <p:nvSpPr>
          <p:cNvPr id="60" name="Right Arrow 59">
            <a:extLst>
              <a:ext uri="{FF2B5EF4-FFF2-40B4-BE49-F238E27FC236}">
                <a16:creationId xmlns:a16="http://schemas.microsoft.com/office/drawing/2014/main" id="{FC2F7CAF-FF24-0145-B413-898C9D040AC6}"/>
              </a:ext>
            </a:extLst>
          </p:cNvPr>
          <p:cNvSpPr/>
          <p:nvPr/>
        </p:nvSpPr>
        <p:spPr>
          <a:xfrm flipV="1">
            <a:off x="3261888" y="2057947"/>
            <a:ext cx="5260671" cy="134954"/>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ight Arrow 61">
            <a:extLst>
              <a:ext uri="{FF2B5EF4-FFF2-40B4-BE49-F238E27FC236}">
                <a16:creationId xmlns:a16="http://schemas.microsoft.com/office/drawing/2014/main" id="{2F3F4764-A329-3B4C-98C6-274EF1780968}"/>
              </a:ext>
            </a:extLst>
          </p:cNvPr>
          <p:cNvSpPr/>
          <p:nvPr/>
        </p:nvSpPr>
        <p:spPr>
          <a:xfrm>
            <a:off x="4341511" y="4251359"/>
            <a:ext cx="4593499" cy="134511"/>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ight Arrow 62">
            <a:extLst>
              <a:ext uri="{FF2B5EF4-FFF2-40B4-BE49-F238E27FC236}">
                <a16:creationId xmlns:a16="http://schemas.microsoft.com/office/drawing/2014/main" id="{AC6CA69F-3A31-FE46-A00F-4F2305F740B5}"/>
              </a:ext>
            </a:extLst>
          </p:cNvPr>
          <p:cNvSpPr/>
          <p:nvPr/>
        </p:nvSpPr>
        <p:spPr>
          <a:xfrm flipV="1">
            <a:off x="5255247" y="3158230"/>
            <a:ext cx="3681409" cy="13659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ight Arrow 66">
            <a:extLst>
              <a:ext uri="{FF2B5EF4-FFF2-40B4-BE49-F238E27FC236}">
                <a16:creationId xmlns:a16="http://schemas.microsoft.com/office/drawing/2014/main" id="{B9E5625E-3C2C-B140-8389-8D2263A17786}"/>
              </a:ext>
            </a:extLst>
          </p:cNvPr>
          <p:cNvSpPr/>
          <p:nvPr/>
        </p:nvSpPr>
        <p:spPr>
          <a:xfrm>
            <a:off x="7309738" y="5063494"/>
            <a:ext cx="2101821" cy="134261"/>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ight Arrow 76">
            <a:extLst>
              <a:ext uri="{FF2B5EF4-FFF2-40B4-BE49-F238E27FC236}">
                <a16:creationId xmlns:a16="http://schemas.microsoft.com/office/drawing/2014/main" id="{BA93A9B2-14F3-C948-8DD1-3E57EA5D307D}"/>
              </a:ext>
            </a:extLst>
          </p:cNvPr>
          <p:cNvSpPr/>
          <p:nvPr/>
        </p:nvSpPr>
        <p:spPr>
          <a:xfrm>
            <a:off x="7293018" y="4512031"/>
            <a:ext cx="2123498" cy="133406"/>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ight Arrow 82">
            <a:extLst>
              <a:ext uri="{FF2B5EF4-FFF2-40B4-BE49-F238E27FC236}">
                <a16:creationId xmlns:a16="http://schemas.microsoft.com/office/drawing/2014/main" id="{C61AD2B4-1FDC-B149-AF04-5DE5397BA8A0}"/>
              </a:ext>
            </a:extLst>
          </p:cNvPr>
          <p:cNvSpPr/>
          <p:nvPr/>
        </p:nvSpPr>
        <p:spPr>
          <a:xfrm>
            <a:off x="4424695" y="2575205"/>
            <a:ext cx="4075504" cy="135028"/>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ight Arrow 89">
            <a:extLst>
              <a:ext uri="{FF2B5EF4-FFF2-40B4-BE49-F238E27FC236}">
                <a16:creationId xmlns:a16="http://schemas.microsoft.com/office/drawing/2014/main" id="{4A9BAB53-C86C-5043-95BA-51873AF44288}"/>
              </a:ext>
            </a:extLst>
          </p:cNvPr>
          <p:cNvSpPr/>
          <p:nvPr/>
        </p:nvSpPr>
        <p:spPr>
          <a:xfrm>
            <a:off x="6755278" y="5893033"/>
            <a:ext cx="2630381" cy="14121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ight Arrow 90">
            <a:extLst>
              <a:ext uri="{FF2B5EF4-FFF2-40B4-BE49-F238E27FC236}">
                <a16:creationId xmlns:a16="http://schemas.microsoft.com/office/drawing/2014/main" id="{FE51DF94-1584-DC47-998C-EAB70B287206}"/>
              </a:ext>
            </a:extLst>
          </p:cNvPr>
          <p:cNvSpPr/>
          <p:nvPr/>
        </p:nvSpPr>
        <p:spPr>
          <a:xfrm>
            <a:off x="7425464" y="6417356"/>
            <a:ext cx="1502351" cy="134195"/>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ight Arrow 91">
            <a:extLst>
              <a:ext uri="{FF2B5EF4-FFF2-40B4-BE49-F238E27FC236}">
                <a16:creationId xmlns:a16="http://schemas.microsoft.com/office/drawing/2014/main" id="{B483FE2C-14F0-F647-BD29-2474B5EE8F7C}"/>
              </a:ext>
            </a:extLst>
          </p:cNvPr>
          <p:cNvSpPr/>
          <p:nvPr/>
        </p:nvSpPr>
        <p:spPr>
          <a:xfrm>
            <a:off x="6126359" y="6669041"/>
            <a:ext cx="3285200" cy="136945"/>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ight Arrow 92">
            <a:extLst>
              <a:ext uri="{FF2B5EF4-FFF2-40B4-BE49-F238E27FC236}">
                <a16:creationId xmlns:a16="http://schemas.microsoft.com/office/drawing/2014/main" id="{20AD54B2-E29D-B74C-94FC-A8E850BA699E}"/>
              </a:ext>
            </a:extLst>
          </p:cNvPr>
          <p:cNvSpPr/>
          <p:nvPr/>
        </p:nvSpPr>
        <p:spPr>
          <a:xfrm>
            <a:off x="7595843" y="7813866"/>
            <a:ext cx="895309" cy="125689"/>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ight Arrow 95">
            <a:extLst>
              <a:ext uri="{FF2B5EF4-FFF2-40B4-BE49-F238E27FC236}">
                <a16:creationId xmlns:a16="http://schemas.microsoft.com/office/drawing/2014/main" id="{7AAA067C-EC20-A946-953F-8B4EBDAFB7E1}"/>
              </a:ext>
            </a:extLst>
          </p:cNvPr>
          <p:cNvSpPr/>
          <p:nvPr/>
        </p:nvSpPr>
        <p:spPr>
          <a:xfrm>
            <a:off x="4279627" y="8345924"/>
            <a:ext cx="4236283" cy="1337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ight Arrow 102">
            <a:extLst>
              <a:ext uri="{FF2B5EF4-FFF2-40B4-BE49-F238E27FC236}">
                <a16:creationId xmlns:a16="http://schemas.microsoft.com/office/drawing/2014/main" id="{EB2CF335-549F-4B45-9DB6-EC5EE5FE6991}"/>
              </a:ext>
            </a:extLst>
          </p:cNvPr>
          <p:cNvSpPr/>
          <p:nvPr/>
        </p:nvSpPr>
        <p:spPr>
          <a:xfrm>
            <a:off x="5255247" y="8877441"/>
            <a:ext cx="3674301" cy="138614"/>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ight Arrow 103">
            <a:extLst>
              <a:ext uri="{FF2B5EF4-FFF2-40B4-BE49-F238E27FC236}">
                <a16:creationId xmlns:a16="http://schemas.microsoft.com/office/drawing/2014/main" id="{24F7422C-9A2A-9F42-BAE2-F9CBBF508705}"/>
              </a:ext>
            </a:extLst>
          </p:cNvPr>
          <p:cNvSpPr/>
          <p:nvPr/>
        </p:nvSpPr>
        <p:spPr>
          <a:xfrm>
            <a:off x="7328788" y="5596894"/>
            <a:ext cx="2101821" cy="134261"/>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ight Arrow 104">
            <a:extLst>
              <a:ext uri="{FF2B5EF4-FFF2-40B4-BE49-F238E27FC236}">
                <a16:creationId xmlns:a16="http://schemas.microsoft.com/office/drawing/2014/main" id="{05219047-11B7-A747-87EC-A476518E2EF6}"/>
              </a:ext>
            </a:extLst>
          </p:cNvPr>
          <p:cNvSpPr/>
          <p:nvPr/>
        </p:nvSpPr>
        <p:spPr>
          <a:xfrm>
            <a:off x="7463564" y="7503206"/>
            <a:ext cx="1502351" cy="134195"/>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ight Arrow 105">
            <a:extLst>
              <a:ext uri="{FF2B5EF4-FFF2-40B4-BE49-F238E27FC236}">
                <a16:creationId xmlns:a16="http://schemas.microsoft.com/office/drawing/2014/main" id="{7C3B2070-431B-6840-B327-C0029A9592AB}"/>
              </a:ext>
            </a:extLst>
          </p:cNvPr>
          <p:cNvSpPr/>
          <p:nvPr/>
        </p:nvSpPr>
        <p:spPr>
          <a:xfrm>
            <a:off x="7463564" y="3952498"/>
            <a:ext cx="1493221" cy="136983"/>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55FA6884-C176-7C47-8EE3-721723CAC12F}"/>
              </a:ext>
            </a:extLst>
          </p:cNvPr>
          <p:cNvSpPr/>
          <p:nvPr/>
        </p:nvSpPr>
        <p:spPr>
          <a:xfrm>
            <a:off x="562824" y="10267059"/>
            <a:ext cx="13133851" cy="307777"/>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 2019 </a:t>
            </a:r>
            <a:r>
              <a:rPr lang="en-US" sz="1400" dirty="0" err="1">
                <a:latin typeface="Arial" panose="020B0604020202020204" pitchFamily="34" charset="0"/>
                <a:cs typeface="Arial" panose="020B0604020202020204" pitchFamily="34" charset="0"/>
              </a:rPr>
              <a:t>eCornell</a:t>
            </a:r>
            <a:r>
              <a:rPr lang="en-US" sz="1400" dirty="0">
                <a:latin typeface="Arial" panose="020B0604020202020204" pitchFamily="34" charset="0"/>
                <a:cs typeface="Arial" panose="020B0604020202020204" pitchFamily="34" charset="0"/>
              </a:rPr>
              <a:t>. All rights reserved. All other copyrights, trademarks, trade names, and logos are the sole property of their respective owners</a:t>
            </a:r>
            <a:r>
              <a:rPr lang="en-US" sz="1000" dirty="0">
                <a:latin typeface="Arial" panose="020B0604020202020204" pitchFamily="34" charset="0"/>
                <a:cs typeface="Arial" panose="020B0604020202020204" pitchFamily="34" charset="0"/>
              </a:rPr>
              <a:t>.</a:t>
            </a:r>
          </a:p>
        </p:txBody>
      </p:sp>
      <p:sp>
        <p:nvSpPr>
          <p:cNvPr id="72" name="TextBox 71">
            <a:extLst>
              <a:ext uri="{FF2B5EF4-FFF2-40B4-BE49-F238E27FC236}">
                <a16:creationId xmlns:a16="http://schemas.microsoft.com/office/drawing/2014/main" id="{6BC22E19-FEE9-EF4A-847C-06E0439F82AE}"/>
              </a:ext>
            </a:extLst>
          </p:cNvPr>
          <p:cNvSpPr txBox="1"/>
          <p:nvPr/>
        </p:nvSpPr>
        <p:spPr>
          <a:xfrm>
            <a:off x="416512" y="391243"/>
            <a:ext cx="10540441" cy="400110"/>
          </a:xfrm>
          <a:prstGeom prst="rect">
            <a:avLst/>
          </a:prstGeom>
          <a:noFill/>
        </p:spPr>
        <p:txBody>
          <a:bodyPr wrap="square" rtlCol="0">
            <a:spAutoFit/>
          </a:bodyPr>
          <a:lstStyle/>
          <a:p>
            <a:r>
              <a:rPr lang="en-US" sz="2000" b="1" dirty="0">
                <a:latin typeface="Arial" panose="020B0604020202020204" pitchFamily="34" charset="0"/>
                <a:ea typeface="Calibri"/>
                <a:cs typeface="Arial" panose="020B0604020202020204" pitchFamily="34" charset="0"/>
                <a:sym typeface="Calibri"/>
              </a:rPr>
              <a:t>Sequence Diagram Sample – Relating Elements with Flow Notes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01940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2197</TotalTime>
  <Words>1139</Words>
  <Application>Microsoft Macintosh PowerPoint</Application>
  <PresentationFormat>Custom</PresentationFormat>
  <Paragraphs>208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MS Mincho</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Tara Allred</dc:creator>
  <cp:lastModifiedBy>David Ancor</cp:lastModifiedBy>
  <cp:revision>47</cp:revision>
  <cp:lastPrinted>2018-12-17T20:01:56Z</cp:lastPrinted>
  <dcterms:created xsi:type="dcterms:W3CDTF">2018-08-30T17:33:21Z</dcterms:created>
  <dcterms:modified xsi:type="dcterms:W3CDTF">2026-03-20T00:35:30Z</dcterms:modified>
</cp:coreProperties>
</file>