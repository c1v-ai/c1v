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01010"/>
                </a:solidFill>
              </a:rPr>
              <a:t>M4 — Decision Network</a:t>
            </a:r>
          </a:p>
          <a:p>
            <a:pPr algn="ctr"/>
            <a:r>
              <a:rPr sz="1800">
                <a:solidFill>
                  <a:srgbClr val="555555"/>
                </a:solidFill>
              </a:rPr>
              <a:t>Selected: AV.01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Decision Nodes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3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066"/>
                <a:gridCol w="3564200"/>
                <a:gridCol w="5940334"/>
                <a:gridCol w="950453"/>
              </a:tblGrid>
              <a:tr h="1042416">
                <a:tc>
                  <a:txBody>
                    <a:bodyPr/>
                    <a:lstStyle/>
                    <a:p>
                      <a:r>
                        <a:rPr b="1" sz="110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# Alts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Choose LLM provider for F.2 spec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Which LLM API maximizes citation accuracy + p95 latency within cost c…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Choose vector store for RAG (F.6 recommendation)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Which vector store balances query p95 latency, cost, and operational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Choose orchestration runtime for F.2..F.7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Which agent-orchestration framework minimizes integration cost + supp…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Choose deployment target for Next.js app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Which hosting platform meets NFR-04 customer-overhead cap and availab…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Scores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1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385"/>
                <a:gridCol w="944031"/>
                <a:gridCol w="4720157"/>
                <a:gridCol w="1888062"/>
                <a:gridCol w="1258708"/>
                <a:gridCol w="1258708"/>
              </a:tblGrid>
              <a:tr h="179726">
                <a:tc>
                  <a:txBody>
                    <a:bodyPr/>
                    <a:lstStyle/>
                    <a:p>
                      <a:r>
                        <a:rPr b="1" sz="1100"/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Alt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Norm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Anthropic Claude Sonnet 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0.92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OpenAI GPT-4 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0.88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OpenRouter federated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0.83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Anthropic Claude Sonnet 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OpenAI GPT-4 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0.6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OpenRouter federated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Anthropic Claude Sonnet 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OpenAI GPT-4 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OpenRouter federated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0.76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Anthropic Claude Sonnet 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OpenAI GPT-4 Turbo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0.95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OpenRouter federated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0.85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pgvector (Supabase Postgres)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0.85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Pinecone 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0.93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Weaviate self-hosted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pgvector (Supabase Postgres)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0.78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Pinecone 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0.88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Weaviate self-hosted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pgvector (Supabase Postgres)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0.95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Pinecone 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0.5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Weaviate self-hosted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0.65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pgvector (Supabase Postgres)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Pinecone 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0.95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Weaviate self-hosted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0.82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LangChain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0.75</a:t>
                      </a:r>
                    </a:p>
                  </a:txBody>
                  <a:tcPr/>
                </a:tc>
              </a:tr>
              <a:tr h="179726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Custom 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0.85</a:t>
                      </a:r>
                    </a:p>
                  </a:txBody>
                  <a:tcPr/>
                </a:tc>
              </a:tr>
              <a:tr h="179752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01010"/>
                </a:solidFill>
              </a:rPr>
              <a:t>Scores (cont.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3051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385"/>
                <a:gridCol w="944031"/>
                <a:gridCol w="4720157"/>
                <a:gridCol w="1888062"/>
                <a:gridCol w="1258708"/>
                <a:gridCol w="1258708"/>
              </a:tblGrid>
              <a:tr h="248194">
                <a:tc>
                  <a:txBody>
                    <a:bodyPr/>
                    <a:lstStyle/>
                    <a:p>
                      <a:r>
                        <a:rPr b="1" sz="1100"/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Alt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100"/>
                        <a:t>Norm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LangChain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Custom 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0.95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LangChain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Custom 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0.6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LangChain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0.85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Custom 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0.75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0.78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Fly.io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0.82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Fly.io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0.92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0.8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Fly.io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0.78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Vercel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0.98</a:t>
                      </a:r>
                    </a:p>
                  </a:txBody>
                  <a:tcPr/>
                </a:tc>
              </a:tr>
              <a:tr h="248194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0.95</a:t>
                      </a:r>
                    </a:p>
                  </a:txBody>
                  <a:tcPr/>
                </a:tc>
              </a:tr>
              <a:tr h="248200">
                <a:tc>
                  <a:txBody>
                    <a:bodyPr/>
                    <a:lstStyle/>
                    <a:p>
                      <a:r>
                        <a:rPr sz="900"/>
                        <a:t>DN.04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Fly.io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