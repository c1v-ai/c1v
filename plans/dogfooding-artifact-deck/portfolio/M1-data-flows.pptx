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01010"/>
                </a:solidFill>
              </a:rPr>
              <a:t>M1 — Defining Scope</a:t>
            </a:r>
          </a:p>
          <a:p>
            <a:pPr algn="ctr"/>
            <a:r>
              <a:rPr sz="1800">
                <a:solidFill>
                  <a:srgbClr val="555555"/>
                </a:solidFill>
              </a:rPr>
              <a:t>Data flows + system boundary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01010"/>
                </a:solidFill>
              </a:rPr>
              <a:t>Data Flows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11643053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2448"/>
                <a:gridCol w="1724897"/>
                <a:gridCol w="4312242"/>
                <a:gridCol w="1724897"/>
                <a:gridCol w="1724897"/>
                <a:gridCol w="1293672"/>
              </a:tblGrid>
              <a:tr h="325755">
                <a:tc>
                  <a:txBody>
                    <a:bodyPr/>
                    <a:lstStyle/>
                    <a:p>
                      <a:r>
                        <a:rPr b="1" sz="110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Sink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Criticality</a:t>
                      </a:r>
                    </a:p>
                  </a:txBody>
                  <a:tcPr/>
                </a:tc>
              </a:tr>
              <a:tr h="325755">
                <a:tc>
                  <a:txBody>
                    <a:bodyPr/>
                    <a:lstStyle/>
                    <a:p>
                      <a:r>
                        <a:rPr sz="900"/>
                        <a:t>DE.01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Founder Idea Prompt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One-sentence product idea submitted by a Founder to seed sp…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FOUNDERS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SpecGen.FromIdea.Intake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high</a:t>
                      </a:r>
                    </a:p>
                  </a:txBody>
                  <a:tcPr/>
                </a:tc>
              </a:tr>
              <a:tr h="325755">
                <a:tc>
                  <a:txBody>
                    <a:bodyPr/>
                    <a:lstStyle/>
                    <a:p>
                      <a:r>
                        <a:rPr sz="900"/>
                        <a:t>DE.02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Existing Codebase Read Stream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Read-only source-tree contents pulled from a customer's VCS…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EXISTING CODEBASES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SpecGen.FromCode.Clone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critical</a:t>
                      </a:r>
                    </a:p>
                  </a:txBody>
                  <a:tcPr/>
                </a:tc>
              </a:tr>
              <a:tr h="325755">
                <a:tc>
                  <a:txBody>
                    <a:bodyPr/>
                    <a:lstStyle/>
                    <a:p>
                      <a:r>
                        <a:rPr sz="900"/>
                        <a:t>DE.03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Draft Spec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Working-draft PRD/spec emitted by F.2 Generate Spec, consum…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SpecGen.FromIdea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SpecGen.Versioning.ReviewUI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high</a:t>
                      </a:r>
                    </a:p>
                  </a:txBody>
                  <a:tcPr/>
                </a:tc>
              </a:tr>
              <a:tr h="325755">
                <a:tc>
                  <a:txBody>
                    <a:bodyPr/>
                    <a:lstStyle/>
                    <a:p>
                      <a:r>
                        <a:rPr sz="900"/>
                        <a:t>DE.04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Review Decision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Approve/revise decision emitted by a human reviewer at F.3.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PRODUCT MANAGERS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SpecGen.Versioning.ReviewUI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high</a:t>
                      </a:r>
                    </a:p>
                  </a:txBody>
                  <a:tcPr/>
                </a:tc>
              </a:tr>
              <a:tr h="325755">
                <a:tc>
                  <a:txBody>
                    <a:bodyPr/>
                    <a:lstStyle/>
                    <a:p>
                      <a:r>
                        <a:rPr sz="900"/>
                        <a:t>DE.05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Approved Spec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Approved, immutable spec snapshot handed off to F.4 CLI emi…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SpecGen.Versioning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CliGen.Emitter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critical</a:t>
                      </a:r>
                    </a:p>
                  </a:txBody>
                  <a:tcPr/>
                </a:tc>
              </a:tr>
              <a:tr h="325755">
                <a:tc>
                  <a:txBody>
                    <a:bodyPr/>
                    <a:lstStyle/>
                    <a:p>
                      <a:r>
                        <a:rPr sz="900"/>
                        <a:t>DE.06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CLI Bundle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Emitted CLI command bundle + SKILL.md + CLAUDE.md + MCP too…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CliGen.Emitter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IDE / CLI CLIENTS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high</a:t>
                      </a:r>
                    </a:p>
                  </a:txBody>
                  <a:tcPr/>
                </a:tc>
              </a:tr>
              <a:tr h="325755">
                <a:tc>
                  <a:txBody>
                    <a:bodyPr/>
                    <a:lstStyle/>
                    <a:p>
                      <a:r>
                        <a:rPr sz="900"/>
                        <a:t>DE.07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Customer System Connection Manifest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Connection config (read-only credentials) for a customer sy…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TEAM ADMINS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Integration.Observability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critical</a:t>
                      </a:r>
                    </a:p>
                  </a:txBody>
                  <a:tcPr/>
                </a:tc>
              </a:tr>
              <a:tr h="325755">
                <a:tc>
                  <a:txBody>
                    <a:bodyPr/>
                    <a:lstStyle/>
                    <a:p>
                      <a:r>
                        <a:rPr sz="900"/>
                        <a:t>DE.08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Live Performance Metrics Stream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Availability, throughput, latency samples streamed from cus…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OBSERVABILITY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Feedback.Ingest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high</a:t>
                      </a:r>
                    </a:p>
                  </a:txBody>
                  <a:tcPr/>
                </a:tc>
              </a:tr>
              <a:tr h="325755">
                <a:tc>
                  <a:txBody>
                    <a:bodyPr/>
                    <a:lstStyle/>
                    <a:p>
                      <a:r>
                        <a:rPr sz="900"/>
                        <a:t>DE.09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Tech Catalog + Vendor Docs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Tech-registry profiles + vendor docs + cloud SLAs feeding t…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DOCUMENTATION SOURCES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TechStack.Catalog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medium</a:t>
                      </a:r>
                    </a:p>
                  </a:txBody>
                  <a:tcPr/>
                </a:tc>
              </a:tr>
              <a:tr h="325755">
                <a:tc>
                  <a:txBody>
                    <a:bodyPr/>
                    <a:lstStyle/>
                    <a:p>
                      <a:r>
                        <a:rPr sz="900"/>
                        <a:t>DE.10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Design Recommendation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Traced recommendation (with citations) emitted by F.7 back 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Feedback.Recommend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SpecGen.FromIdea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high</a:t>
                      </a:r>
                    </a:p>
                  </a:txBody>
                  <a:tcPr/>
                </a:tc>
              </a:tr>
              <a:tr h="325755">
                <a:tc>
                  <a:txBody>
                    <a:bodyPr/>
                    <a:lstStyle/>
                    <a:p>
                      <a:r>
                        <a:rPr sz="900"/>
                        <a:t>DE.11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Audit Event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Append-only event emitted by every state-mutating function 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Audit.Trail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Audit.Export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critical</a:t>
                      </a:r>
                    </a:p>
                  </a:txBody>
                  <a:tcPr/>
                </a:tc>
              </a:tr>
              <a:tr h="325755">
                <a:tc>
                  <a:txBody>
                    <a:bodyPr/>
                    <a:lstStyle/>
                    <a:p>
                      <a:r>
                        <a:rPr sz="900"/>
                        <a:t>DE.12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Session Token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Authenticated session token emitted by IDP, consumed by F.1…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IDENTITY PROVIDERS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IdentityAuth.SSO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critical</a:t>
                      </a:r>
                    </a:p>
                  </a:txBody>
                  <a:tcPr/>
                </a:tc>
              </a:tr>
              <a:tr h="325755">
                <a:tc>
                  <a:txBody>
                    <a:bodyPr/>
                    <a:lstStyle/>
                    <a:p>
                      <a:r>
                        <a:rPr sz="900"/>
                        <a:t>DE.13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LLM Completion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Model completion returned from an LLM provider to an agent 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LLM PROVIDERS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Integration.LLM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high</a:t>
                      </a:r>
                    </a:p>
                  </a:txBody>
                  <a:tcPr/>
                </a:tc>
              </a:tr>
              <a:tr h="325755">
                <a:tc>
                  <a:txBody>
                    <a:bodyPr/>
                    <a:lstStyle/>
                    <a:p>
                      <a:r>
                        <a:rPr sz="900"/>
                        <a:t>DE.14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Compliance Policy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Compliance rulebook (SOC2/HIPAA/GDPR/PCI-DSS) applied at re…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COMPLIANCE FRAMEWORKS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Audit.Frameworks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high</a:t>
                      </a:r>
                    </a:p>
                  </a:txBody>
                  <a:tcPr/>
                </a:tc>
              </a:tr>
              <a:tr h="325755">
                <a:tc>
                  <a:txBody>
                    <a:bodyPr/>
                    <a:lstStyle/>
                    <a:p>
                      <a:r>
                        <a:rPr sz="900"/>
                        <a:t>DE.15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Spec Commit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Approved spec written as an artifact commit to a VCS remote.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SpecGen.Versioning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VERSION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high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