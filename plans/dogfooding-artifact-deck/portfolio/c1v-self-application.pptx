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Relationship Id="rId3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Relationship Id="rId3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Relationship Id="rId3" Type="http://schemas.openxmlformats.org/officeDocument/2006/relationships/image" Target="../media/image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72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01010"/>
                </a:solidFill>
              </a:rPr>
              <a:t>c1v Self-Application</a:t>
            </a:r>
          </a:p>
          <a:p>
            <a:pPr algn="ctr"/>
            <a:r>
              <a:rPr sz="2200">
                <a:solidFill>
                  <a:srgbClr val="555555"/>
                </a:solidFill>
              </a:rPr>
              <a:t>Dogfooding the Methodology — M1 → M8 + Synthesis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M1 — Defining Scope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01010"/>
                </a:solidFill>
              </a:rPr>
              <a:t>M1 — Defining Scope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Data flows + system boundary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Data Flows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3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2448"/>
                <a:gridCol w="1724897"/>
                <a:gridCol w="4312242"/>
                <a:gridCol w="1724897"/>
                <a:gridCol w="1724897"/>
                <a:gridCol w="1293672"/>
              </a:tblGrid>
              <a:tr h="325755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Sink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Criticality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Founder Idea 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One-sentence product idea submitted by a Founder to seed sp…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FOUNDERS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SpecGen.FromIdea.Intake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Existing Codebase Read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Read-only source-tree contents pulled from a customer's VCS…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EXISTING CODEBASES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SpecGen.FromCode.Clone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critical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Draft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Working-draft PRD/spec emitted by F.2 Generate Spec, consum…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SpecGen.FromIdea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SpecGen.Versioning.ReviewUI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Review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Approve/revise decision emitted by a human reviewer at F.3.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PRODUCT MANAGERS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SpecGen.Versioning.ReviewUI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Approved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Approved, immutable spec snapshot handed off to F.4 CLI emi…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SpecGen.Versioning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CliGen.Emitter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critical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CLI Bundle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Emitted CLI command bundle + SKILL.md + CLAUDE.md + MCP too…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CliGen.Emitter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IDE / CLI CLIENTS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Customer System Connection Manifest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Connection config (read-only credentials) for a customer sy…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TEAM ADMINS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Integration.Observability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critical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Live Performance Metrics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Availability, throughput, latency samples streamed from cus…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OBSERVABILITY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Feedback.Ingest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Tech Catalog + Vendor Docs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Tech-registry profiles + vendor docs + cloud SLAs feeding t…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DOCUMENTATION 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TechStack.Catalog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medium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Design Recommendation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Traced recommendation (with citations) emitted by F.7 back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Feedback.Recommend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SpecGen.FromIdea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Audit Event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Append-only event emitted by every state-mutating function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Audit.Trail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Audit.Export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critical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Session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Authenticated session token emitted by IDP, consumed by F.1…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IDENTITY PROVIDERS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IdentityAuth.SSO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critical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LLM Completion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Model completion returned from an LLM provider to an agent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LLM PROVIDERS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Integration.LLM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Compliance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Compliance rulebook (SOC2/HIPAA/GDPR/PCI-DSS) applied at re…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COMPLIANCE FRAMEWORKS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Audit.Frameworks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</a:tr>
              <a:tr h="325755">
                <a:tc>
                  <a:txBody>
                    <a:bodyPr/>
                    <a:lstStyle/>
                    <a:p>
                      <a:r>
                        <a:rPr sz="900"/>
                        <a:t>DE.15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 Commit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Approved spec written as an artifact commit to a VCS remote.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SpecGen.Versioning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VERSION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high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M2 — Requirements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000000"/>
                </a:solidFill>
                <a:latin typeface="Arial"/>
              </a:rPr>
              <a:t>Use Case Behavioral Diagrams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000000"/>
                </a:solidFill>
                <a:latin typeface="Arial"/>
              </a:rPr>
              <a:t>System —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6 UCBDs  |  99 Requirements  |  28 Constants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UC01 — UC01 — Generate Spec from One-Sentence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UC01 — Generate Spec from One-Sentence Idea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Founder submits a one-sentence product idea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The Founder is authenticated (cross-cutting UC14).; An empty project context exists in the Founder's organization.; At least one LLM Provider is configured and credentialed for the organization.; The Founder has permission to create specs in the organization.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A validated enterprise-grade spec is committed to version-controlled storage with status 'draft' and a commit hash.; Every tech-stack recommendation in the spec is linked to a declared performance metric (availability, throughput, or latency) with a cited source, satisfying TRACEBACK_COVERAGE_PCT.; The assigned Product Managers have been notified that the spec is ready for review.; The Founder holds the spec URL and commit hash.; An audit entry records the spec creation with Founder identity, Project ID, commit hash, and timestamp.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Founder submits a one-sentence product idea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Founder's session before accepting the idea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submitted idea prompt to the empty project context with a stable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initiate a conversational intake session scoped to the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present the first intake question to the Founder within FOUNDER_INTAKE_RESPONSE_BUDGET_MS of receiving the idea prompt.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Founder answers the intake question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classify the idea's domain by invoking a configured LLM Provider with the idea prompt and intake answers.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LLM Provider returns domain classification and confidence score.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loop intake questions until the intake completeness threshold INTAKE_COMPLETENESS_THRESHOLD is met.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assemble an initial scope outline (actors, use cases, constraints) from the intake transcript.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draft a tech-stack recommendation for each identified subsystem in the scope outline.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invoke the metric-traceback subroutine for every tech-stack recommendation (&lt;&lt;include&gt;&gt; UC08).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assemble the enterprise-grade spec bundle (scope, actors, use cases, traced recommendations, constants).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the assembled spec against the spec-shape schema and reject the assembly if validation fails.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complete the spec generation cycle within SPEC_GENERATION_TIMEOUT_SEC from the first Founder answer.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validated spec to version-controlled storage with status 'draft' and a commit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spec creation with Founder identity, Project ID, commit hash,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Product Managers receive notification that the spec is ready for review.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the spec's assigned Product Managers that the spec is ready for review.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1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persisted spec's URL and commit hash to the Founder.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2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Founder receives the spec URL and commit hash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UC01 Requirements — UC01 — Generate Spec from One-Sentence Idea (16)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Founder's session before accepting a submitted idea prompt.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submitted idea prompt to the project context with a stable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initiate a conversational intake session scoped to the Project ID.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present the first intake question to the Founder within FOUNDER_INTAKE_RESPONSE_BUDGET_MS of receiving the idea prompt.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FOUNDER_INTAKE_RESPONSE_BUDGET_MS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classify the idea's domain by invoking a configured LLM Provider with the idea prompt and the intake answers.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loop intake questions until the INTAKE_COMPLETENESS_THRESHOLD is met.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INTAKE_COMPLETENESS_THRESHOLD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assemble an initial scope outline containing actors, use cases, and constraints from the intake transcript.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draft a tech-stack recommendation for each subsystem identified in the scope outline.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invoke the metric-traceback subroutine for every tech-stack recommendation before the spec is assembled.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assemble the spec bundle from the scope outline, the traced tech-stack recommendations, and the extracted constants.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the assembled spec against the spec-shape schema and reject the assembly if validation fails.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complete the spec generation cycle within SPEC_GENERATION_TIMEOUT_SEC from the first Founder answer.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SPEC_GENERATION_TIMEOUT_SEC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validated spec to version-controlled storage with status 'draft' and a commit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spec creation with Founder identity, Project ID, commit hash,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the spec's assigned Product Managers that the spec is ready for review.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5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UC01.R16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persisted spec's URL and commit hash to the Founder.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UC03 — UC03 — Review Generated Spec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UC03 — Review Generated Spec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Product Manager navigates to the spec review queue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 spec exists in 'draft' status in the Product Manager's organization.; The Product Manager is authenticated (cross-cutting UC14).; The Product Manager holds review permission on the spec's organization.; The spec has passed UC01 validation (schema + metric traceback coverage).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The spec's status is exactly one of: approved, rejected, revisions_requested.; An audit entry records the state transition with reviewer, prior state, new state, comment count, and timestamp.; The Founder has been notified of the review decision and any attached comments.; On approve, the CLI-emission pipeline is enabled and Engineering Teams subscribed to the project are notified.; On reject or revisions_requested, the CLI-emission pipeline remains blocked.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navigates to the spec review queue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Product Manager's session before exposing the review queue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enumerate every spec in 'draft' status that is assigned to the authenticated Product Manager's review queue.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spec list sorted by submission time ascending and rendered within REVIEW_QUEUE_LOAD_BUDGET_MS.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selects a spec from the review queue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verify the Product Manager holds review permission on the selected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load the spec bundle including the spec document, diagrams, and constants table at the spec's committed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render the loaded spec bundle in a reviewable view within SPEC_RENDER_BUDGET_MS.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reads the rendered spec and drafts review comments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submits each review comment anchored to a spec section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each submitted review comment with Product Manager identity, spec section anchor,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Product Manager selects a review action from {approve, reject, request_revisions}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that every 'request_revisions' action includes at least one review comment.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transition the spec state from 'draft' to the state implied by the review action within STATE_TRANSITION_BUDGET_MS.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state transition with reviewer identity, prior state, new state, comment count,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Founder receives notification of the review decision and comments.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the spec's Founder of the review decision and attached comments.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enable the CLI-emission pipeline (&lt;&lt;extend&gt;&gt; UC04) on approve and block it on reject or request_revisions.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Engineering Teams receive notification that the spec is approved and available for CLI emission.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Engineering Teams subscribed to the project that the spec has transitioned to 'approved' status.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UC03 Requirements — UC03 — Review Generated Spec (13)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Product Manager's session before exposing the review queue.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enumerate every spec in 'draft' status assigned to the authenticated Product Manager's review queue.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spec list sorted by submission time ascending and rendered within REVIEW_QUEUE_LOAD_BUDGET_MS.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REVIEW_QUEUE_LOAD_BUDGET_MS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verify the Product Manager holds review permission on the selected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load the spec bundle including the spec document, diagrams, and constants table at the spec's committed hash.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render the loaded spec bundle in a reviewable view within SPEC_RENDER_BUDGET_MS.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SPEC_RENDER_BUDGET_MS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each submitted review comment with Product Manager identity, spec section anchor,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that every 'request_revisions' action includes at least one review comment.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transition the spec state from 'draft' to the state implied by the review action within STATE_TRANSITION_BUDGET_MS.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STATE_TRANSITION_BUDGET_MS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state transition with reviewer identity, prior state, new state, comment count,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the spec's Founder of the review decision and attached comments.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3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enable the CLI-emission pipeline on approve and block it on reject or revisions_requested.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5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UC03.R13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Engineering Teams subscribed to the project that the spec has transitioned to 'approved' status.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UC04 — UC04 — Emit CLI Commands from Spec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UC04 — Emit CLI Commands from Spec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requests a CLI bundle for an approved spec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An approved spec exists (state 'approved' produced by UC03).; The Engineering Team Member is authenticated (cross-cutting UC14).; The Engineering Team Member holds emit permission on the spec's organization.; At least one IDE/CLI client is registered for the Engineering Team Member's account.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A signed CLI bundle containing SKILL.md, CLAUDE.md, and one MCP tool definition per interface is delivered to the Engineering Team Member's IDE/CLI client.; The signed CLI bundle is written to the spec's Version Control repository under the emission path.; The emission is recorded in the audit trail with Engineering Team Member identity, spec commit hash, bundle signature, IDE/CLI client identifier, and timestamp.; The Engineering Team Member holds the bundle location, signature, and commit hash.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requests a CLI bundle for an approved spec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Engineering Team Member's session before accepting the emission request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verify the referenced spec's status is exactly 'approved'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verify the Engineering Team Member holds emit permission on the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load the approved spec bundle at its committed hash from version-controlled storage.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generate a SKILL.md export from the spec's agent and capability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generate a CLAUDE.md export from the spec's conventions and architecture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generate one MCP tool definition for each interface declared in the spec's interface matrix (seed from Module 6).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package the SKILL.md, CLAUDE.md, and MCP tool definitions into a single CLI bundle.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sign the CLI bundle with the spec's commit hash and the emission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complete the CLI bundle generation within CLI_EMISSION_TIMEOUT_SEC of the emission request.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Version Control receives the signed CLI bundle and records the commit reference.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write the signed CLI bundle to the spec's Version Control repository under the emission path.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deliver the signed CLI bundle to the Engineering Team Member's registered IDE/CLI client.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IDE/CLI client acknowledges receipt of the CLI bundle with a receipt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require an IDE/CLI receipt token before marking the emission as delivered.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CLI emission with Engineering Team Member identity, spec commit hash, bundle signature, IDE/CLI client identifier,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bundle location, signature, and commit hash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6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receives the bundle location and signature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UC04 Requirements — UC04 — Emit CLI Commands from Spec (15)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Engineering Team Member's session before accepting a CLI emission request.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verify the referenced spec's status is exactly 'approved' before proceeding with CLI emission.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verify the Engineering Team Member holds emit permission on the spec's organization.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load the approved spec bundle at its committed hash from version-controlled storage.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generate a SKILL.md export from the spec's agent and capability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generate a CLAUDE.md export from the spec's conventions and architecture sections.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generate one MCP tool definition for each interface declared in the spec's interface matrix.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package the SKILL.md, CLAUDE.md, and MCP tool definitions into a single CLI bundle.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sign the CLI bundle with the spec's commit hash and the emission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complete CLI bundle generation within CLI_EMISSION_TIMEOUT_SEC of the emission request.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CLI_EMISSION_TIMEOUT_SEC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write the signed CLI bundle to the spec's Version Control repository under the emission path.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deliver the signed CLI bundle to the Engineering Team Member's registered IDE or CLI client.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require an IDE or CLI receipt token before marking the emission as delivered.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CLI emission with Engineering Team Member identity, spec commit hash, bundle signature, IDE or CLI client identifier,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UC04.R15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bundle location, signature, and commit hash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UC06 — UC06 — Recommend Design 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UC06 — Recommend Design Improvements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receives the recommendation list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 spec is live (approved by UC03 and emitted to production via UC04).; A non-invasive read-only connection to Observability Tools exists (established by UC11).; The system has ingested metric samples over a sustained window of at least AGGREGATION_WINDOW_MIN.; At least one LLM Provider is configured for the organization.; The Engineering Team Member is authenticated and subscribed to the project's recommendation stream.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A ranked recommendation list bounded by MAX_RECOMMENDATIONS_PER_CYCLE is delivered to the Engineering Team Member's recommendation stream.; Every delivered recommendation is linked to its source metric deviation and source sample identifiers.; Product Managers subscribed to the project have received a recommendation cycle digest.; Every recommendation carries a persisted action state of accepted, declined, or deferred once the Engineering Team Member acts.; An audit entry records the recommendation cycle with window boundaries, counts, and timestamp.; No recommendation is written back to the customer system (read-only posture preserved in v1).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Observability Tools stream availability, throughput, and latency samples into the feedback-loop ingest (&lt;&lt;include&gt;&gt; UC05).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every ingested metric sample to the feedback-loop store with the source observability identifier and a monotonic ingest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bound the overhead of metric ingestion on the customer system to at most MAX_CUSTOMER_SYSTEM_OVERHEAD_PCT of the customer system's measured baseline resources.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aggregate persisted samples over the AGGREGATION_WINDOW_MIN window on a RECOMMENDATION_CADENCE_MIN schedule.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compare every aggregate against the spec's declared performance targets for availability, throughput, and latency.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compute a metric deviation value for every aggregate that falls outside the spec's declared target.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suppress deviations whose magnitude is below DEVIATION_SUPPRESSION_THRESHOLD to prevent noise surfacing.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query a configured LLM Provider with each unsuppressed deviation to propose candidate improvements.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link every candidate improvement to the deviating metric and its source sample identifiers.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rank candidate improvements by deviation severity and LLM-reported confidence within RECOMMENDATION_LATENCY_SEC of the cycle start.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cap the delivered recommendation list at MAX_RECOMMENDATIONS_PER_CYCLE entries.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deliver the ranked recommendation list to the Engineering Team Member's recommendation stream.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receives the recommendation list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Product Managers receive a digest of the recommendation cycle.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notify Product Managers subscribed to the project of the recommendation cycle completion.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recommendation cycle with the window boundaries, sample count, deviation count, recommendation count,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selects an action per recommendation: accept, decline, or defer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Engineering Team Member's action per recommendation with actor identity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surface a proactive feature candidate when a deviation indicates missing functionality (&lt;&lt;extends&gt;&gt; UC07).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refrain from writing any recommendation back to the customer system in v1 scope (read-only posture).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UC06 Requirements — UC06 — Recommend Design Improvements (16)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every ingested metric sample to the feedback-loop store with the source observability identifier and a monotonic ingest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bound the overhead of metric ingestion on the customer system to at most MAX_CUSTOMER_SYSTEM_OVERHEAD_PCT of the customer system's measured baseline resources.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MAX_CUSTOMER_SYSTEM_OVERHEAD_PCT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aggregate persisted samples over the AGGREGATION_WINDOW_MIN window on a RECOMMENDATION_CADENCE_MIN schedule.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AGGREGATION_WINDOW_MIN, RECOMMENDATION_CADENCE_MIN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compare every aggregate against the spec's declared performance targets for availability, throughput, and latency.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compute a metric deviation value for every aggregate that falls outside the spec's declared target.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suppress deviations whose magnitude is below DEVIATION_SUPPRESSION_THRESHOLD to prevent noise surfacing.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DEVIATION_SUPPRESSION_THRESHOLD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query a configured LLM Provider with each unsuppressed deviation to propose candidate improvements.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link every candidate improvement to the deviating metric and its source sample identifiers.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rank candidate improvements by deviation severity and LLM-reported confidence within RECOMMENDATION_LATENCY_SEC of the cycle start.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RECOMMENDATION_LATENCY_SEC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cap the delivered recommendation list at MAX_RECOMMENDATIONS_PER_CYCLE entries.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MAX_RECOMMENDATIONS_PER_CYCLE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deliver the ranked recommendation list to the Engineering Team Member's recommendation stream.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notify Product Managers subscribed to the project of the recommendation cycle completion.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recommendation cycle with the window boundaries, sample count, deviation count, recommendation count,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Engineering Team Member's action per recommendation with actor identity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3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surface a proactive feature candidate when a deviation indicates missing functionality.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5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UC06.R16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refrain from writing any recommendation back to the customer system in v1 scope.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UC08 — UC08 — Trace Tech-Stack Recommendation to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UC08 — Trace Tech-Stack Recommendation to Metric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reviews flagged recommendations and supplies an override or refinement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At least one draft tech-stack recommendation has been produced by UC01 or UC06.; The system holds authorized read access to Documentation Sources and Cloud Providers.; The declared metric vocabulary for c1v is fixed as {availability, throughput, latency}.; TRACEBACK_MIN_CONFIDENCE and TRACEBACK_COVERAGE_PCT are configured.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Every tech-stack recommendation is linked to a declared performance metric drawn from {availability, throughput, latency} with a cited external source.; Every recommendation carries a recorded traceback confidence score in the range [0.0, 1.0].; Every recommendation whose confidence is below TRACEBACK_MIN_CONFIDENCE is flagged for human review.; No spec is emitted in which fewer than TRACEBACK_COVERAGE_PCT of recommendations carry an attached traceback triple.; An audit trail row exists for every traceback event with recommendation, metric class, source citation, confidence, and timestamp.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receive a draft tech-stack recommendation from the spec generator (UC01) or recommender (UC06) with the technology name and claimed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parse the recommendation to extract the technology identifier and the claimed performance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classify the claimed capability into exactly one metric class drawn from {availability, throughput, latency} before querying any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query Documentation Sources for published performance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Documentation Sources return vendor specs, RFCs, and SLA statements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query Cloud Providers for baseline availability and pricing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Cloud Providers return availability zones, regional baselines, and service-tier SLAs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resolve the recommendation to a concrete value for the classified metric using only the cited external 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that the recommendation's claimed capability is supported by at least one cited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compute a traceback confidence score in the range [0.0, 1.0] for every resolved recommendation.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the traceback triple for every recommendation as {recommendation, metric_value, metric_class, source_citation, confidence, cited_at}.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flag the recommendation for human review if the confidence score is below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reviews flagged recommendations and supplies an override or refinement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attach the recorded traceback triple to the recommendation in the spec when the confidence score meets or exceeds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refuse to emit a spec in which fewer than TRACEBACK_COVERAGE_PCT of tech-stack recommendations carry an attached traceback triple.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every traceback event with recommendation identifier, metric class, source citation, confidence,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0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traced recommendation to the calling use case (UC01 or UC06) within TRACEBACK_LATENCY_SEC of receipt.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UC08 Requirements — UC08 — Trace Tech-Stack Recommendation to Metric (14)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receive every draft tech-stack recommendation from the spec generator or recommender with the technology name and the claimed performance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parse every draft tech-stack recommendation to extract the technology identifier and the claimed performance capability.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classify the claimed capability into exactly one metric class drawn from availability, throughput, or latency before querying any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query Documentation Sources for published performance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query Cloud Providers for baseline availability and pricing data matching the technology identifier.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resolve the recommendation to a concrete value for the classified metric using only the cited external sources.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that every recommendation's claimed capability is supported by at least one cited external source.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compute a traceback confidence score in the range zero to one for every resolved recommendation.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the traceback triple for every recommendation with fields recommendation, metric value, metric class, source citation, confidence, and cited_at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flag a recommendation for human review when the traceback confidence score is below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TRACEBACK_MIN_CONFIDENCE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attach the recorded traceback triple to the recommendation in the spec when the confidence score meets or exceeds TRACEBACK_MIN_CONFIDENCE.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TRACEBACK_MIN_CONFIDENCE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refuse to emit a spec in which fewer than TRACEBACK_COVERAGE_PCT of tech-stack recommendations carry an attached traceback triple.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TRACEBACK_COVERAGE_PCT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0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every traceback event with recommendation identifier, metric class, source citation, confidence,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61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UC08.R14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every traced recommendation to the calling use case within TRACEBACK_LATENCY_SEC of receipt.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TRACEBACK_LATENCY_SEC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UCBD: UC11 — UC11 — Connect Existing Customer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411480"/>
            <a:ext cx="120088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Use Case: </a:t>
            </a:r>
            <a:r>
              <a:rPr sz="1000">
                <a:solidFill>
                  <a:srgbClr val="000000"/>
                </a:solidFill>
                <a:latin typeface="Arial"/>
              </a:rPr>
              <a:t>UC11 — Connect Existing Customer System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Primary Actor: </a:t>
            </a:r>
            <a:r>
              <a:rPr sz="1000">
                <a:solidFill>
                  <a:srgbClr val="000000"/>
                </a:solidFill>
                <a:latin typeface="Arial"/>
              </a:rPr>
              <a:t>Actor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Trigger: </a:t>
            </a:r>
            <a:r>
              <a:rPr sz="1000">
                <a:solidFill>
                  <a:srgbClr val="000000"/>
                </a:solidFill>
                <a:latin typeface="Arial"/>
              </a:rPr>
              <a:t>Engineering Team Member provides customer Version Control URL, Observability Tools endpoints, and Identity Provider conf…</a:t>
            </a:r>
          </a:p>
          <a:p>
            <a:pPr algn="l"/>
            <a:r>
              <a:rPr sz="1000" b="1">
                <a:solidFill>
                  <a:srgbClr val="000000"/>
                </a:solidFill>
                <a:latin typeface="Arial"/>
              </a:rPr>
              <a:t>Start: </a:t>
            </a:r>
            <a:r>
              <a:rPr sz="1000">
                <a:solidFill>
                  <a:srgbClr val="000000"/>
                </a:solidFill>
                <a:latin typeface="Arial"/>
              </a:rPr>
              <a:t>The Engineering Team Member is authenticated and holds org-level admin permission.; The customer Identity Provider, Version Control endpoint, and Observability Tools endpoints are supplied as connection inputs.; The organization has accepted the c1v non-invasive connection terms.; MAX_CUSTOMER_SYSTEM_OVERHEAD_PCT is configured for the organization.</a:t>
            </a:r>
            <a:r>
              <a:rPr sz="1000">
                <a:solidFill>
                  <a:srgbClr val="000000"/>
                </a:solidFill>
                <a:latin typeface="Arial"/>
              </a:rPr>
              <a:t>   |   </a:t>
            </a:r>
            <a:r>
              <a:rPr sz="1000" b="1">
                <a:solidFill>
                  <a:srgbClr val="000000"/>
                </a:solidFill>
                <a:latin typeface="Arial"/>
              </a:rPr>
              <a:t>End: </a:t>
            </a:r>
            <a:r>
              <a:rPr sz="1000">
                <a:solidFill>
                  <a:srgbClr val="000000"/>
                </a:solidFill>
                <a:latin typeface="Arial"/>
              </a:rPr>
              <a:t>The system holds read-only handles to the customer Version Control, Observability Tools, and Identity Provider, each passing a connection-health probe.; Measured overhead imposed on the customer system is at or below MAX_CUSTOMER_SYSTEM_OVERHEAD_PCT.; A connection record with non-invasive status flag, overhead measurement, and handle references is persisted.; A re-authorization event is scheduled at CONNECTION_REAUTH_DAYS from establishment.; An audit entry records the connection establishment with Engineering Team Member identity, customer organization identifier, endpoint set, measured overhead, and timestamp.; The Engineering Team Member holds the connection identifier and non-invasive status confirmation.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09728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11597335"/>
              </a:tblGrid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provides customer Version Control URL, Observability Tools endpoints, and Identity Provider configuration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authenticate the Engineering Team Member's session before accepting connection inputs (CC.R01).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validate that every supplied endpoint is a well-formed URL resolvable from the c1v egress network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initiate an OAuth or OIDC authorization handshake with the customer Identity Provider using the supplied configuration.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Identity Provider returns a credentialed token with scope grants.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reject the authorization if the returned scope contains any write-capability grant.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Identity Provider credential in encrypted storage with a recorded expiry at ENCRYPTED_CREDENTIAL_EXPIRY_DAYS.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establish a read-only handle to the customer Version Control endpoint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Version Control returns repo metadata and branch list over the read-only handle.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establish a read-only handle to the customer Observability Tools endpoints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Other: Observability Tools return telemetry endpoint catalog and schema over the read-only handle.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execute a connection-health probe against Version Control, Observability Tools, and Identity Provider handles and require a success response from each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measure CPU, memory, and network overhead imposed on the customer system over a baseline probe window of BASELINE_PROBE_WINDOW_SEC.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reject the connection and surface an overhead violation to the Engineering Team Member if measured overhead exceeds MAX_CUSTOMER_SYSTEM_OVERHEAD_PCT.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persist the connection record with VCS handle reference, Observability handle reference, Identity Provider credential reference, measured overhead percentage, and non-invasive status flag.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schedule a re-authorization event at CONNECTION_REAUTH_DAYS from the connection establishment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record an audit entry for the connection establishment with the Engineering Team Member identity, customer organization identifier, endpoint set, measured overhead, and timestamp (CC.R02).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complete the connection establishment within CONNECTION_ESTABLISHMENT_BUDGET_SEC of receiving the connection inputs.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3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System: The system shall return the connection identifier, measured overhead percentage, non-invasive status flag, and re-authorization due date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4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Primary Actor: Engineering Team Member reviews the measured overhead and confirms the connection is within the non-invasive budget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" y="91440"/>
            <a:ext cx="120088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UC11 Requirements — UC11 — Connect Existing Customer System (15)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" y="457200"/>
          <a:ext cx="12008815" cy="9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448495"/>
                <a:gridCol w="1645920"/>
              </a:tblGrid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REQ-ID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>
                    <a:solidFill>
                      <a:srgbClr val="E6E6E6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authenticate the Engineering Team Member's session before accepting customer connection inputs.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validate that every supplied endpoint is a well-formed URL resolvable from the c1v egress network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initiate an OAuth or OIDC authorization handshake with the customer Identity Provider using the supplied configuration.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reject the authorization when the returned scope contains any write-capability grant.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Identity Provider credential in encrypted storage with a recorded expiry at ENCRYPTED_CREDENTIAL_EXPIRY_DAYS.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ENCRYPTED_CREDENTIAL_EXPIRY_DAYS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establish a read-only handle to the customer Version Control endpoint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establish a read-only handle to the customer Observability Tools endpoints using the credentialed token.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execute a connection-health probe against the Version Control, Observability Tools, and Identity Provider handles and require a success response from each before proceeding.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measure CPU, memory, and network overhead imposed on the customer system over a baseline probe window of BASELINE_PROBE_WINDOW_SEC.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BASELINE_PROBE_WINDOW_SEC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reject the connection and surface an overhead violation to the Engineering Team Member when measured overhead exceeds MAX_CUSTOMER_SYSTEM_OVERHEAD_PCT.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MAX_CUSTOMER_SYSTEM_OVERHEAD_PCT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persist the connection record with Version Control handle reference, Observability handle reference, Identity Provider credential reference, measured overhead percentage, and non-invasive status flag.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schedule a re-authorization event at CONNECTION_REAUTH_DAYS from the connection establishment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CONNECTION_REAUTH_DAYS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record an audit entry for the connection establishment with Engineering Team Member identity, customer organization identifier, endpoint set, measured overhead, and timestamp.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complete the connection establishment within CONNECTION_ESTABLISHMENT_BUDGET_SEC of receiving the connection inputs.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CONNECTION_ESTABLISHMENT_BUDGET_SEC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  <a:tr h="57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Arial"/>
                        </a:rPr>
                        <a:t>UC11.R15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The system shall return the connection identifier, measured overhead percentage, non-invasive status flag, and re-authorization due date to the Engineering Team Member.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>
                      <a:solidFill>
                        <a:srgbClr val="000000"/>
                      </a:solidFill>
                    </a:lnL>
                    <a:lnR w="9525" cap="flat" cmpd="sng">
                      <a:solidFill>
                        <a:srgbClr val="000000"/>
                      </a:solidFill>
                    </a:lnR>
                    <a:lnT w="9525" cap="flat" cmpd="sng">
                      <a:solidFill>
                        <a:srgbClr val="000000"/>
                      </a:solidFill>
                    </a:lnT>
                    <a:lnB w="9525" cap="flat" cmpd="sng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Arial"/>
              </a:rPr>
              <a:t>Requirements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731520"/>
          <a:ext cx="5029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371600"/>
              </a:tblGrid>
              <a:tr h="6286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Req Count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UC01 — UC01 — Generate Spec from One-Sentence Idea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UC03 — UC03 — Review Generated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UC04 — UC04 — Emit CLI Commands from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UC06 — UC06 — Recommend Design Improvements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UC08 — UC08 — Trace Tech-Stack Recommendation to 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UC11 — UC11 — Connect Existing Customer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0000"/>
                          </a:solidFill>
                          <a:latin typeface="Arial"/>
                        </a:defRPr>
                      </a:pPr>
                      <a:r>
                        <a:t>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0" y="8229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Arial"/>
              </a:rPr>
              <a:t>Design Constants (28):</a:t>
            </a:r>
          </a:p>
          <a:p/>
          <a:p>
            <a:r>
              <a:rPr sz="900">
                <a:solidFill>
                  <a:srgbClr val="000000"/>
                </a:solidFill>
                <a:latin typeface="Arial"/>
              </a:rPr>
              <a:t>FOUNDER_INTAKE_RESPONSE_BUDGET_MS = 2000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INTAKE_COMPLETENESS_THRESHOLD = 0.85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SPEC_GENERATION_TIMEOUT_SEC = 300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REVIEW_QUEUE_LOAD_BUDGET_MS = 800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SPEC_RENDER_BUDGET_MS = 1500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STATE_TRANSITION_BUDGET_MS = 500 ms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CLI_EMISSION_TIMEOUT_SEC = 60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MAX_CUSTOMER_SYSTEM_OVERHEAD_PCT = 2 %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AGGREGATION_WINDOW_MIN = 60 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RECOMMENDATION_CADENCE_MIN = 60 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DEVIATION_SUPPRESSION_THRESHOLD = 0.1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RECOMMENDATION_LATENCY_SEC = 120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MAX_RECOMMENDATIONS_PER_CYCLE = 10 count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TRACEBACK_MIN_CONFIDENCE = 0.9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TRACEBACK_COVERAGE_PCT = 100 %  (Final)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TRACEBACK_LATENCY_SEC = 5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ENCRYPTED_CREDENTIAL_EXPIRY_DAYS = 90 days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BASELINE_PROBE_WINDOW_SEC = 300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CONNECTION_REAUTH_DAYS = 30 days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CONNECTION_ESTABLISHMENT_BUDGET_SEC = 120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SESSION_TTL_MIN = 60 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ENCRYPTION_CLASS = AES-256-GCM + TLS-1.3 enum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AUDIT_RETENTION_DAYS = 2555 days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RATE_LIMIT_RPM = 100 req/min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LLM_PROVIDER_TIMEOUT_SEC = 30 sec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LOG_LEVEL_PROD = info enum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TRACE_SAMPLING_RATE = 0.1 ratio  (Estimate)</a:t>
            </a:r>
          </a:p>
          <a:p>
            <a:r>
              <a:rPr sz="900">
                <a:solidFill>
                  <a:srgbClr val="000000"/>
                </a:solidFill>
                <a:latin typeface="Arial"/>
              </a:rPr>
              <a:t>EVIDENCE_EXPORT_FORMATS = SOC2; HIPAA; GDPR; PCI-DSS enum-set  (Estimate)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M3 — Functional Flow Block Diagram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01010"/>
                </a:solidFill>
              </a:rPr>
              <a:t>M3 — Functional Flow Block Diagram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7 top-level functions / 14 arrows / 3 logic gates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Functions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305"/>
                <a:gridCol w="3492916"/>
                <a:gridCol w="6985833"/>
              </a:tblGrid>
              <a:tr h="651510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Authenticate &amp; Authorize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Generate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Review &amp; Approve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Emit CLI Bundle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Connect Customer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Ingest Metrics &amp; Recommend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Trace Recommendations to 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Arrows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305"/>
                <a:gridCol w="2328611"/>
                <a:gridCol w="2328611"/>
                <a:gridCol w="5821527"/>
              </a:tblGrid>
              <a:tr h="347472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Label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founder authenticated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draft spec ready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OR.1.open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review complete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OR.1.open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approved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OR.1.open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revisions_requested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on engineer schedule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AND.1.open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AND.1.open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metrics available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AND.1.open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docs &amp; catalogs available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&lt;=RECOMMENDATION_CADENCE_MIN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IT.1.close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recommendation traced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IT.1.close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IT.1.open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Until project deactivates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IT.1.open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improvement informs next spec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Logic Gates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5584"/>
                <a:gridCol w="1838377"/>
                <a:gridCol w="8579093"/>
              </a:tblGrid>
              <a:tr h="1303020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Kind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900"/>
                        <a:t>OR.1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900"/>
                        <a:t>AND.1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900"/>
                        <a:t>IT.1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M4 — Decision Network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01010"/>
                </a:solidFill>
              </a:rPr>
              <a:t>M4 — Decision Network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Selected: AV.01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Decision Nodes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3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066"/>
                <a:gridCol w="3564200"/>
                <a:gridCol w="5940334"/>
                <a:gridCol w="950453"/>
              </a:tblGrid>
              <a:tr h="1042416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# Alts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Choose LLM provider for F.2 spec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Which LLM API maximizes citation accuracy + p95 latency within cost c…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Choose vector store for RAG (F.6 recommendation)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Which vector store balances query p95 latency, cost, and operational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Choose orchestration runtime for F.2..F.7 chain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Which agent-orchestration framework minimizes integration cost + supp…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Choose deployment target for Next.js app 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Which hosting platform meets NFR-04 customer-overhead cap and availab…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Scores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1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385"/>
                <a:gridCol w="944031"/>
                <a:gridCol w="4720157"/>
                <a:gridCol w="1888062"/>
                <a:gridCol w="1258708"/>
                <a:gridCol w="1258708"/>
              </a:tblGrid>
              <a:tr h="179726">
                <a:tc>
                  <a:txBody>
                    <a:bodyPr/>
                    <a:lstStyle/>
                    <a:p>
                      <a:r>
                        <a:rPr b="1" sz="1100"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Alt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Norm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Anthropic Claude Sonnet 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OpenAI GPT-4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0.88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OpenRouter federated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Anthropic Claude Sonnet 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OpenAI GPT-4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OpenRouter federated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Anthropic Claude Sonnet 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OpenAI GPT-4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OpenRouter federated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0.76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Anthropic Claude Sonnet 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OpenAI GPT-4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OpenRouter federated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pgvector (Supabase Postgres)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Pinecone managed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0.93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Weaviate self-hosted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pgvector (Supabase Postgres)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Pinecone managed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0.88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Weaviate self-hosted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pgvector (Supabase Postgres)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Pinecone managed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Weaviate self-hosted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0.65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pgvector (Supabase Postgres)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Pinecone managed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Weaviate self-hosted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0.82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LangGraph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LangChain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</a:tr>
              <a:tr h="179726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Custom 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</a:tr>
              <a:tr h="179752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LangGraph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Scores (cont. 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1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385"/>
                <a:gridCol w="944031"/>
                <a:gridCol w="4720157"/>
                <a:gridCol w="1888062"/>
                <a:gridCol w="1258708"/>
                <a:gridCol w="1258708"/>
              </a:tblGrid>
              <a:tr h="248194">
                <a:tc>
                  <a:txBody>
                    <a:bodyPr/>
                    <a:lstStyle/>
                    <a:p>
                      <a:r>
                        <a:rPr b="1" sz="1100"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Alt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Norm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LangChain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Custom 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LangGraph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LangChain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Custom 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LangGraph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LangChain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0.85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Custom orchestrator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Cloud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Fly.io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0.82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Cloud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Fly.io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Cloud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Fly.io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0.78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0.98</a:t>
                      </a:r>
                    </a:p>
                  </a:txBody>
                  <a:tcPr/>
                </a:tc>
              </a:tr>
              <a:tr h="248194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Cloud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0.95</a:t>
                      </a:r>
                    </a:p>
                  </a:txBody>
                  <a:tcPr/>
                </a:tc>
              </a:tr>
              <a:tr h="248200">
                <a:tc>
                  <a:txBody>
                    <a:bodyPr/>
                    <a:lstStyle/>
                    <a:p>
                      <a:r>
                        <a:rPr sz="900"/>
                        <a:t>DN.04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Fly.io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PC-04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M5 — Form / Function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01010"/>
                </a:solidFill>
              </a:rPr>
              <a:t>M5 — Form / Function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Crawley concept-mapping artifacts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Phase 1 — Form Inventory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305"/>
                <a:gridCol w="3492916"/>
                <a:gridCol w="6985833"/>
              </a:tblGrid>
              <a:tr h="473825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900"/>
                        <a:t>FR.01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Auth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JWT/IDP bridge realizing F.1 authN/authZ. Binds DE.12 session tokens …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900"/>
                        <a:t>FR.02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 Generator (Primary LLM)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Primary LLM adapter for F.2 spec generation; grounded-retrieval gate …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900"/>
                        <a:t>FR.03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 Generator (Fallback LLM)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Secondary LLM provider for F.2; circuit-breaker fallback when primary…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900"/>
                        <a:t>FR.04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Review Gate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Realizes F.3; enforces OR.1 guard with compliance-policy digest check…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900"/>
                        <a:t>FR.05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CLI Bundle Emitter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Realizes F.4; produces DE.06 + DE.15 with redaction pass (FM.09 mitig…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900"/>
                        <a:t>FR.06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Customer-System Adapter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Realizes F.5 connect-adapter; self-meters overhead against MAX_CUSTOM…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900"/>
                        <a:t>FR.07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Metric Ingest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Realizes F.6 ingest half; heartbeat + gap-marker pipeline (NFR.05) ov…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900"/>
                        <a:t>FR.08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Recommendation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Realizes F.6 recommend half; bounded-queue + shed-load (FM.06 mitigat…</a:t>
                      </a:r>
                    </a:p>
                  </a:txBody>
                  <a:tcPr/>
                </a:tc>
              </a:tr>
              <a:tr h="473825">
                <a:tc>
                  <a:txBody>
                    <a:bodyPr/>
                    <a:lstStyle/>
                    <a:p>
                      <a:r>
                        <a:rPr sz="900"/>
                        <a:t>FR.09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Traceback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Realizes F.7; fail-closed on missing citations (FM.07 mitigation); co…</a:t>
                      </a:r>
                    </a:p>
                  </a:txBody>
                  <a:tcPr/>
                </a:tc>
              </a:tr>
              <a:tr h="473830">
                <a:tc>
                  <a:txBody>
                    <a:bodyPr/>
                    <a:lstStyle/>
                    <a:p>
                      <a:r>
                        <a:rPr sz="900"/>
                        <a:t>FR.10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Audit Event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Cross-cutting store realizing CC.R02 audit trail for F.2/F.3/F.4/F.5/…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Phase 2 — Function Inventory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305"/>
                <a:gridCol w="3492916"/>
                <a:gridCol w="6985833"/>
              </a:tblGrid>
              <a:tr h="651510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Authenticate &amp; Authorize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Generate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Review &amp; Approve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Emit CLI Bundle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Connect Customer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Ingest Metrics &amp; Recommend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651510">
                <a:tc>
                  <a:txBody>
                    <a:bodyPr/>
                    <a:lstStyle/>
                    <a:p>
                      <a:r>
                        <a:rPr sz="900"/>
                        <a:t>F.7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Trace Recommendations to Metr…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Phase 5 — Operand × Process Catalog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4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0509"/>
                <a:gridCol w="3881018"/>
                <a:gridCol w="5821527"/>
              </a:tblGrid>
              <a:tr h="579120">
                <a:tc>
                  <a:txBody>
                    <a:bodyPr/>
                    <a:lstStyle/>
                    <a:p>
                      <a:r>
                        <a:rPr b="1" sz="1100"/>
                        <a:t>Operand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900"/>
                        <a:t>Session Token (DE.12)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verify-and-scope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900"/>
                        <a:t>Founder Idea Prompt (DE.01)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generate-draft-spec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900"/>
                        <a:t>Repo Snapshot (DE.02)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generate-from-code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900"/>
                        <a:t>Draft Spec (DE.03)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review-and-gate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900"/>
                        <a:t>Approved Spec (DE.05)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emit-cli-bundle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900"/>
                        <a:t>Connection Manifest (DE.07)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wire-adapter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900"/>
                        <a:t>Metric Stream (DE.08)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ingest-and-recommend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900"/>
                        <a:t>Recommendation (DE.10)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trace-to-metrics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M6 — House of Quality (QFD)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M7 — Interfaces (N2 + Sequence + DFD)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N2 Chart — c1v Dual-Mode Platform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14 subsystems on the diagonal · upper triangle = forward flows · lower triangle = feedback · 32 internal interfaces (IF-01..IF-32)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" y="1463040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  Founder Web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Founder Web UI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" y="2325188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SS2  Session Manager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8754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SS2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Session Manager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" y="3187337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SS3  Agent Orchestrator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165668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SS3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Agent Orchestrator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" y="4049485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SS4  LLM Provider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2582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SS4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LLM Provider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" y="4911634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SS5  Prompt Cache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39497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SS5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Prompt Cache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" y="5773782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SS6  Spec Generator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411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SS6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Spec Generator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" y="6635931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SS7  Traceback Store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913325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SS7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Traceback Store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" y="7498079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SS8  CLI Bundle Emitter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350240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SS8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CLI Bundle Emitter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" y="8360228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SS9  Probe SDK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87154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SS9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Probe SDK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" y="9222377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SS10  Metrics Collector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224068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SS10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Metrics Collector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" y="10084525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SS11  Metric Store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60982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SS11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Metric Store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" y="10946674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SS12  Recommendation Engine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97897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SS12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Recommendation 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" y="11808822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SS13  Auth / Credential Vault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534811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SS13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Auth / Credential Vault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" y="12670971"/>
            <a:ext cx="3200400" cy="862148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900" b="1">
                <a:solidFill>
                  <a:srgbClr val="FBFCFC"/>
                </a:solidFill>
                <a:latin typeface="Calibri"/>
              </a:rPr>
              <a:t>SS14  Audit Log Store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71725" y="548640"/>
            <a:ext cx="1436914" cy="91440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SS14</a:t>
            </a:r>
          </a:p>
          <a:p>
            <a:pPr algn="ctr"/>
            <a:r>
              <a:rPr sz="700" b="1">
                <a:solidFill>
                  <a:srgbClr val="FBFCFC"/>
                </a:solidFill>
                <a:latin typeface="Calibri"/>
              </a:rPr>
              <a:t>Audit Log Store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1463040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28754" y="1463040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IF-01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5668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7602582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39497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10476411" y="1463040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IF-31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913325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13350240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14787154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16224068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17660982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19097897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20534811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21971725" y="1463040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2325188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IF-02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EC15,EC16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28754" y="2325188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65668" y="2325188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IF-03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EC5,EC6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602582" y="2325188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IF-09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39497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476411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1" name="Rectangle 50"/>
          <p:cNvSpPr/>
          <p:nvPr/>
        </p:nvSpPr>
        <p:spPr>
          <a:xfrm>
            <a:off x="11913325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13350240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14787154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16224068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5" name="Rectangle 54"/>
          <p:cNvSpPr/>
          <p:nvPr/>
        </p:nvSpPr>
        <p:spPr>
          <a:xfrm>
            <a:off x="17660982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19097897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7" name="Rectangle 56"/>
          <p:cNvSpPr/>
          <p:nvPr/>
        </p:nvSpPr>
        <p:spPr>
          <a:xfrm>
            <a:off x="20534811" y="2325188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IF-28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EC17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971725" y="232518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3291840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60" name="Rectangle 59"/>
          <p:cNvSpPr/>
          <p:nvPr/>
        </p:nvSpPr>
        <p:spPr>
          <a:xfrm>
            <a:off x="4728754" y="3187337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IF-04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EC6,EC8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65668" y="3187337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02582" y="3187337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IF-07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EC8,EC5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39497" y="3187337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IF-05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76411" y="3187337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IF-11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EC12,EC13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913325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13350240" y="3187337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IF-15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EC14,EC12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787154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16224068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69" name="Rectangle 68"/>
          <p:cNvSpPr/>
          <p:nvPr/>
        </p:nvSpPr>
        <p:spPr>
          <a:xfrm>
            <a:off x="17660982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0" name="Rectangle 69"/>
          <p:cNvSpPr/>
          <p:nvPr/>
        </p:nvSpPr>
        <p:spPr>
          <a:xfrm>
            <a:off x="19097897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20534811" y="318733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21971725" y="3187337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IF-24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EC18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91840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4" name="Rectangle 73"/>
          <p:cNvSpPr/>
          <p:nvPr/>
        </p:nvSpPr>
        <p:spPr>
          <a:xfrm>
            <a:off x="4728754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6165668" y="4049485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IF-08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EC8,EC16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602582" y="4049485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SS4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039497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10476411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79" name="Rectangle 78"/>
          <p:cNvSpPr/>
          <p:nvPr/>
        </p:nvSpPr>
        <p:spPr>
          <a:xfrm>
            <a:off x="11913325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13350240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1" name="Rectangle 80"/>
          <p:cNvSpPr/>
          <p:nvPr/>
        </p:nvSpPr>
        <p:spPr>
          <a:xfrm>
            <a:off x="14787154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16224068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3" name="Rectangle 82"/>
          <p:cNvSpPr/>
          <p:nvPr/>
        </p:nvSpPr>
        <p:spPr>
          <a:xfrm>
            <a:off x="17660982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19097897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5" name="Rectangle 84"/>
          <p:cNvSpPr/>
          <p:nvPr/>
        </p:nvSpPr>
        <p:spPr>
          <a:xfrm>
            <a:off x="20534811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21971725" y="404948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7" name="Rectangle 86"/>
          <p:cNvSpPr/>
          <p:nvPr/>
        </p:nvSpPr>
        <p:spPr>
          <a:xfrm>
            <a:off x="3291840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4728754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9" name="Rectangle 88"/>
          <p:cNvSpPr/>
          <p:nvPr/>
        </p:nvSpPr>
        <p:spPr>
          <a:xfrm>
            <a:off x="6165668" y="4911634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IF-06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602582" y="4911634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IF-10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EC7,EC8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039497" y="4911634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476411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3" name="Rectangle 92"/>
          <p:cNvSpPr/>
          <p:nvPr/>
        </p:nvSpPr>
        <p:spPr>
          <a:xfrm>
            <a:off x="11913325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13350240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5" name="Rectangle 94"/>
          <p:cNvSpPr/>
          <p:nvPr/>
        </p:nvSpPr>
        <p:spPr>
          <a:xfrm>
            <a:off x="14787154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16224068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7" name="Rectangle 96"/>
          <p:cNvSpPr/>
          <p:nvPr/>
        </p:nvSpPr>
        <p:spPr>
          <a:xfrm>
            <a:off x="17660982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19097897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99" name="Rectangle 98"/>
          <p:cNvSpPr/>
          <p:nvPr/>
        </p:nvSpPr>
        <p:spPr>
          <a:xfrm>
            <a:off x="20534811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21971725" y="491163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1" name="Rectangle 100"/>
          <p:cNvSpPr/>
          <p:nvPr/>
        </p:nvSpPr>
        <p:spPr>
          <a:xfrm>
            <a:off x="3291840" y="5773782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IF-32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EC13,EC12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728754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3" name="Rectangle 102"/>
          <p:cNvSpPr/>
          <p:nvPr/>
        </p:nvSpPr>
        <p:spPr>
          <a:xfrm>
            <a:off x="6165668" y="5773782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IF-12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EC10,EC12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602582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5" name="Rectangle 104"/>
          <p:cNvSpPr/>
          <p:nvPr/>
        </p:nvSpPr>
        <p:spPr>
          <a:xfrm>
            <a:off x="9039497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10476411" y="5773782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1913325" y="5773782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IF-13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3350240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09" name="Rectangle 108"/>
          <p:cNvSpPr/>
          <p:nvPr/>
        </p:nvSpPr>
        <p:spPr>
          <a:xfrm>
            <a:off x="14787154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16224068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17660982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19097897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3" name="Rectangle 112"/>
          <p:cNvSpPr/>
          <p:nvPr/>
        </p:nvSpPr>
        <p:spPr>
          <a:xfrm>
            <a:off x="20534811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21971725" y="577378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5" name="Rectangle 114"/>
          <p:cNvSpPr/>
          <p:nvPr/>
        </p:nvSpPr>
        <p:spPr>
          <a:xfrm>
            <a:off x="3291840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4728754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7" name="Rectangle 116"/>
          <p:cNvSpPr/>
          <p:nvPr/>
        </p:nvSpPr>
        <p:spPr>
          <a:xfrm>
            <a:off x="6165668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7602582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9" name="Rectangle 118"/>
          <p:cNvSpPr/>
          <p:nvPr/>
        </p:nvSpPr>
        <p:spPr>
          <a:xfrm>
            <a:off x="9039497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10476411" y="6635931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IF-14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EC9,EC10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1913325" y="6635931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3350240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3" name="Rectangle 122"/>
          <p:cNvSpPr/>
          <p:nvPr/>
        </p:nvSpPr>
        <p:spPr>
          <a:xfrm>
            <a:off x="14787154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16224068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5" name="Rectangle 124"/>
          <p:cNvSpPr/>
          <p:nvPr/>
        </p:nvSpPr>
        <p:spPr>
          <a:xfrm>
            <a:off x="17660982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19097897" y="6635931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IF-22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EC9,EC10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0534811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1971725" y="663593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29" name="Rectangle 128"/>
          <p:cNvSpPr/>
          <p:nvPr/>
        </p:nvSpPr>
        <p:spPr>
          <a:xfrm>
            <a:off x="3291840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4728754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1" name="Rectangle 130"/>
          <p:cNvSpPr/>
          <p:nvPr/>
        </p:nvSpPr>
        <p:spPr>
          <a:xfrm>
            <a:off x="6165668" y="7498079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IF-16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602582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3" name="Rectangle 132"/>
          <p:cNvSpPr/>
          <p:nvPr/>
        </p:nvSpPr>
        <p:spPr>
          <a:xfrm>
            <a:off x="9039497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10476411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5" name="Rectangle 134"/>
          <p:cNvSpPr/>
          <p:nvPr/>
        </p:nvSpPr>
        <p:spPr>
          <a:xfrm>
            <a:off x="11913325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13350240" y="7498079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787154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16224068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39" name="Rectangle 138"/>
          <p:cNvSpPr/>
          <p:nvPr/>
        </p:nvSpPr>
        <p:spPr>
          <a:xfrm>
            <a:off x="17660982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19097897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1" name="Rectangle 140"/>
          <p:cNvSpPr/>
          <p:nvPr/>
        </p:nvSpPr>
        <p:spPr>
          <a:xfrm>
            <a:off x="20534811" y="7498079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21971725" y="7498079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IF-25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EC18,EC14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291840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728754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5" name="Rectangle 144"/>
          <p:cNvSpPr/>
          <p:nvPr/>
        </p:nvSpPr>
        <p:spPr>
          <a:xfrm>
            <a:off x="6165668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7602582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7" name="Rectangle 146"/>
          <p:cNvSpPr/>
          <p:nvPr/>
        </p:nvSpPr>
        <p:spPr>
          <a:xfrm>
            <a:off x="9039497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10476411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9" name="Rectangle 148"/>
          <p:cNvSpPr/>
          <p:nvPr/>
        </p:nvSpPr>
        <p:spPr>
          <a:xfrm>
            <a:off x="11913325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13350240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1" name="Rectangle 150"/>
          <p:cNvSpPr/>
          <p:nvPr/>
        </p:nvSpPr>
        <p:spPr>
          <a:xfrm>
            <a:off x="14787154" y="8360228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SS9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6224068" y="8360228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IF-17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EC1,EC3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7660982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19097897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5" name="Rectangle 154"/>
          <p:cNvSpPr/>
          <p:nvPr/>
        </p:nvSpPr>
        <p:spPr>
          <a:xfrm>
            <a:off x="20534811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21971725" y="8360228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7" name="Rectangle 156"/>
          <p:cNvSpPr/>
          <p:nvPr/>
        </p:nvSpPr>
        <p:spPr>
          <a:xfrm>
            <a:off x="3291840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4728754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59" name="Rectangle 158"/>
          <p:cNvSpPr/>
          <p:nvPr/>
        </p:nvSpPr>
        <p:spPr>
          <a:xfrm>
            <a:off x="6165668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7602582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1" name="Rectangle 160"/>
          <p:cNvSpPr/>
          <p:nvPr/>
        </p:nvSpPr>
        <p:spPr>
          <a:xfrm>
            <a:off x="9039497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10476411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3" name="Rectangle 162"/>
          <p:cNvSpPr/>
          <p:nvPr/>
        </p:nvSpPr>
        <p:spPr>
          <a:xfrm>
            <a:off x="11913325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13350240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5" name="Rectangle 164"/>
          <p:cNvSpPr/>
          <p:nvPr/>
        </p:nvSpPr>
        <p:spPr>
          <a:xfrm>
            <a:off x="14787154" y="9222377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IF-18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EC1,EC3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16224068" y="9222377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SS10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7660982" y="9222377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IF-19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9097897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69" name="Rectangle 168"/>
          <p:cNvSpPr/>
          <p:nvPr/>
        </p:nvSpPr>
        <p:spPr>
          <a:xfrm>
            <a:off x="20534811" y="9222377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21971725" y="9222377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IF-26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EC18,EC1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291840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4728754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3" name="Rectangle 172"/>
          <p:cNvSpPr/>
          <p:nvPr/>
        </p:nvSpPr>
        <p:spPr>
          <a:xfrm>
            <a:off x="6165668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7602582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5" name="Rectangle 174"/>
          <p:cNvSpPr/>
          <p:nvPr/>
        </p:nvSpPr>
        <p:spPr>
          <a:xfrm>
            <a:off x="9039497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10476411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7" name="Rectangle 176"/>
          <p:cNvSpPr/>
          <p:nvPr/>
        </p:nvSpPr>
        <p:spPr>
          <a:xfrm>
            <a:off x="11913325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13350240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9" name="Rectangle 178"/>
          <p:cNvSpPr/>
          <p:nvPr/>
        </p:nvSpPr>
        <p:spPr>
          <a:xfrm>
            <a:off x="14787154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16224068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1" name="Rectangle 180"/>
          <p:cNvSpPr/>
          <p:nvPr/>
        </p:nvSpPr>
        <p:spPr>
          <a:xfrm>
            <a:off x="17660982" y="10084525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SS11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9097897" y="10084525"/>
            <a:ext cx="1436914" cy="862148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IF-20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EC2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20534811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21971725" y="10084525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5" name="Rectangle 184"/>
          <p:cNvSpPr/>
          <p:nvPr/>
        </p:nvSpPr>
        <p:spPr>
          <a:xfrm>
            <a:off x="3291840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4728754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7" name="Rectangle 186"/>
          <p:cNvSpPr/>
          <p:nvPr/>
        </p:nvSpPr>
        <p:spPr>
          <a:xfrm>
            <a:off x="6165668" y="10946674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IF-23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EC10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7602582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89" name="Rectangle 188"/>
          <p:cNvSpPr/>
          <p:nvPr/>
        </p:nvSpPr>
        <p:spPr>
          <a:xfrm>
            <a:off x="9039497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10476411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1" name="Rectangle 190"/>
          <p:cNvSpPr/>
          <p:nvPr/>
        </p:nvSpPr>
        <p:spPr>
          <a:xfrm>
            <a:off x="11913325" y="10946674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IF-21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EC9,EC10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3350240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3" name="Rectangle 192"/>
          <p:cNvSpPr/>
          <p:nvPr/>
        </p:nvSpPr>
        <p:spPr>
          <a:xfrm>
            <a:off x="14787154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4" name="Rectangle 193"/>
          <p:cNvSpPr/>
          <p:nvPr/>
        </p:nvSpPr>
        <p:spPr>
          <a:xfrm>
            <a:off x="16224068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5" name="Rectangle 194"/>
          <p:cNvSpPr/>
          <p:nvPr/>
        </p:nvSpPr>
        <p:spPr>
          <a:xfrm>
            <a:off x="17660982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6" name="Rectangle 195"/>
          <p:cNvSpPr/>
          <p:nvPr/>
        </p:nvSpPr>
        <p:spPr>
          <a:xfrm>
            <a:off x="19097897" y="10946674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SS12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20534811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8" name="Rectangle 197"/>
          <p:cNvSpPr/>
          <p:nvPr/>
        </p:nvSpPr>
        <p:spPr>
          <a:xfrm>
            <a:off x="21971725" y="10946674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99" name="Rectangle 198"/>
          <p:cNvSpPr/>
          <p:nvPr/>
        </p:nvSpPr>
        <p:spPr>
          <a:xfrm>
            <a:off x="3291840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0" name="Rectangle 199"/>
          <p:cNvSpPr/>
          <p:nvPr/>
        </p:nvSpPr>
        <p:spPr>
          <a:xfrm>
            <a:off x="4728754" y="11808822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IF-27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EC17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165668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2" name="Rectangle 201"/>
          <p:cNvSpPr/>
          <p:nvPr/>
        </p:nvSpPr>
        <p:spPr>
          <a:xfrm>
            <a:off x="7602582" y="11808822"/>
            <a:ext cx="1436914" cy="862148"/>
          </a:xfrm>
          <a:prstGeom prst="rect">
            <a:avLst/>
          </a:prstGeom>
          <a:solidFill>
            <a:srgbClr val="FAC86E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IF-29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EC17,EC5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9039497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4" name="Rectangle 203"/>
          <p:cNvSpPr/>
          <p:nvPr/>
        </p:nvSpPr>
        <p:spPr>
          <a:xfrm>
            <a:off x="10476411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5" name="Rectangle 204"/>
          <p:cNvSpPr/>
          <p:nvPr/>
        </p:nvSpPr>
        <p:spPr>
          <a:xfrm>
            <a:off x="11913325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6" name="Rectangle 205"/>
          <p:cNvSpPr/>
          <p:nvPr/>
        </p:nvSpPr>
        <p:spPr>
          <a:xfrm>
            <a:off x="13350240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7" name="Rectangle 206"/>
          <p:cNvSpPr/>
          <p:nvPr/>
        </p:nvSpPr>
        <p:spPr>
          <a:xfrm>
            <a:off x="14787154" y="11808822"/>
            <a:ext cx="1436914" cy="862148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IF-30</a:t>
            </a:r>
          </a:p>
          <a:p>
            <a:pPr algn="ctr"/>
            <a:r>
              <a:rPr sz="700" b="1">
                <a:solidFill>
                  <a:srgbClr val="0B2C29"/>
                </a:solidFill>
                <a:latin typeface="Calibri"/>
              </a:rPr>
              <a:t>EC17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16224068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09" name="Rectangle 208"/>
          <p:cNvSpPr/>
          <p:nvPr/>
        </p:nvSpPr>
        <p:spPr>
          <a:xfrm>
            <a:off x="17660982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0" name="Rectangle 209"/>
          <p:cNvSpPr/>
          <p:nvPr/>
        </p:nvSpPr>
        <p:spPr>
          <a:xfrm>
            <a:off x="19097897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1" name="Rectangle 210"/>
          <p:cNvSpPr/>
          <p:nvPr/>
        </p:nvSpPr>
        <p:spPr>
          <a:xfrm>
            <a:off x="20534811" y="11808822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SS13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21971725" y="11808822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3" name="Rectangle 212"/>
          <p:cNvSpPr/>
          <p:nvPr/>
        </p:nvSpPr>
        <p:spPr>
          <a:xfrm>
            <a:off x="3291840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4" name="Rectangle 213"/>
          <p:cNvSpPr/>
          <p:nvPr/>
        </p:nvSpPr>
        <p:spPr>
          <a:xfrm>
            <a:off x="4728754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5" name="Rectangle 214"/>
          <p:cNvSpPr/>
          <p:nvPr/>
        </p:nvSpPr>
        <p:spPr>
          <a:xfrm>
            <a:off x="6165668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6" name="Rectangle 215"/>
          <p:cNvSpPr/>
          <p:nvPr/>
        </p:nvSpPr>
        <p:spPr>
          <a:xfrm>
            <a:off x="7602582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7" name="Rectangle 216"/>
          <p:cNvSpPr/>
          <p:nvPr/>
        </p:nvSpPr>
        <p:spPr>
          <a:xfrm>
            <a:off x="9039497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8" name="Rectangle 217"/>
          <p:cNvSpPr/>
          <p:nvPr/>
        </p:nvSpPr>
        <p:spPr>
          <a:xfrm>
            <a:off x="10476411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9" name="Rectangle 218"/>
          <p:cNvSpPr/>
          <p:nvPr/>
        </p:nvSpPr>
        <p:spPr>
          <a:xfrm>
            <a:off x="11913325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0" name="Rectangle 219"/>
          <p:cNvSpPr/>
          <p:nvPr/>
        </p:nvSpPr>
        <p:spPr>
          <a:xfrm>
            <a:off x="13350240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1" name="Rectangle 220"/>
          <p:cNvSpPr/>
          <p:nvPr/>
        </p:nvSpPr>
        <p:spPr>
          <a:xfrm>
            <a:off x="14787154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2" name="Rectangle 221"/>
          <p:cNvSpPr/>
          <p:nvPr/>
        </p:nvSpPr>
        <p:spPr>
          <a:xfrm>
            <a:off x="16224068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3" name="Rectangle 222"/>
          <p:cNvSpPr/>
          <p:nvPr/>
        </p:nvSpPr>
        <p:spPr>
          <a:xfrm>
            <a:off x="17660982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4" name="Rectangle 223"/>
          <p:cNvSpPr/>
          <p:nvPr/>
        </p:nvSpPr>
        <p:spPr>
          <a:xfrm>
            <a:off x="19097897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5" name="Rectangle 224"/>
          <p:cNvSpPr/>
          <p:nvPr/>
        </p:nvSpPr>
        <p:spPr>
          <a:xfrm>
            <a:off x="20534811" y="12670971"/>
            <a:ext cx="1436914" cy="862148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26" name="Rectangle 225"/>
          <p:cNvSpPr/>
          <p:nvPr/>
        </p:nvSpPr>
        <p:spPr>
          <a:xfrm>
            <a:off x="21971725" y="12670971"/>
            <a:ext cx="1436914" cy="862148"/>
          </a:xfrm>
          <a:prstGeom prst="rect">
            <a:avLst/>
          </a:prstGeom>
          <a:solidFill>
            <a:srgbClr val="0B2C29"/>
          </a:solidFill>
          <a:ln w="19050">
            <a:solidFill>
              <a:srgbClr val="FBF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18F01"/>
                </a:solidFill>
                <a:latin typeface="Calibri"/>
              </a:rPr>
              <a:t>SS14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4356080" y="1536192"/>
            <a:ext cx="8046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BFCFC"/>
                </a:solidFill>
                <a:latin typeface="Calibri"/>
              </a:rPr>
              <a:t>▲ UPPER triangle — forward flow (request)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3383280" y="13185647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BFCFC"/>
                </a:solidFill>
                <a:latin typeface="Calibri"/>
              </a:rPr>
              <a:t>▼ LOWER triangle — feedback (response/return)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65760" y="1389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C29"/>
                </a:solidFill>
                <a:latin typeface="Calibri"/>
              </a:rPr>
              <a:t>Criticality (cell fill)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365760" y="14191488"/>
            <a:ext cx="320040" cy="256032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49808" y="1419148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1828800" y="14191488"/>
            <a:ext cx="320040" cy="256032"/>
          </a:xfrm>
          <a:prstGeom prst="rect">
            <a:avLst/>
          </a:prstGeom>
          <a:solidFill>
            <a:srgbClr val="FAC86E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2212848" y="1419148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3291840" y="14191488"/>
            <a:ext cx="320040" cy="256032"/>
          </a:xfrm>
          <a:prstGeom prst="rect">
            <a:avLst/>
          </a:prstGeom>
          <a:solidFill>
            <a:srgbClr val="5C9EC7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3675888" y="1419148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4754880" y="14191488"/>
            <a:ext cx="320040" cy="256032"/>
          </a:xfrm>
          <a:prstGeom prst="rect">
            <a:avLst/>
          </a:prstGeom>
          <a:solidFill>
            <a:srgbClr val="BDD6E8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5138928" y="1419148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2C29"/>
                </a:solidFill>
                <a:latin typeface="Calibri"/>
              </a:rPr>
              <a:t>low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23774400" y="1389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C29"/>
                </a:solidFill>
                <a:latin typeface="Calibri"/>
              </a:rPr>
              <a:t>Grid totals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23774400" y="14191488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7070"/>
                </a:solidFill>
                <a:latin typeface="Calibri"/>
              </a:rPr>
              <a:t>subsystems: 14</a:t>
            </a:r>
          </a:p>
          <a:p>
            <a:pPr algn="l"/>
            <a:r>
              <a:rPr sz="900" b="0" i="0">
                <a:solidFill>
                  <a:srgbClr val="707070"/>
                </a:solidFill>
                <a:latin typeface="Calibri"/>
              </a:rPr>
              <a:t>internal IFs: 32</a:t>
            </a:r>
          </a:p>
          <a:p>
            <a:pPr algn="l"/>
            <a:r>
              <a:rPr sz="900" b="0" i="0">
                <a:solidFill>
                  <a:srgbClr val="707070"/>
                </a:solidFill>
                <a:latin typeface="Calibri"/>
              </a:rPr>
              <a:t>external IFs: 10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N2 Chart — Interface Cell Detail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Every non-zero cell · from → to · data summary · EC budget drivers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234440"/>
            <a:ext cx="109728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IF</a:t>
            </a:r>
          </a:p>
        </p:txBody>
      </p:sp>
      <p:sp>
        <p:nvSpPr>
          <p:cNvPr id="4" name="Rectangle 3"/>
          <p:cNvSpPr/>
          <p:nvPr/>
        </p:nvSpPr>
        <p:spPr>
          <a:xfrm>
            <a:off x="1463040" y="1234440"/>
            <a:ext cx="182880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from → to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234440"/>
            <a:ext cx="868680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data / EC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0" y="1234440"/>
            <a:ext cx="164592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crit</a:t>
            </a:r>
          </a:p>
        </p:txBody>
      </p:sp>
      <p:sp>
        <p:nvSpPr>
          <p:cNvPr id="7" name="Rectangle 6"/>
          <p:cNvSpPr/>
          <p:nvPr/>
        </p:nvSpPr>
        <p:spPr>
          <a:xfrm>
            <a:off x="13898880" y="1234440"/>
            <a:ext cx="109728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14996159" y="1234440"/>
            <a:ext cx="182880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from → to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0" y="1234440"/>
            <a:ext cx="868680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data / EC drivers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11760" y="1234440"/>
            <a:ext cx="1645920" cy="83439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BFCFC"/>
                </a:solidFill>
                <a:latin typeface="Calibri"/>
              </a:rPr>
              <a:t>crit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6883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06883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 → SS2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06883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Founder auth + mode select · EC15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978640" y="206883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90322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90322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SS2 → SS1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90322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Session state + UI stream · EC15,EC16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978640" y="290322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3761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373761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SS2 → SS3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3761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Dispatch request (locked mode) · EC5,EC6,EC8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978640" y="373761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7200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457200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57200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Agent run state · EC6,EC8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978640" y="457200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0639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40639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540639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Cache lookup · EC7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978640" y="540639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24077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63040" y="624077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SS5 → SS3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624077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Cache hit/miss response · EC7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978640" y="6240779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707517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63040" y="707517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91840" y="707517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LLM call · EC8,EC5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978640" y="707517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790956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63040" y="790956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SS4 → SS3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40" y="790956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Completion / tool calls · EC8,EC16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978640" y="790956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874395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IF-09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63040" y="874395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SS2 → SS4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874395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Routing policy write · EC5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978640" y="874395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957834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63040" y="957834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SS5 → SS4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0" y="957834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Cache-assisted call · EC7,EC8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978640" y="957834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1041273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63040" y="1041273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1840" y="1041273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Generate spec request · EC12,EC13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978640" y="1041273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1124711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63040" y="1124711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SS6 → SS3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91840" y="1124711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Spec draft + review signal · EC10,EC12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978640" y="11247119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1208150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63040" y="1208150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SS6 → SS7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91840" y="1208150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Citation check request · EC10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978640" y="12081509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291590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63040" y="1291590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SS7 → SS6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91840" y="1291590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Traced citations · EC9,EC10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978640" y="1291590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1375029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63040" y="1375029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291840" y="1375029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Emit CLI bundle · EC14,EC12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1978640" y="1375029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1458468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463040" y="1458468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SS8 → SS3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91840" y="1458468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Emit receipt + signature · EC14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1978640" y="1458468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898880" y="206883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4996159" y="206883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SS9 → SS10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6824960" y="206883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Probe payload · EC1,EC3,EC4,EC2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5511760" y="206883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3898880" y="290322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IF-18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4996159" y="290322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SS10 → SS9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6824960" y="290322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Backpressure + config · EC1,EC3,EC4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5511760" y="290322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898880" y="373761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IF-19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4996159" y="373761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SS10 → SS11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373761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Aggregated write · EC2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5511760" y="373761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898880" y="457200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4996159" y="457200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SS11 → SS12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6824960" y="457200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Metric read + deviation · EC2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511760" y="457200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898880" y="540639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996159" y="540639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SS12 → SS7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6824960" y="540639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Citation lookup for recs · EC9,EC10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5511760" y="540639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3898880" y="624077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4996159" y="624077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SS7 → SS12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6824960" y="624077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Cited refs for recs · EC9,EC10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5511760" y="6240779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898880" y="707517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4996159" y="707517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SS12 → SS3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6824960" y="707517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Recommendation feed-back · EC10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5511760" y="707517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3898880" y="790956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4996159" y="790956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SS3 → SS14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6824960" y="790956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Audit log write · EC18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5511760" y="790956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898880" y="874395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4996159" y="874395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SS8 → SS14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6824960" y="874395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CLI emission audit · EC18,EC14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5511760" y="874395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3898880" y="957834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4996159" y="957834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SS10 → SS14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6824960" y="957834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Probe rejection audit · EC18,EC1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25511760" y="957834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3898880" y="1041273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996159" y="1041273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SS13 → SS2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6824960" y="1041273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Session token issue · EC17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5511760" y="1041273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3898880" y="1124711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IF-28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4996159" y="1124711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SS2 → SS13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6824960" y="1124711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Token refresh / rotate · EC17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5511760" y="11247119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898880" y="12081509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IF-29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4996159" y="12081509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SS13 → SS4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6824960" y="12081509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Provider credentials · EC17,EC5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5511760" y="12081509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3898880" y="1291590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IF-30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4996159" y="1291590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SS13 → SS9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6824960" y="1291590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Probe credentials · EC17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5511760" y="12915900"/>
            <a:ext cx="1645920" cy="834390"/>
          </a:xfrm>
          <a:prstGeom prst="rect">
            <a:avLst/>
          </a:prstGeom>
          <a:solidFill>
            <a:srgbClr val="F18F01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critical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3898880" y="1375029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IF-31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4996159" y="1375029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SS1 → SS6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6824960" y="1375029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Spec review approvals · EC13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5511760" y="13750290"/>
            <a:ext cx="1645920" cy="834390"/>
          </a:xfrm>
          <a:prstGeom prst="rect">
            <a:avLst/>
          </a:prstGeom>
          <a:solidFill>
            <a:srgbClr val="FAC86E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high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3898880" y="14584680"/>
            <a:ext cx="109728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1">
                <a:solidFill>
                  <a:srgbClr val="0B2C29"/>
                </a:solidFill>
                <a:latin typeface="Calibri"/>
              </a:rPr>
              <a:t>IF-32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4996159" y="14584680"/>
            <a:ext cx="1828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SS6 → SS1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6824960" y="14584680"/>
            <a:ext cx="868680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700" b="0">
                <a:solidFill>
                  <a:srgbClr val="0B2C29"/>
                </a:solidFill>
                <a:latin typeface="Calibri"/>
              </a:rPr>
              <a:t>Spec preview render · EC13,EC12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5511760" y="14584680"/>
            <a:ext cx="1645920" cy="83439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800" b="0">
                <a:solidFill>
                  <a:srgbClr val="0B2C29"/>
                </a:solidFill>
                <a:latin typeface="Calibri"/>
              </a:rPr>
              <a:t>med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Top-Level Data Flow Diagram — c1v Dual-Mode Platform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14 subsystems (solid) · 10 external actors (dashed) · every arrow labels data + EC budget · critical flows drawn heavier + Tangerine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54480" y="5029200"/>
            <a:ext cx="24140160" cy="6949440"/>
          </a:xfrm>
          <a:prstGeom prst="roundRect">
            <a:avLst>
              <a:gd name="adj" fmla="val 4000"/>
            </a:avLst>
          </a:prstGeom>
          <a:solidFill>
            <a:srgbClr val="FBFCFC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37360" y="5074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C29"/>
                </a:solidFill>
                <a:latin typeface="Calibri"/>
              </a:rPr>
              <a:t>c1v Dual-Mode Platform (boundary)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1737360" y="2606039"/>
            <a:ext cx="292608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Founders / PMs /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Engineers / Admins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Identity Providers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(OIDC / SAML)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LLM Providers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(Anthropic / OpenAI / local)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1261872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Documentation Sources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(vendor specs, RFCs)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IDE / CLI Clients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(Claude Code / Cursor)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11096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Version Control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(git / HTTPS)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037040" y="2606039"/>
            <a:ext cx="274320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CI / CD Systems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819120" y="13030200"/>
            <a:ext cx="310896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Customer Prod Systems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+ Observability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3030200"/>
            <a:ext cx="292608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Cloud Providers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(AWS / GCP / Azure)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93840" y="13030200"/>
            <a:ext cx="3108960" cy="100584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Compliance Frameworks</a:t>
            </a:r>
          </a:p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(SOC2/HIPAA/GDPR)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7680960"/>
            <a:ext cx="2377440" cy="1097280"/>
          </a:xfrm>
          <a:prstGeom prst="rect">
            <a:avLst/>
          </a:prstGeom>
          <a:solidFill>
            <a:srgbClr val="5C9EC7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SS1  Founder Web 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5852160"/>
            <a:ext cx="2377440" cy="1097280"/>
          </a:xfrm>
          <a:prstGeom prst="rect">
            <a:avLst/>
          </a:prstGeom>
          <a:solidFill>
            <a:srgbClr val="0B2C29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SS2  Session Manager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mode: cloud / 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9509760"/>
            <a:ext cx="2377440" cy="1097280"/>
          </a:xfrm>
          <a:prstGeom prst="rect">
            <a:avLst/>
          </a:prstGeom>
          <a:solidFill>
            <a:srgbClr val="0B2C29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SS13  Auth / Credential Vault</a:t>
            </a:r>
          </a:p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90d rotation (EC17)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5760720"/>
            <a:ext cx="2560320" cy="128016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SS3  Agent Orchestrator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LangGraph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7909559"/>
            <a:ext cx="2377440" cy="1005840"/>
          </a:xfrm>
          <a:prstGeom prst="rect">
            <a:avLst/>
          </a:prstGeom>
          <a:solidFill>
            <a:srgbClr val="A6B2B0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SS5  Prompt Cache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≥70% hit target (EC7)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987552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SS4  LLM Provider 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0" y="585216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SS6  Spec Generator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Mermaid v1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0" y="7909559"/>
            <a:ext cx="2377440" cy="1005840"/>
          </a:xfrm>
          <a:prstGeom prst="rect">
            <a:avLst/>
          </a:prstGeom>
          <a:solidFill>
            <a:srgbClr val="A6B2B0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SS7  Traceback Store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TTL 24h · 7d refresh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0" y="987552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SS8  CLI Bundle Emitter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≤5 MB (EC14)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184880" y="9875520"/>
            <a:ext cx="2377440" cy="1097280"/>
          </a:xfrm>
          <a:prstGeom prst="rect">
            <a:avLst/>
          </a:prstGeom>
          <a:solidFill>
            <a:srgbClr val="A6B2B0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SS14  Audit Log Store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90d retention (EC18)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184880" y="7863840"/>
            <a:ext cx="2377440" cy="1097280"/>
          </a:xfrm>
          <a:prstGeom prst="rect">
            <a:avLst/>
          </a:prstGeom>
          <a:solidFill>
            <a:srgbClr val="E8C88B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SS9  Probe SDK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customer-side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293839" y="786384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SS10  Metrics Collector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219920" y="7909559"/>
            <a:ext cx="2377440" cy="1005840"/>
          </a:xfrm>
          <a:prstGeom prst="rect">
            <a:avLst/>
          </a:prstGeom>
          <a:solidFill>
            <a:srgbClr val="A6B2B0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SS11  Metric Store</a:t>
            </a:r>
          </a:p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60-min window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219920" y="5852160"/>
            <a:ext cx="2377440" cy="1097280"/>
          </a:xfrm>
          <a:prstGeom prst="rect">
            <a:avLst/>
          </a:prstGeom>
          <a:solidFill>
            <a:srgbClr val="F18F01"/>
          </a:solidFill>
          <a:ln w="28575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SS12  Recommendation Engine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4389120" y="6400800"/>
            <a:ext cx="822960" cy="182880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57600" y="70683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IF-01 login+mode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389120" y="6400800"/>
            <a:ext cx="822960" cy="182880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57600" y="70683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IF-02 SSE ≤50ms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00400" y="8778240"/>
            <a:ext cx="0" cy="310896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200400" y="11887200"/>
            <a:ext cx="107899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3990320" y="5852160"/>
            <a:ext cx="0" cy="603504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52360" y="116403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IF-31 approve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990320" y="6949440"/>
            <a:ext cx="0" cy="539496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3200400" y="12344400"/>
            <a:ext cx="10789920" cy="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3200400" y="8778240"/>
            <a:ext cx="0" cy="356616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452360" y="120975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IF-32 mermaid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589520" y="6400800"/>
            <a:ext cx="146304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178040" y="61539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IF-03 dispatch (mode LOCKED)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7589520" y="6400800"/>
            <a:ext cx="1463040" cy="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178040" y="61539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IF-04 run state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589520" y="6400800"/>
            <a:ext cx="182880" cy="402336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772400" y="10424160"/>
            <a:ext cx="13716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53796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IF-09 routing policy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332720" y="7040880"/>
            <a:ext cx="0" cy="868679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189720" y="722833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IF-05 lookup (EC7)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0332720" y="7040880"/>
            <a:ext cx="0" cy="868679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9189720" y="722833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IF-06 hit/miss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332720" y="8915400"/>
            <a:ext cx="0" cy="96012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189720" y="91485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IF-10 prefix reuse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1612880" y="6400800"/>
            <a:ext cx="0" cy="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1612880" y="6400800"/>
            <a:ext cx="0" cy="402336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0332720" y="9875520"/>
            <a:ext cx="1280160" cy="54864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046988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IF-07 LLM call ≤8000 tok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1521440" y="10424160"/>
            <a:ext cx="822960" cy="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2344400" y="7132320"/>
            <a:ext cx="0" cy="329184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 flipV="1">
            <a:off x="10332720" y="7040880"/>
            <a:ext cx="2011680" cy="9144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1201400" y="853135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IF-08 completion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1612880" y="6400800"/>
            <a:ext cx="11887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064240" y="61539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IF-11 gen spec (EC12/EC13)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11612880" y="6400800"/>
            <a:ext cx="118872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064240" y="61539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IF-12 draft+pending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3990320" y="6949440"/>
            <a:ext cx="0" cy="960119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2847320" y="7182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IF-13 citation check HARD floor (EC10)</a:t>
            </a:r>
          </a:p>
        </p:txBody>
      </p:sp>
      <p:cxnSp>
        <p:nvCxnSpPr>
          <p:cNvPr id="68" name="Connector 67"/>
          <p:cNvCxnSpPr/>
          <p:nvPr/>
        </p:nvCxnSpPr>
        <p:spPr>
          <a:xfrm flipV="1">
            <a:off x="13990320" y="6949440"/>
            <a:ext cx="0" cy="960119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2847320" y="7182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IF-14 citations TTL=24h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1612880" y="6400800"/>
            <a:ext cx="16459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3258800" y="6400800"/>
            <a:ext cx="0" cy="402336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12801600" y="10424160"/>
            <a:ext cx="45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211580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IF-15 emit CLI (citation gate PASS)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12801600" y="10424160"/>
            <a:ext cx="18288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2984480" y="6583680"/>
            <a:ext cx="0" cy="384048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 flipV="1">
            <a:off x="11612880" y="6400800"/>
            <a:ext cx="1371600" cy="18288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1841480" y="825703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IF-16 receipt+sig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8562320" y="8412480"/>
            <a:ext cx="731519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778508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IF-17 probe ≤6/min ≤4KB (EC1/3/4)</a:t>
            </a:r>
          </a:p>
        </p:txBody>
      </p:sp>
      <p:cxnSp>
        <p:nvCxnSpPr>
          <p:cNvPr id="80" name="Connector 79"/>
          <p:cNvCxnSpPr/>
          <p:nvPr/>
        </p:nvCxnSpPr>
        <p:spPr>
          <a:xfrm flipH="1">
            <a:off x="18562320" y="8412480"/>
            <a:ext cx="731519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778508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IF-18 backpressure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1671280" y="8412480"/>
            <a:ext cx="54864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0802600" y="81655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IF-19 aggregate 60-min (EC2)</a:t>
            </a:r>
          </a:p>
        </p:txBody>
      </p:sp>
      <p:cxnSp>
        <p:nvCxnSpPr>
          <p:cNvPr id="84" name="Connector 83"/>
          <p:cNvCxnSpPr/>
          <p:nvPr/>
        </p:nvCxnSpPr>
        <p:spPr>
          <a:xfrm flipV="1">
            <a:off x="23408640" y="6949440"/>
            <a:ext cx="0" cy="960119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22265640" y="7182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IF-20 deviation pull</a:t>
            </a:r>
          </a:p>
        </p:txBody>
      </p:sp>
      <p:cxnSp>
        <p:nvCxnSpPr>
          <p:cNvPr id="86" name="Connector 85"/>
          <p:cNvCxnSpPr/>
          <p:nvPr/>
        </p:nvCxnSpPr>
        <p:spPr>
          <a:xfrm flipH="1">
            <a:off x="15179040" y="6400800"/>
            <a:ext cx="7040880" cy="201168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7556480" y="715975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IF-21 citation lookup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5179040" y="8412480"/>
            <a:ext cx="1280160" cy="27432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16459200" y="6400800"/>
            <a:ext cx="5760720" cy="228600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14676120" y="830275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IF-22 cited refs</a:t>
            </a:r>
          </a:p>
        </p:txBody>
      </p:sp>
      <p:cxnSp>
        <p:nvCxnSpPr>
          <p:cNvPr id="91" name="Connector 90"/>
          <p:cNvCxnSpPr/>
          <p:nvPr/>
        </p:nvCxnSpPr>
        <p:spPr>
          <a:xfrm flipV="1">
            <a:off x="23408640" y="5303520"/>
            <a:ext cx="0" cy="5486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12801600" y="5303520"/>
            <a:ext cx="1060704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11612880" y="5303520"/>
            <a:ext cx="1188720" cy="109728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6962120" y="505663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IF-23 rec → next spec (F.6→F.2)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0332720" y="7040880"/>
            <a:ext cx="0" cy="448056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0332720" y="11521440"/>
            <a:ext cx="7040880" cy="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17373600" y="9875520"/>
            <a:ext cx="0" cy="164592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2710160" y="1127455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IF-24 audit orchestration (EC18 90d)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5179040" y="10424160"/>
            <a:ext cx="100584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4538959" y="101772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IF-25 CLI emit audit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0482560" y="8961119"/>
            <a:ext cx="0" cy="3291841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H="1">
            <a:off x="17373600" y="12252960"/>
            <a:ext cx="3108960" cy="0"/>
          </a:xfrm>
          <a:prstGeom prst="line">
            <a:avLst/>
          </a:prstGeom>
          <a:ln w="1270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17373600" y="10972800"/>
            <a:ext cx="0" cy="128016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17785080" y="120060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IF-26 rejection audit</a:t>
            </a:r>
          </a:p>
        </p:txBody>
      </p:sp>
      <p:cxnSp>
        <p:nvCxnSpPr>
          <p:cNvPr id="105" name="Connector 104"/>
          <p:cNvCxnSpPr/>
          <p:nvPr/>
        </p:nvCxnSpPr>
        <p:spPr>
          <a:xfrm flipV="1">
            <a:off x="6400800" y="6949440"/>
            <a:ext cx="0" cy="256032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5257800" y="7982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IF-27 signed JWT (EC17)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400800" y="6949440"/>
            <a:ext cx="0" cy="2560320"/>
          </a:xfrm>
          <a:prstGeom prst="line">
            <a:avLst/>
          </a:prstGeom>
          <a:ln w="12700">
            <a:solidFill>
              <a:srgbClr val="7070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5257800" y="79827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IF-28 rotate trigger (EC17)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7589520" y="10058400"/>
            <a:ext cx="109728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8686800" y="10058400"/>
            <a:ext cx="0" cy="36576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8686800" y="10424160"/>
            <a:ext cx="45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7543800" y="99943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IF-29 provider creds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7589520" y="10058400"/>
            <a:ext cx="182880" cy="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7772400" y="8412480"/>
            <a:ext cx="0" cy="1645920"/>
          </a:xfrm>
          <a:prstGeom prst="line">
            <a:avLst/>
          </a:prstGeom>
          <a:ln w="28575">
            <a:solidFill>
              <a:srgbClr val="F18F0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7772400" y="8412480"/>
            <a:ext cx="841248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6629400" y="898855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IF-30 READ-ONLY handles (write REJECT)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3200400" y="3611880"/>
            <a:ext cx="0" cy="406908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057400" y="539953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IF-EXT-01 UI events SSE (EC16)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6400800" y="3611880"/>
            <a:ext cx="0" cy="114300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6400800" y="4754880"/>
            <a:ext cx="0" cy="475488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5257800" y="393649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IF-EXT-02 OIDC/SAML read-only</a:t>
            </a:r>
          </a:p>
        </p:txBody>
      </p:sp>
      <p:cxnSp>
        <p:nvCxnSpPr>
          <p:cNvPr id="122" name="Connector 121"/>
          <p:cNvCxnSpPr/>
          <p:nvPr/>
        </p:nvCxnSpPr>
        <p:spPr>
          <a:xfrm flipV="1">
            <a:off x="10332720" y="3611880"/>
            <a:ext cx="0" cy="6263640"/>
          </a:xfrm>
          <a:prstGeom prst="line">
            <a:avLst/>
          </a:prstGeom>
          <a:ln w="28575">
            <a:solidFill>
              <a:srgbClr val="F18F01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9189720" y="64968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IF-EXT-03 prompts→completions (EC8/EC16)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10332720" y="10972800"/>
            <a:ext cx="0" cy="2057400"/>
          </a:xfrm>
          <a:prstGeom prst="line">
            <a:avLst/>
          </a:prstGeom>
          <a:ln w="12700">
            <a:solidFill>
              <a:srgbClr val="707070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9189720" y="11754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IF-EXT-09 service catalogs</a:t>
            </a:r>
          </a:p>
        </p:txBody>
      </p:sp>
      <p:cxnSp>
        <p:nvCxnSpPr>
          <p:cNvPr id="126" name="Connector 125"/>
          <p:cNvCxnSpPr/>
          <p:nvPr/>
        </p:nvCxnSpPr>
        <p:spPr>
          <a:xfrm flipV="1">
            <a:off x="13990320" y="4754880"/>
            <a:ext cx="0" cy="512064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3990320" y="4754880"/>
            <a:ext cx="649224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20482560" y="3611880"/>
            <a:ext cx="0" cy="114300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16093440" y="450799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IF-EXT-04 signed CLI bundle</a:t>
            </a:r>
          </a:p>
        </p:txBody>
      </p:sp>
      <p:cxnSp>
        <p:nvCxnSpPr>
          <p:cNvPr id="130" name="Connector 129"/>
          <p:cNvCxnSpPr/>
          <p:nvPr/>
        </p:nvCxnSpPr>
        <p:spPr>
          <a:xfrm flipV="1">
            <a:off x="13990320" y="4572000"/>
            <a:ext cx="0" cy="530352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3990320" y="4572000"/>
            <a:ext cx="338328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17373600" y="3611880"/>
            <a:ext cx="0" cy="96012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14538959" y="43251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IF-EXT-10 SKILL.md + CLAUDE.md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13990320" y="4480560"/>
            <a:ext cx="274320" cy="5394960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4264640" y="4480560"/>
            <a:ext cx="9144000" cy="0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23408640" y="3611880"/>
            <a:ext cx="0" cy="868680"/>
          </a:xfrm>
          <a:prstGeom prst="line">
            <a:avLst/>
          </a:prstGeom>
          <a:ln w="12700">
            <a:solidFill>
              <a:srgbClr val="707070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17693640" y="42336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IF-EXT-08 spec gate / hooks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3990320" y="3611880"/>
            <a:ext cx="0" cy="1143000"/>
          </a:xfrm>
          <a:prstGeom prst="line">
            <a:avLst/>
          </a:prstGeom>
          <a:ln w="19050">
            <a:solidFill>
              <a:srgbClr val="0B2C29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3990320" y="4754880"/>
            <a:ext cx="0" cy="3154679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12847320" y="3936491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IF-EXT-06 RAG retrieval refresh 7d</a:t>
            </a:r>
          </a:p>
        </p:txBody>
      </p:sp>
      <p:cxnSp>
        <p:nvCxnSpPr>
          <p:cNvPr id="141" name="Connector 140"/>
          <p:cNvCxnSpPr/>
          <p:nvPr/>
        </p:nvCxnSpPr>
        <p:spPr>
          <a:xfrm flipV="1">
            <a:off x="17373600" y="8961119"/>
            <a:ext cx="0" cy="4069081"/>
          </a:xfrm>
          <a:prstGeom prst="line">
            <a:avLst/>
          </a:prstGeom>
          <a:ln w="28575">
            <a:solidFill>
              <a:srgbClr val="F18F01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16230600" y="1074877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IF-EXT-05 read-only handles ≤2% overhead (EC1/3)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17373600" y="10972800"/>
            <a:ext cx="3474720" cy="2057400"/>
          </a:xfrm>
          <a:prstGeom prst="line">
            <a:avLst/>
          </a:prstGeom>
          <a:ln w="12700">
            <a:solidFill>
              <a:srgbClr val="707070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17967960" y="11754612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0B2C29"/>
                </a:solidFill>
                <a:latin typeface="Calibri"/>
              </a:rPr>
              <a:t>IF-EXT-07 compliance evidence (EC18)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14721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C29"/>
                </a:solidFill>
                <a:latin typeface="Calibri"/>
              </a:rPr>
              <a:t>Legend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14400" y="15014448"/>
            <a:ext cx="2560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7070"/>
                </a:solidFill>
                <a:latin typeface="Calibri"/>
              </a:rPr>
              <a:t>critical flow = Tangerine heavy   ·   high = Firefly normal   ·   med/low = grey thin   ·   solid = internal   ·   dashed = external crossing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DFD — Category Legend &amp; Critical-Path Summary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Subsystem categories · external-actor treatment · critical interfaces prioritized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C29"/>
                </a:solidFill>
                <a:latin typeface="Calibri"/>
              </a:rPr>
              <a:t>Subsystem categories (box fill)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731520" cy="640080"/>
          </a:xfrm>
          <a:prstGeom prst="rect">
            <a:avLst/>
          </a:prstGeom>
          <a:solidFill>
            <a:srgbClr val="5C9EC7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011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UI (user-facing)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13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34640"/>
            <a:ext cx="731520" cy="64008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346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Platform (session/auth)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1363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SS2, SS13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57600"/>
            <a:ext cx="731520" cy="640080"/>
          </a:xfrm>
          <a:prstGeom prst="rect">
            <a:avLst/>
          </a:prstGeom>
          <a:solidFill>
            <a:srgbClr val="F18F01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6576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Engine (compute)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59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SS3, SS4, SS6, SS8, SS10, SS12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80560"/>
            <a:ext cx="731520" cy="640080"/>
          </a:xfrm>
          <a:prstGeom prst="rect">
            <a:avLst/>
          </a:prstGeom>
          <a:solidFill>
            <a:srgbClr val="A6B2B0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480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Data (storage/cache)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8231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SS5, SS7, SS11, SS14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03520"/>
            <a:ext cx="731520" cy="640080"/>
          </a:xfrm>
          <a:prstGeom prst="rect">
            <a:avLst/>
          </a:prstGeom>
          <a:solidFill>
            <a:srgbClr val="E8C88B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303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External SS (in customer)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605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SS9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7132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C29"/>
                </a:solidFill>
                <a:latin typeface="Calibri"/>
              </a:rPr>
              <a:t>External actor style (outside c1v boundary)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7589520"/>
            <a:ext cx="731520" cy="64008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0">
                <a:solidFill>
                  <a:srgbClr val="0B2C29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7589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2C29"/>
                </a:solidFill>
                <a:latin typeface="Calibri"/>
              </a:rPr>
              <a:t>Dashed border, porcelain fill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7909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10 external actors: founders, IdP, LLM, VCS, customer, docs, compliance, CI/CD, cloud, IDE.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0" y="146304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2C29"/>
                </a:solidFill>
                <a:latin typeface="Calibri"/>
              </a:rPr>
              <a:t>Critical interfaces (heavier + Tangerine arrows)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0" y="1965960"/>
            <a:ext cx="1280160" cy="36576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IF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538960" y="1965960"/>
            <a:ext cx="2194560" cy="36576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from → 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733520" y="1965960"/>
            <a:ext cx="5486400" cy="36576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data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219920" y="1965960"/>
            <a:ext cx="3657600" cy="365760"/>
          </a:xfrm>
          <a:prstGeom prst="rect">
            <a:avLst/>
          </a:prstGeom>
          <a:solidFill>
            <a:srgbClr val="0B2C29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EC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0" y="23317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IF-03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538960" y="23317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SS2 → SS3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733520" y="23317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Authenticated principal + LOCKED mode + intake payload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219920" y="23317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EC5, EC6, EC8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0" y="27889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538960" y="27889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SS3 → SS4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733520" y="27889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Prompt + tools + context (cache-miss only)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219920" y="27889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EC5, EC8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58800" y="32461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538960" y="32461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SS4 → SS3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733520" y="32461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Completion / tool calls / usage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219920" y="32461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EC8, EC16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0" y="37033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538960" y="37033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SS6 → SS3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733520" y="37033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Draft spec URI + pending-review flag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219920" y="37033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EC10, EC12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258800" y="41605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538960" y="41605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SS6 → SS7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6733520" y="41605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Per-claim source lookup batch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219920" y="41605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0" y="46177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538960" y="46177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SS7 → SS6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733520" y="46177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Resolved citations (TTL=24h)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2219920" y="46177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EC9, EC10, EC11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258800" y="50749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538960" y="50749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SS9 → SS10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733520" y="50749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Per-probe metric payload (batched)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219920" y="50749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EC1, EC2, EC3, EC4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0" y="55321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538960" y="55321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SS10 → SS9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733520" y="55321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Reject/backpressure + SDK config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2219920" y="55321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EC1, EC3, EC4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258800" y="5989320"/>
            <a:ext cx="12801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IF-30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4538960" y="5989320"/>
            <a:ext cx="219456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SS13 → SS9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733520" y="5989320"/>
            <a:ext cx="5486400" cy="457200"/>
          </a:xfrm>
          <a:prstGeom prst="rect">
            <a:avLst/>
          </a:prstGeom>
          <a:solidFill>
            <a:srgbClr val="FBFCFC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l"/>
            <a:r>
              <a:rPr sz="800" b="0">
                <a:solidFill>
                  <a:srgbClr val="0B2C29"/>
                </a:solidFill>
                <a:latin typeface="Calibri"/>
              </a:rPr>
              <a:t>Read-only VCS + Obs handles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219920" y="5989320"/>
            <a:ext cx="3657600" cy="457200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900" b="1">
                <a:solidFill>
                  <a:srgbClr val="0B2C29"/>
                </a:solidFill>
                <a:latin typeface="Calibri"/>
              </a:rPr>
              <a:t>EC17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SEQ-1 · Probe SDK ↔ Collector — joint tuning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Resolves EC1↔EC2 (−1) and EC2↔EC4 (−1). Contract: collector owns EC1+EC2+EC4 jointly, time-based flush fallback prevents batch-starvation.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-182879" y="2103120"/>
            <a:ext cx="2194560" cy="82296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SS9 Probe SDK</a:t>
            </a:r>
          </a:p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(customer-side)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26187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SS10 Metrics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Collector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37160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54203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SS11 Metric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Store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517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3200400"/>
            <a:ext cx="146304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IF-18 initial config push — collector owns EC1 + EC2 + EC4 jointly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914400" y="411480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5840" y="385876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cfg { probe_freq=6/min (EC1), agg_window=60 min (EC2), batch_size=50 (EC4), flush_fallback=10 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91440" y="4846320"/>
            <a:ext cx="14813280" cy="548640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-91440" y="484632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loop every probe tick (≤6/min · EC1)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548640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645920" y="548640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914400" y="580644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737360" y="546811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enqueue event (≤4 KB · EC3)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-91440" y="6675120"/>
            <a:ext cx="14813280" cy="338328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-91440" y="667512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batch=50 (EC4) / else time flush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7498079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7242047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IF-17 probe payload (batch=50)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8138160"/>
            <a:ext cx="146304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else: 60-min window elapses without batch fill (roof EC2↔EC4)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914400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888796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IF-17 TIME-BASED FLUSH (batch ≥ flush_fallback)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3716000" y="1097280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4447520" y="1097280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3716000" y="1129284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4538960" y="1095451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aggregate (60-min window · EC2)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716000" y="11795760"/>
            <a:ext cx="128016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807440" y="1153972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IF-19 aggregated write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-91440" y="12344400"/>
            <a:ext cx="14813280" cy="1554479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-91440" y="1234440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overhead violation (EC1/EC3 breach)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914400" y="1289304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05840" y="1263700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IF-18 backpressure · REJECT · cfg{probe_freq↓}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3716000" y="1353312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4447520" y="1353312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3716000" y="1385316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4538960" y="1351483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IF-26 audit probe-rejection (I.EXT.9)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SEQ-2 · Traceback cache invalidation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Resolves EC9↔EC11 (−2, STRONGEST roof negative). Intra-SS7 invalidation: fetcher-driven expiry of TTL cache on vendor-doc refresh.</a:t>
            </a:r>
          </a:p>
        </p:txBody>
      </p:sp>
      <p:sp>
        <p:nvSpPr>
          <p:cNvPr id="3" name="Rectangle 2"/>
          <p:cNvSpPr/>
          <p:nvPr/>
        </p:nvSpPr>
        <p:spPr>
          <a:xfrm>
            <a:off x="-182879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SS3 Agent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Orchestrator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179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SS6 Spec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Generator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6187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SS7.cache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(TTL 24h · EC9)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7160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90195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SS7.fetcher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(refresh 7d · EC11)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5420320" y="2103120"/>
            <a:ext cx="2194560" cy="82296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Documentation</a:t>
            </a:r>
          </a:p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Sources (I.EXT.5)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2801600" y="3200400"/>
            <a:ext cx="82296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cache and fetcher live inside SS7 — invalidation is intra-subsystem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0" y="4206240"/>
            <a:ext cx="64008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06640" y="3950207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IF-13 citation_check(claim)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754880"/>
            <a:ext cx="21214080" cy="4571999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475488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cache HIT (age &lt; 24h · EC9) / else MISS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315200" y="548640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06640" y="523036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IF-14 traced citation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716000" y="630936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3807440" y="605332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fetch(source_uri)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116800" y="694944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0208240" y="6693407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GET vendor doc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20116800" y="758952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0208240" y="733348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doc content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716000" y="822960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807440" y="797356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write(citation, fetched_at=now)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7315200" y="886968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406640" y="861364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IF-14 traced citation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0" y="9875520"/>
            <a:ext cx="18288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every 7d per source (EC11)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116800" y="1060704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0208240" y="1035100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refresh(source_uri)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20116800" y="1124712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0208240" y="1099108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new doc content (hash changed?)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710160" y="11795760"/>
            <a:ext cx="14813280" cy="219456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2710160" y="1179576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new hash / else same hash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13716000" y="12527280"/>
            <a:ext cx="64008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807440" y="1227124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INVALIDATE all entries keyed to source_uri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12984480"/>
            <a:ext cx="82296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resolves EC9↔EC11 roof (−2): stale TTL not allowed to outlive refresh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914400" y="13624560"/>
            <a:ext cx="128016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05840" y="1336852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invalidation event (for in-flight specs)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SEQ-3 · Session lock → parallel dispatch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Resolves EC5↔EC6 (−1). Synchronous IF-09 routing policy write MUST ack before IF-03 dispatch — prevents race between per-session routing and parallel agent fan-out.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-182879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 Founder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Web UI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179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SS2 Session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Manager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6187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SS13 Credential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Vault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37160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90195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SS4 LLM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Provider Layer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1168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54203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SS3 Agent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4400" y="320040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05840" y="294436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IF-01 login + mode select (cloud | local)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0" y="384048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06640" y="358444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auth principal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315200" y="448056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06640" y="422452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IF-27 signed session JWT (EC17)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5120640"/>
            <a:ext cx="18288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lock_mode(cloud | local) — pinned per session (EC5)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0" y="594360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06640" y="568756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IF-09 routing policy write (scale=2 per-session · EC5)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3716000" y="658368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3807440" y="632764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IF-29 provider credentials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315200" y="7223760"/>
            <a:ext cx="128016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06640" y="696772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ack(routing_set=true)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7863840"/>
            <a:ext cx="210312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EC5↔EC6 resolution — dispatch cannot occur before routing is confirmed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15200" y="8869680"/>
            <a:ext cx="192024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406640" y="8613648"/>
            <a:ext cx="19019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IF-03 dispatch(principal, locked_mode, intake_payload)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435304" y="8961120"/>
            <a:ext cx="164592" cy="3291839"/>
          </a:xfrm>
          <a:prstGeom prst="rect">
            <a:avLst/>
          </a:prstGeom>
          <a:solidFill>
            <a:srgbClr val="F18F01"/>
          </a:solidFill>
          <a:ln w="1270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9110960" y="9235440"/>
            <a:ext cx="8412480" cy="246888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9110960" y="923544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par  up to 5 parallel agents (EC6)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0116800" y="996696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0208240" y="971092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IF-07 LLM call · agent A (≤8000 tok · EC8)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0116800" y="1060704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0208240" y="1035100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IF-07 LLM call · agent B (≤8000 tok · EC8)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0116800" y="11247120"/>
            <a:ext cx="6400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0208240" y="1099108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IF-07 LLM call · agent C (≤8000 tok · EC8)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7315200" y="11978640"/>
            <a:ext cx="192024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406640" y="11722608"/>
            <a:ext cx="19019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IF-04 agent run state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12801600"/>
            <a:ext cx="210312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if dispatch were issued before IF-09 ack, agents could fan out to the wrong provider — the invariant BLOCKS that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37160"/>
            <a:ext cx="2679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C29"/>
                </a:solidFill>
                <a:latin typeface="Calibri"/>
              </a:rPr>
              <a:t>SEQ-4 · Citation-gated CLI emission</a:t>
            </a:r>
          </a:p>
          <a:p>
            <a:pPr algn="l"/>
            <a:r>
              <a:rPr sz="1300" i="1">
                <a:solidFill>
                  <a:srgbClr val="707070"/>
                </a:solidFill>
                <a:latin typeface="Calibri"/>
              </a:rPr>
              <a:t>EC10 HARD FLOOR — 100% citation coverage. Emission MUST NOT fire with any unresolved claim. Contract: SS6→SS7 check → SS3 review → SS8 emit/block.</a:t>
            </a:r>
          </a:p>
        </p:txBody>
      </p:sp>
      <p:sp>
        <p:nvSpPr>
          <p:cNvPr id="3" name="Rectangle 2"/>
          <p:cNvSpPr/>
          <p:nvPr/>
        </p:nvSpPr>
        <p:spPr>
          <a:xfrm>
            <a:off x="-182879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 Founder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Web UI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843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SS3 Agent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Orchestrator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181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3515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SS6 Spec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Generator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4488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126187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SS7 Traceback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Store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68859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SS8 CLI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Emitter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9832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1153120" y="2103120"/>
            <a:ext cx="2194560" cy="822960"/>
          </a:xfrm>
          <a:prstGeom prst="rect">
            <a:avLst/>
          </a:prstGeom>
          <a:solidFill>
            <a:srgbClr val="0B2C29"/>
          </a:solidFill>
          <a:ln w="19050">
            <a:solidFill>
              <a:srgbClr val="0B2C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SS14 Audit</a:t>
            </a:r>
          </a:p>
          <a:p>
            <a:pPr algn="ctr"/>
            <a:r>
              <a:rPr sz="1000" b="1">
                <a:solidFill>
                  <a:srgbClr val="FBFCFC"/>
                </a:solidFill>
                <a:latin typeface="Calibri"/>
              </a:rPr>
              <a:t>Log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2504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5420320" y="2103120"/>
            <a:ext cx="2194560" cy="822960"/>
          </a:xfrm>
          <a:prstGeom prst="rect">
            <a:avLst/>
          </a:prstGeom>
          <a:solidFill>
            <a:srgbClr val="FBFCFC"/>
          </a:solidFill>
          <a:ln w="19050">
            <a:solidFill>
              <a:srgbClr val="0B2C29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Version Control</a:t>
            </a:r>
          </a:p>
          <a:p>
            <a:pPr algn="ctr"/>
            <a:r>
              <a:rPr sz="1000" b="1">
                <a:solidFill>
                  <a:srgbClr val="0B2C29"/>
                </a:solidFill>
                <a:latin typeface="Calibri"/>
              </a:rPr>
              <a:t>(I.EXT.3)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517600" y="2926079"/>
            <a:ext cx="0" cy="11247121"/>
          </a:xfrm>
          <a:prstGeom prst="line">
            <a:avLst/>
          </a:prstGeom>
          <a:ln w="12700">
            <a:solidFill>
              <a:srgbClr val="70707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81600" y="320040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73040" y="294436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IF-11 generate spec(requirements)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48800" y="384048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80320" y="384048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448800" y="416052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71760" y="382219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draft spec (Mermaid v1 · EC12)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34400" y="4572000"/>
            <a:ext cx="6095999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EC10 HARD FLOOR — every claim must resolve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448800" y="5394960"/>
            <a:ext cx="42672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40240" y="5138928"/>
            <a:ext cx="40843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IF-13 citation_check(claims[])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9448800" y="603504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40240" y="5779007"/>
            <a:ext cx="408431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IF-14 citations[] + unresolved[]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-91440" y="6583680"/>
            <a:ext cx="27614880" cy="7406640"/>
          </a:xfrm>
          <a:prstGeom prst="rect">
            <a:avLst/>
          </a:prstGeom>
          <a:noFill/>
          <a:ln w="1905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-91440" y="6583680"/>
            <a:ext cx="1097280" cy="320040"/>
          </a:xfrm>
          <a:prstGeom prst="rect">
            <a:avLst/>
          </a:prstGeom>
          <a:solidFill>
            <a:srgbClr val="5998C5"/>
          </a:solidFill>
          <a:ln w="12700">
            <a:solidFill>
              <a:srgbClr val="5998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alt  unresolved &gt; 0 (BLOCK) / else 100% resolved (EMIT)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5181600" y="740664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273040" y="7150607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IF-12 draft · pending_review=true · citation_miss=N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181600" y="8046720"/>
            <a:ext cx="170688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273040" y="7790688"/>
            <a:ext cx="1688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IF-24 audit(citation_miss)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914400" y="868680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005840" y="843076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IF-02 'spec blocked: N unresolved citations'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7200" y="9144000"/>
            <a:ext cx="1828800" cy="457200"/>
          </a:xfrm>
          <a:prstGeom prst="rect">
            <a:avLst/>
          </a:prstGeom>
          <a:solidFill>
            <a:srgbClr val="FFF3CD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900" b="0">
                <a:solidFill>
                  <a:srgbClr val="0B2C29"/>
                </a:solidFill>
                <a:latin typeface="Calibri"/>
              </a:rPr>
              <a:t>EMISSION BLOCKED — no IF-15 fires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5181600" y="996696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273040" y="971092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IF-12 draft · pending_review=true · citations_ok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14400" y="1051560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05840" y="1025956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IF-02 render spec for approval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14400" y="11064240"/>
            <a:ext cx="85344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05840" y="10808208"/>
            <a:ext cx="835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IF-31 approve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914400" y="11612880"/>
            <a:ext cx="8534400" cy="0"/>
          </a:xfrm>
          <a:prstGeom prst="line">
            <a:avLst/>
          </a:prstGeom>
          <a:ln w="19050">
            <a:solidFill>
              <a:srgbClr val="0B2C29"/>
            </a:solidFill>
            <a:prstDash val="sys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05840" y="11356848"/>
            <a:ext cx="835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IF-32 rendered Mermaid (review)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181600" y="12161520"/>
            <a:ext cx="128016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273040" y="11905488"/>
            <a:ext cx="1261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IF-15 emit CLI bundle(spec_uri) — citation gate PASSED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7983200" y="12710160"/>
            <a:ext cx="731520" cy="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8714720" y="12710160"/>
            <a:ext cx="0" cy="320040"/>
          </a:xfrm>
          <a:prstGeom prst="line">
            <a:avLst/>
          </a:prstGeom>
          <a:ln w="19050">
            <a:solidFill>
              <a:srgbClr val="0B2C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17983200" y="13030200"/>
            <a:ext cx="73152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8806160" y="1269187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B2C29"/>
                </a:solidFill>
                <a:latin typeface="Calibri"/>
              </a:rPr>
              <a:t>package + sign (≤5 MB · EC14)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7983200" y="13258800"/>
            <a:ext cx="8534400" cy="0"/>
          </a:xfrm>
          <a:prstGeom prst="line">
            <a:avLst/>
          </a:prstGeom>
          <a:ln w="28575">
            <a:solidFill>
              <a:srgbClr val="F18F0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8074640" y="13002768"/>
            <a:ext cx="835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IF-EXT-04 signed commit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7983200" y="13807440"/>
            <a:ext cx="4267200" cy="0"/>
          </a:xfrm>
          <a:prstGeom prst="line">
            <a:avLst/>
          </a:prstGeom>
          <a:ln w="19050">
            <a:solidFill>
              <a:srgbClr val="0B2C2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8074640" y="13551408"/>
            <a:ext cx="4084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0B2C29"/>
                </a:solidFill>
                <a:latin typeface="Calibri"/>
              </a:rPr>
              <a:t>IF-25 audit(bundle_id, hash, signer, vcs_commit)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M8 — Risk / FMEA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01010"/>
                </a:solidFill>
              </a:rPr>
              <a:t>M8 — Risk / FMEA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12 early modes  /  16 residual  /  13 flagged ≥ RPN 100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FMEA Early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1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558"/>
                <a:gridCol w="4158233"/>
                <a:gridCol w="4158233"/>
                <a:gridCol w="519779"/>
                <a:gridCol w="519779"/>
                <a:gridCol w="519779"/>
                <a:gridCol w="727690"/>
              </a:tblGrid>
              <a:tr h="400929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Failure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RPN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 generation hallucinates citations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LLM completion (DE.13) drifts; no groun…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Approval fires without compliance polic…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DE.14 Compliance Policy not loaded when…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Approved spec handoff corrupts (IF.03 t…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async http-json handoff retries cause 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Adapter exceeds non-invasive overhead b…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Observability adapter polling loop uses…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Metric stream gap undetected (silent lo…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OBSERVABILITY TOOLS outage + no heartbe…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Recommendation cadence exceeds RECOMMEN…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F.6 → F.7 traceback queue saturated; no…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Traceback emits recommendation without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DE.09 catalog miss; F.7 falls back to L…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Session token replay across projects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Token scope not bound to project_id in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CLI bundle (DE.06) ships with secrets e…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F.4 emit templates interpolate credenti…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Audit event not emitted for state-mutat…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CC.R02 wrapping not applied to a new F.…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</a:tr>
              <a:tr h="400929">
                <a:tc>
                  <a:txBody>
                    <a:bodyPr/>
                    <a:lstStyle/>
                    <a:p>
                      <a:r>
                        <a:rPr sz="900"/>
                        <a:t>FM.11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Recommendation loop (DE.10 → F.2) creat…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F.2 incorporates DE.10 without version-…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</a:tr>
              <a:tr h="400932">
                <a:tc>
                  <a:txBody>
                    <a:bodyPr/>
                    <a:lstStyle/>
                    <a:p>
                      <a:r>
                        <a:rPr sz="900"/>
                        <a:t>FM.12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LLM provider outage (DE.13 unavailable)…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Single-provider dependency; no fallback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FMEA Residual (threshold ≥ 100)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48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6589"/>
                <a:gridCol w="3786359"/>
                <a:gridCol w="473294"/>
                <a:gridCol w="473294"/>
                <a:gridCol w="473294"/>
                <a:gridCol w="567953"/>
                <a:gridCol w="662612"/>
                <a:gridCol w="473294"/>
                <a:gridCol w="3786359"/>
              </a:tblGrid>
              <a:tr h="306592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Failure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RPN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wRPN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Controls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Spec generation hallucinates citation…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266.6666666666667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'FR.02',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Approval fires without compliance pol…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133.33333333333334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'FR.04',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Approved spec handoff corrupts (IF.03…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'interface_contract', 'ref': '…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Adapter exceeds non-invasive overhead…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'FR.06',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Metric stream gap undetected (silent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'FR.07',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Recommendation cadence exceeds RECOMM…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'FR.08',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Traceback emits recommendation withou…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'FR.09',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Session token replay across projects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'FR.01',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CLI bundle (DE.06) ships with secrets…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133.33333333333334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'FR.05',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Audit event not emitted for state-mut…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'FR.10',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Recommendation loop (DE.10 → F.2) cre…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'interface_contract', 'ref': '…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LLM provider outage (DE.13 unavailabl…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'FR.03', 'summa…</a:t>
                      </a:r>
                    </a:p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Primary/fallback LLM split-brain: div…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Event-bus cascade failure: IF.06 stre…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06592">
                <a:tc>
                  <a:txBody>
                    <a:bodyPr/>
                    <a:lstStyle/>
                    <a:p>
                      <a:r>
                        <a:rPr sz="900"/>
                        <a:t>FM.15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pgvector index drift: HNSW recall deg…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'form', 'ref': 'FR.09', 'summa…</a:t>
                      </a:r>
                    </a:p>
                  </a:txBody>
                  <a:tcPr/>
                </a:tc>
              </a:tr>
              <a:tr h="306608">
                <a:tc>
                  <a:txBody>
                    <a:bodyPr/>
                    <a:lstStyle/>
                    <a:p>
                      <a:r>
                        <a:rPr sz="900"/>
                        <a:t>FM.16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Vercel cold-start tax violates IF.06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{'kind': 'interface_contract', 'ref': '…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01010"/>
                </a:solidFill>
              </a:rPr>
              <a:t>Synthesis — Architecture Recommendation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01010"/>
                </a:solidFill>
              </a:rPr>
              <a:t>Synthesis — Architecture Recommendation</a:t>
            </a:r>
          </a:p>
          <a:p>
            <a:pPr algn="ctr"/>
            <a:r>
              <a:rPr sz="1800">
                <a:solidFill>
                  <a:srgbClr val="555555"/>
                </a:solidFill>
              </a:rPr>
              <a:t>Portfolio keystone — c1v self-application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01010"/>
                </a:solidFill>
              </a:rPr>
              <a:t>c1v is an AI-native PRD + system-design tool. The synthesizer recommends a Vercel-deployed Next.js front-end orchestrated by LangGraph, using Anthropic Claude Sonnet 4.5 as the spec-generation LLM and pgvector (Supabase Postgres) for retrieval. This pairing was selected from the M4 Pareto frontier (AV.01 dominates AV.02..AV.05 across cost/latency/availability) because it satisfies the 3-second p95 user-facing budget (interface_specs chain AUTHORING_SPEC_EMIT sums 2600 ms) while keeping the 100% citation-floor (NFR.01) achievable through grounded-retrieval gating. The recommendation carries 14 high-RPN residual risks from M8.b that ride alongside the architecture; each is mapped to a landed control surfaced via M5 form_function_map.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Decisions (winning alternatives)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1018"/>
                <a:gridCol w="3881018"/>
                <a:gridCol w="3881019"/>
              </a:tblGrid>
              <a:tr h="1042416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Winner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D-01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D-02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D-03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D-04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Pareto Frontier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611"/>
                <a:gridCol w="2328611"/>
                <a:gridCol w="2328611"/>
                <a:gridCol w="2328611"/>
                <a:gridCol w="2328611"/>
              </a:tblGrid>
              <a:tr h="1303020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Latency p95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</a:t>
                      </a:r>
                    </a:p>
                  </a:txBody>
                  <a:tcPr/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1000"/>
                        <a:t>★ AV.01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Claude Sonnet 4.5 + pgvector + LangGraph + Vercel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320 USD/month at 100 DAU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2600 ms p95 end-to-end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99.9 % uptime</a:t>
                      </a:r>
                    </a:p>
                  </a:txBody>
                  <a:tcPr/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1000"/>
                        <a:t>AV.02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GPT-4 Turbo + Pinecone + LangChain Chains + Cloud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378 USD/month at 100 DAU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2810 ms p95 end-to-end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99.9 % uptime</a:t>
                      </a:r>
                    </a:p>
                  </a:txBody>
                  <a:tcPr/>
                </a:tc>
              </a:tr>
              <a:tr h="1303020">
                <a:tc>
                  <a:txBody>
                    <a:bodyPr/>
                    <a:lstStyle/>
                    <a:p>
                      <a:r>
                        <a:rPr sz="1000"/>
                        <a:t>AV.03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OpenRouter federated + Weaviate self-hosted + Custom orch + Fly.io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240 USD/month at 100 DAU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3100 ms p95 end-to-end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99.5 % uptime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Top-Level Risks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1018"/>
                <a:gridCol w="3881018"/>
                <a:gridCol w="3881019"/>
              </a:tblGrid>
              <a:tr h="1042416">
                <a:tc>
                  <a:txBody>
                    <a:bodyPr/>
                    <a:lstStyle/>
                    <a:p>
                      <a:r>
                        <a:rPr b="1" sz="110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Severity / RPN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F01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high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F02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F03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>
                      <a:r>
                        <a:rPr sz="1000"/>
                        <a:t>F04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medium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Tail Latency — chain AUTHORING_SPEC_EMIT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Context Diagram</a:t>
            </a:r>
          </a:p>
        </p:txBody>
      </p:sp>
      <p:pic>
        <p:nvPicPr>
          <p:cNvPr id="3" name="Picture 2" descr="synth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Use Cases</a:t>
            </a:r>
          </a:p>
        </p:txBody>
      </p:sp>
      <p:pic>
        <p:nvPicPr>
          <p:cNvPr id="3" name="Picture 2" descr="synth-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Class Model</a:t>
            </a:r>
          </a:p>
        </p:txBody>
      </p:sp>
      <p:pic>
        <p:nvPicPr>
          <p:cNvPr id="3" name="Picture 2" descr="synth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Sequence — Authoring Spec Emit</a:t>
            </a:r>
          </a:p>
        </p:txBody>
      </p:sp>
      <p:pic>
        <p:nvPicPr>
          <p:cNvPr id="3" name="Picture 2" descr="synth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Decision Network — Winners</a:t>
            </a:r>
          </a:p>
        </p:txBody>
      </p:sp>
      <p:pic>
        <p:nvPicPr>
          <p:cNvPr id="3" name="Picture 2" descr="synth-decision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Residual Risk Flags (RPN ≥ 100, n=13)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1018"/>
                <a:gridCol w="3881018"/>
                <a:gridCol w="3881019"/>
              </a:tblGrid>
              <a:tr h="372291">
                <a:tc>
                  <a:txBody>
                    <a:bodyPr/>
                    <a:lstStyle/>
                    <a:p>
                      <a:r>
                        <a:rPr b="1" sz="1100"/>
                        <a:t>Failure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RPN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8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4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  <a:tr h="372291">
                <a:tc>
                  <a:txBody>
                    <a:bodyPr/>
                    <a:lstStyle/>
                    <a:p>
                      <a:r>
                        <a:rPr sz="1000"/>
                        <a:t>FM.15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9</a:t>
                      </a:r>
                    </a:p>
                  </a:txBody>
                  <a:tcPr/>
                </a:tc>
              </a:tr>
              <a:tr h="372297">
                <a:tc>
                  <a:txBody>
                    <a:bodyPr/>
                    <a:lstStyle/>
                    <a:p>
                      <a:r>
                        <a:rPr sz="1000"/>
                        <a:t>FM.16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House of Quality —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01010"/>
                </a:solidFill>
              </a:rPr>
              <a:t>PCs:                  6</a:t>
            </a:r>
          </a:p>
          <a:p>
            <a:pPr algn="l"/>
            <a:r>
              <a:rPr sz="1400">
                <a:solidFill>
                  <a:srgbClr val="101010"/>
                </a:solidFill>
              </a:rPr>
              <a:t>ECs:                  18</a:t>
            </a:r>
          </a:p>
          <a:p>
            <a:pPr algn="l"/>
            <a:r>
              <a:rPr sz="1400">
                <a:solidFill>
                  <a:srgbClr val="101010"/>
                </a:solidFill>
              </a:rPr>
              <a:t>Matrix nonzero:       27 / 108</a:t>
            </a:r>
          </a:p>
          <a:p>
            <a:pPr algn="l"/>
            <a:r>
              <a:rPr sz="1400">
                <a:solidFill>
                  <a:srgbClr val="101010"/>
                </a:solidFill>
              </a:rPr>
              <a:t>Sparsity:             75%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101010"/>
                </a:solidFill>
              </a:rPr>
              <a:t>Next Steps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3055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1018"/>
                <a:gridCol w="3881018"/>
                <a:gridCol w="3881019"/>
              </a:tblGrid>
              <a:tr h="1042416">
                <a:tc>
                  <a:txBody>
                    <a:bodyPr/>
                    <a:lstStyle/>
                    <a:p>
                      <a:r>
                        <a:rPr b="1" sz="11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100"/>
                        <a:t>Owner</a:t>
                      </a:r>
                    </a:p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Wire telemetry probe stack to capture per-IF p95 latencies in production for prior-refresh.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Promote 4 mitigation controls (FR.02, FR.07, FR.10, IF.04 stream) into the test plan.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Backfill kb_chunk_ids[] with real pgvector UUIDs once corpus is ingested at full scale.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1042416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Re-run synthesis quarterly; recompute inputs_hash to detect drift in upstream artifacts.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