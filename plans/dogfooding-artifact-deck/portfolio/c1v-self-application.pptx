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01010"/>
                </a:solidFill>
              </a:rPr>
              <a:t>c1v Self-Application</a:t>
            </a:r>
          </a:p>
          <a:p>
            <a:pPr algn="ctr"/>
            <a:r>
              <a:rPr sz="2200">
                <a:solidFill>
                  <a:srgbClr val="555555"/>
                </a:solidFill>
              </a:rPr>
              <a:t>Dogfooding the Methodology — M1 → M8 +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1010"/>
                </a:solidFill>
              </a:rPr>
              <a:t>M1 — Defining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1010"/>
                </a:solidFill>
              </a:rPr>
              <a:t>M2 —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Use Case Behavioral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Arial"/>
              </a:rPr>
              <a:t>System —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6 UCBDs  |  99 Requirements  |  28 Constants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UC01 — UC01 — Generate Spec from One-Sentence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UC01 — Generate Spec from One-Sentence Idea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Founder submits a one-sentence product idea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The Founder is authenticated (cross-cutting UC14).; An empty project context exists in the Founder's organization.; At least one LLM Provider is configured and credentialed for the organization.; The Founder has permission to create specs in the organization.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A validated enterprise-grade spec is committed to version-controlled storage with status 'draft' and a commit hash.; Every tech-stack recommendation in the spec is linked to a declared performance metric (availability, throughput, or latency) with a cited source, satisfying TRACEBACK_COVERAGE_PCT.; The assigned Product Managers have been notified that the spec is ready for review.; The Founder holds the spec URL and commit hash.; An audit entry records the spec creation with Founder identity, Project ID, commit hash, and timestamp.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Founder submits a one-sentence product idea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authenticate the Founder's session before accepting the idea (CC.R01).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the submitted idea prompt to the empty project context with a stable Project ID.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initiate a conversational intake session scoped to the Project ID.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present the first intake question to the Founder within FOUNDER_INTAKE_RESPONSE_BUDGET_MS of receiving the idea prompt.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Founder answers the intake question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classify the idea's domain by invoking a configured LLM Provider with the idea prompt and intake answers.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LLM Provider returns domain classification and confidence score.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loop intake questions until the intake completeness threshold INTAKE_COMPLETENESS_THRESHOLD is met.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assemble an initial scope outline (actors, use cases, constraints) from the intake transcript.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draft a tech-stack recommendation for each identified subsystem in the scope outline.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invoke the metric-traceback subroutine for every tech-stack recommendation (&lt;&lt;include&gt;&gt; UC08).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assemble the enterprise-grade spec bundle (scope, actors, use cases, traced recommendations, constants).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validate the assembled spec against the spec-shape schema and reject the assembly if validation fails.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complete the spec generation cycle within SPEC_GENERATION_TIMEOUT_SEC from the first Founder answer.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the validated spec to version-controlled storage with status 'draft' and a commit hash.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the spec creation with Founder identity, Project ID, commit hash,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Product Managers receive notification that the spec is ready for review.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notify the spec's assigned Product Managers that the spec is ready for review.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1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return the persisted spec's URL and commit hash to the Founder.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2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Founder receives the spec URL and commit hash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UC01 Requirements — UC01 — Generate Spec from One-Sentence Idea (16)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authenticate the Founder's session before accepting a submitted idea prompt.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the submitted idea prompt to the project context with a stable Project ID.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initiate a conversational intake session scoped to the Project ID.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present the first intake question to the Founder within FOUNDER_INTAKE_RESPONSE_BUDGET_MS of receiving the idea prompt.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FOUNDER_INTAKE_RESPONSE_BUDGET_MS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classify the idea's domain by invoking a configured LLM Provider with the idea prompt and the intake answers.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loop intake questions until the INTAKE_COMPLETENESS_THRESHOLD is met.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INTAKE_COMPLETENESS_THRESHOLD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assemble an initial scope outline containing actors, use cases, and constraints from the intake transcript.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draft a tech-stack recommendation for each subsystem identified in the scope outline.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invoke the metric-traceback subroutine for every tech-stack recommendation before the spec is assembled.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assemble the spec bundle from the scope outline, the traced tech-stack recommendations, and the extracted constants.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validate the assembled spec against the spec-shape schema and reject the assembly if validation fails.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complete the spec generation cycle within SPEC_GENERATION_TIMEOUT_SEC from the first Founder answer.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SPEC_GENERATION_TIMEOUT_SEC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the validated spec to version-controlled storage with status 'draft' and a commit hash.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the spec creation with Founder identity, Project ID, commit hash,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notify the spec's assigned Product Managers that the spec is ready for review.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5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UC01.R16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return the persisted spec's URL and commit hash to the Founder.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UC03 — UC03 — Review Generated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UC03 — Review Generated Spec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Product Manager navigates to the spec review queue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A spec exists in 'draft' status in the Product Manager's organization.; The Product Manager is authenticated (cross-cutting UC14).; The Product Manager holds review permission on the spec's organization.; The spec has passed UC01 validation (schema + metric traceback coverage).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The spec's status is exactly one of: approved, rejected, revisions_requested.; An audit entry records the state transition with reviewer, prior state, new state, comment count, and timestamp.; The Founder has been notified of the review decision and any attached comments.; On approve, the CLI-emission pipeline is enabled and Engineering Teams subscribed to the project are notified.; On reject or revisions_requested, the CLI-emission pipeline remains blocked.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Product Manager navigates to the spec review queue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authenticate the Product Manager's session before exposing the review queue (CC.R01).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enumerate every spec in 'draft' status that is assigned to the authenticated Product Manager's review queue.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return the spec list sorted by submission time ascending and rendered within REVIEW_QUEUE_LOAD_BUDGET_MS.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Product Manager selects a spec from the review queue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verify the Product Manager holds review permission on the selected spec's organization.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load the spec bundle including the spec document, diagrams, and constants table at the spec's committed hash.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render the loaded spec bundle in a reviewable view within SPEC_RENDER_BUDGET_MS.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Product Manager reads the rendered spec and drafts review comments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Product Manager submits each review comment anchored to a spec section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each submitted review comment with Product Manager identity, spec section anchor,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Product Manager selects a review action from {approve, reject, request_revisions}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validate that every 'request_revisions' action includes at least one review comment.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transition the spec state from 'draft' to the state implied by the review action within STATE_TRANSITION_BUDGET_MS.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the state transition with reviewer identity, prior state, new state, comment count,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Founder receives notification of the review decision and comments.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notify the spec's Founder of the review decision and attached comments.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enable the CLI-emission pipeline (&lt;&lt;extend&gt;&gt; UC04) on approve and block it on reject or request_revisions.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Engineering Teams receive notification that the spec is approved and available for CLI emission.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notify Engineering Teams subscribed to the project that the spec has transitioned to 'approved' status.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UC03 Requirements — UC03 — Review Generated Spec (13)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authenticate the Product Manager's session before exposing the review queue.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enumerate every spec in 'draft' status assigned to the authenticated Product Manager's review queue.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return the spec list sorted by submission time ascending and rendered within REVIEW_QUEUE_LOAD_BUDGET_MS.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REVIEW_QUEUE_LOAD_BUDGET_MS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verify the Product Manager holds review permission on the selected spec's organization.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load the spec bundle including the spec document, diagrams, and constants table at the spec's committed hash.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render the loaded spec bundle in a reviewable view within SPEC_RENDER_BUDGET_MS.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SPEC_RENDER_BUDGET_MS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each submitted review comment with Product Manager identity, spec section anchor,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validate that every 'request_revisions' action includes at least one review comment.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transition the spec state from 'draft' to the state implied by the review action within STATE_TRANSITION_BUDGET_MS.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STATE_TRANSITION_BUDGET_MS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the state transition with reviewer identity, prior state, new state, comment count,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notify the spec's Founder of the review decision and attached comments.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enable the CLI-emission pipeline on approve and block it on reject or revisions_requested.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5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UC03.R13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notify Engineering Teams subscribed to the project that the spec has transitioned to 'approved' status.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UC04 — UC04 — Emit CLI Commands from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UC04 — Emit CLI Commands from Spec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Engineering Team Member requests a CLI bundle for an approved spec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An approved spec exists (state 'approved' produced by UC03).; The Engineering Team Member is authenticated (cross-cutting UC14).; The Engineering Team Member holds emit permission on the spec's organization.; At least one IDE/CLI client is registered for the Engineering Team Member's account.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A signed CLI bundle containing SKILL.md, CLAUDE.md, and one MCP tool definition per interface is delivered to the Engineering Team Member's IDE/CLI client.; The signed CLI bundle is written to the spec's Version Control repository under the emission path.; The emission is recorded in the audit trail with Engineering Team Member identity, spec commit hash, bundle signature, IDE/CLI client identifier, and timestamp.; The Engineering Team Member holds the bundle location, signature, and commit hash.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requests a CLI bundle for an approved spec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authenticate the Engineering Team Member's session before accepting the emission request (CC.R01).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verify the referenced spec's status is exactly 'approved' before proceeding.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verify the Engineering Team Member holds emit permission on the spec's organization.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load the approved spec bundle at its committed hash from version-controlled storage.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generate a SKILL.md export from the spec's agent and capability sections.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generate a CLAUDE.md export from the spec's conventions and architecture sections.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generate one MCP tool definition for each interface declared in the spec's interface matrix (seed from Module 6).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package the SKILL.md, CLAUDE.md, and MCP tool definitions into a single CLI bundle.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sign the CLI bundle with the spec's commit hash and the emission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complete the CLI bundle generation within CLI_EMISSION_TIMEOUT_SEC of the emission request.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Version Control receives the signed CLI bundle and records the commit reference.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write the signed CLI bundle to the spec's Version Control repository under the emission path.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deliver the signed CLI bundle to the Engineering Team Member's registered IDE/CLI client.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IDE/CLI client acknowledges receipt of the CLI bundle with a receipt token.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require an IDE/CLI receipt token before marking the emission as delivered.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the CLI emission with Engineering Team Member identity, spec commit hash, bundle signature, IDE/CLI client identifier,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5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return the bundle location, signature, and commit hash to the Engineering Team Member.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6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receives the bundle location and signature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UC04 Requirements — UC04 — Emit CLI Commands from Spec (15)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authenticate the Engineering Team Member's session before accepting a CLI emission request.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verify the referenced spec's status is exactly 'approved' before proceeding with CLI emission.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verify the Engineering Team Member holds emit permission on the spec's organization.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load the approved spec bundle at its committed hash from version-controlled storage.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generate a SKILL.md export from the spec's agent and capability sections.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generate a CLAUDE.md export from the spec's conventions and architecture sections.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generate one MCP tool definition for each interface declared in the spec's interface matrix.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package the SKILL.md, CLAUDE.md, and MCP tool definitions into a single CLI bundle.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sign the CLI bundle with the spec's commit hash and the emission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complete CLI bundle generation within CLI_EMISSION_TIMEOUT_SEC of the emission request.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CLI_EMISSION_TIMEOUT_SEC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write the signed CLI bundle to the spec's Version Control repository under the emission path.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deliver the signed CLI bundle to the Engineering Team Member's registered IDE or CLI client.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require an IDE or CLI receipt token before marking the emission as delivered.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the CLI emission with Engineering Team Member identity, spec commit hash, bundle signature, IDE or CLI client identifier,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UC04.R15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return the bundle location, signature, and commit hash to the Engineering Team Member.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UC06 — UC06 — Recommend Design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UC06 — Recommend Design Improvements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Engineering Team Member receives the recommendation list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A spec is live (approved by UC03 and emitted to production via UC04).; A non-invasive read-only connection to Observability Tools exists (established by UC11).; The system has ingested metric samples over a sustained window of at least AGGREGATION_WINDOW_MIN.; At least one LLM Provider is configured for the organization.; The Engineering Team Member is authenticated and subscribed to the project's recommendation stream.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A ranked recommendation list bounded by MAX_RECOMMENDATIONS_PER_CYCLE is delivered to the Engineering Team Member's recommendation stream.; Every delivered recommendation is linked to its source metric deviation and source sample identifiers.; Product Managers subscribed to the project have received a recommendation cycle digest.; Every recommendation carries a persisted action state of accepted, declined, or deferred once the Engineering Team Member acts.; An audit entry records the recommendation cycle with window boundaries, counts, and timestamp.; No recommendation is written back to the customer system (read-only posture preserved in v1).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Observability Tools stream availability, throughput, and latency samples into the feedback-loop ingest (&lt;&lt;include&gt;&gt; UC05).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every ingested metric sample to the feedback-loop store with the source observability identifier and a monotonic ingest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bound the overhead of metric ingestion on the customer system to at most MAX_CUSTOMER_SYSTEM_OVERHEAD_PCT of the customer system's measured baseline resources.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aggregate persisted samples over the AGGREGATION_WINDOW_MIN window on a RECOMMENDATION_CADENCE_MIN schedule.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compare every aggregate against the spec's declared performance targets for availability, throughput, and latency.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compute a metric deviation value for every aggregate that falls outside the spec's declared target.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suppress deviations whose magnitude is below DEVIATION_SUPPRESSION_THRESHOLD to prevent noise surfacing.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query a configured LLM Provider with each unsuppressed deviation to propose candidate improvements.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link every candidate improvement to the deviating metric and its source sample identifiers.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rank candidate improvements by deviation severity and LLM-reported confidence within RECOMMENDATION_LATENCY_SEC of the cycle start.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cap the delivered recommendation list at MAX_RECOMMENDATIONS_PER_CYCLE entries.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deliver the ranked recommendation list to the Engineering Team Member's recommendation stream.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receives the recommendation list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Product Managers receive a digest of the recommendation cycle.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notify Product Managers subscribed to the project of the recommendation cycle completion.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the recommendation cycle with the window boundaries, sample count, deviation count, recommendation count,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selects an action per recommendation: accept, decline, or defer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the Engineering Team Member's action per recommendation with actor identity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surface a proactive feature candidate when a deviation indicates missing functionality (&lt;&lt;extends&gt;&gt; UC07).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refrain from writing any recommendation back to the customer system in v1 scope (read-only posture).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UC06 Requirements — UC06 — Recommend Design Improvements (16)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every ingested metric sample to the feedback-loop store with the source observability identifier and a monotonic ingest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bound the overhead of metric ingestion on the customer system to at most MAX_CUSTOMER_SYSTEM_OVERHEAD_PCT of the customer system's measured baseline resources.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MAX_CUSTOMER_SYSTEM_OVERHEAD_PCT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aggregate persisted samples over the AGGREGATION_WINDOW_MIN window on a RECOMMENDATION_CADENCE_MIN schedule.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AGGREGATION_WINDOW_MIN, RECOMMENDATION_CADENCE_MIN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compare every aggregate against the spec's declared performance targets for availability, throughput, and latency.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compute a metric deviation value for every aggregate that falls outside the spec's declared target.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suppress deviations whose magnitude is below DEVIATION_SUPPRESSION_THRESHOLD to prevent noise surfacing.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DEVIATION_SUPPRESSION_THRESHOLD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query a configured LLM Provider with each unsuppressed deviation to propose candidate improvements.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link every candidate improvement to the deviating metric and its source sample identifiers.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rank candidate improvements by deviation severity and LLM-reported confidence within RECOMMENDATION_LATENCY_SEC of the cycle start.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RECOMMENDATION_LATENCY_SEC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cap the delivered recommendation list at MAX_RECOMMENDATIONS_PER_CYCLE entries.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MAX_RECOMMENDATIONS_PER_CYCLE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deliver the ranked recommendation list to the Engineering Team Member's recommendation stream.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notify Product Managers subscribed to the project of the recommendation cycle completion.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the recommendation cycle with the window boundaries, sample count, deviation count, recommendation count,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the Engineering Team Member's action per recommendation with actor identity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37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surface a proactive feature candidate when a deviation indicates missing functionality.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5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UC06.R16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refrain from writing any recommendation back to the customer system in v1 scope.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UC08 — UC08 — Trace Tech-Stack Recommendation to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UC08 — Trace Tech-Stack Recommendation to Metric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Engineering Team Member reviews flagged recommendations and supplies an override or refinement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At least one draft tech-stack recommendation has been produced by UC01 or UC06.; The system holds authorized read access to Documentation Sources and Cloud Providers.; The declared metric vocabulary for c1v is fixed as {availability, throughput, latency}.; TRACEBACK_MIN_CONFIDENCE and TRACEBACK_COVERAGE_PCT are configured.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Every tech-stack recommendation is linked to a declared performance metric drawn from {availability, throughput, latency} with a cited external source.; Every recommendation carries a recorded traceback confidence score in the range [0.0, 1.0].; Every recommendation whose confidence is below TRACEBACK_MIN_CONFIDENCE is flagged for human review.; No spec is emitted in which fewer than TRACEBACK_COVERAGE_PCT of recommendations carry an attached traceback triple.; An audit trail row exists for every traceback event with recommendation, metric class, source citation, confidence, and timestamp.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receive a draft tech-stack recommendation from the spec generator (UC01) or recommender (UC06) with the technology name and claimed capability.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parse the recommendation to extract the technology identifier and the claimed performance capability.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classify the claimed capability into exactly one metric class drawn from {availability, throughput, latency} before querying any external source.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query Documentation Sources for published performance data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Documentation Sources return vendor specs, RFCs, and SLA statements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query Cloud Providers for baseline availability and pricing data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Cloud Providers return availability zones, regional baselines, and service-tier SLAs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resolve the recommendation to a concrete value for the classified metric using only the cited external sources.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validate that the recommendation's claimed capability is supported by at least one cited external source.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compute a traceback confidence score in the range [0.0, 1.0] for every resolved recommendation.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the traceback triple for every recommendation as {recommendation, metric_value, metric_class, source_citation, confidence, cited_at}.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flag the recommendation for human review if the confidence score is below TRACEBACK_MIN_CONFIDENCE.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reviews flagged recommendations and supplies an override or refinement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attach the recorded traceback triple to the recommendation in the spec when the confidence score meets or exceeds TRACEBACK_MIN_CONFIDENCE.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refuse to emit a spec in which fewer than TRACEBACK_COVERAGE_PCT of tech-stack recommendations carry an attached traceback triple.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every traceback event with recommendation identifier, metric class, source citation, confidence,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return the traced recommendation to the calling use case (UC01 or UC06) within TRACEBACK_LATENCY_SEC of receipt.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UC08 Requirements — UC08 — Trace Tech-Stack Recommendation to Metric (14)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receive every draft tech-stack recommendation from the spec generator or recommender with the technology name and the claimed performance capability.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parse every draft tech-stack recommendation to extract the technology identifier and the claimed performance capability.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classify the claimed capability into exactly one metric class drawn from availability, throughput, or latency before querying any external source.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query Documentation Sources for published performance data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query Cloud Providers for baseline availability and pricing data matching the technology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resolve the recommendation to a concrete value for the classified metric using only the cited external sources.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validate that every recommendation's claimed capability is supported by at least one cited external source.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compute a traceback confidence score in the range zero to one for every resolved recommendation.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the traceback triple for every recommendation with fields recommendation, metric value, metric class, source citation, confidence, and cited_at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flag a recommendation for human review when the traceback confidence score is below TRACEBACK_MIN_CONFIDENCE.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TRACEBACK_MIN_CONFIDENCE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attach the recorded traceback triple to the recommendation in the spec when the confidence score meets or exceeds TRACEBACK_MIN_CONFIDENCE.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TRACEBACK_MIN_CONFIDENCE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refuse to emit a spec in which fewer than TRACEBACK_COVERAGE_PCT of tech-stack recommendations carry an attached traceback triple.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TRACEBACK_COVERAGE_PCT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0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every traceback event with recommendation identifier, metric class, source citation, confidence,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61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UC08.R14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return every traced recommendation to the calling use case within TRACEBACK_LATENCY_SEC of receipt.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TRACEBACK_LATENCY_SEC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UCBD: UC11 — UC11 — Connect Existing Customer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411480"/>
            <a:ext cx="12008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Use Case: </a:t>
            </a:r>
            <a:r>
              <a:rPr sz="1000">
                <a:solidFill>
                  <a:srgbClr val="000000"/>
                </a:solidFill>
                <a:latin typeface="Arial"/>
              </a:rPr>
              <a:t>UC11 — Connect Existing Customer System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Primary Actor: </a:t>
            </a:r>
            <a:r>
              <a:rPr sz="1000">
                <a:solidFill>
                  <a:srgbClr val="000000"/>
                </a:solidFill>
                <a:latin typeface="Arial"/>
              </a:rPr>
              <a:t>Actor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Trigger: </a:t>
            </a:r>
            <a:r>
              <a:rPr sz="1000">
                <a:solidFill>
                  <a:srgbClr val="000000"/>
                </a:solidFill>
                <a:latin typeface="Arial"/>
              </a:rPr>
              <a:t>Engineering Team Member provides customer Version Control URL, Observability Tools endpoints, and Identity Provider conf…</a:t>
            </a:r>
          </a:p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Start: </a:t>
            </a:r>
            <a:r>
              <a:rPr sz="1000">
                <a:solidFill>
                  <a:srgbClr val="000000"/>
                </a:solidFill>
                <a:latin typeface="Arial"/>
              </a:rPr>
              <a:t>The Engineering Team Member is authenticated and holds org-level admin permission.; The customer Identity Provider, Version Control endpoint, and Observability Tools endpoints are supplied as connection inputs.; The organization has accepted the c1v non-invasive connection terms.; MAX_CUSTOMER_SYSTEM_OVERHEAD_PCT is configured for the organization.</a:t>
            </a:r>
            <a:r>
              <a:rPr sz="1000">
                <a:solidFill>
                  <a:srgbClr val="000000"/>
                </a:solidFill>
                <a:latin typeface="Arial"/>
              </a:rPr>
              <a:t>   |   </a:t>
            </a:r>
            <a:r>
              <a:rPr sz="1000" b="1">
                <a:solidFill>
                  <a:srgbClr val="000000"/>
                </a:solidFill>
                <a:latin typeface="Arial"/>
              </a:rPr>
              <a:t>End: </a:t>
            </a:r>
            <a:r>
              <a:rPr sz="1000">
                <a:solidFill>
                  <a:srgbClr val="000000"/>
                </a:solidFill>
                <a:latin typeface="Arial"/>
              </a:rPr>
              <a:t>The system holds read-only handles to the customer Version Control, Observability Tools, and Identity Provider, each passing a connection-health probe.; Measured overhead imposed on the customer system is at or below MAX_CUSTOMER_SYSTEM_OVERHEAD_PCT.; A connection record with non-invasive status flag, overhead measurement, and handle references is persisted.; A re-authorization event is scheduled at CONNECTION_REAUTH_DAYS from establishment.; An audit entry records the connection establishment with Engineering Team Member identity, customer organization identifier, endpoint set, measured overhead, and timestamp.; The Engineering Team Member holds the connection identifier and non-invasive status confirmation.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9728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597335"/>
              </a:tblGrid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provides customer Version Control URL, Observability Tools endpoints, and Identity Provider configuration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authenticate the Engineering Team Member's session before accepting connection inputs (CC.R01).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validate that every supplied endpoint is a well-formed URL resolvable from the c1v egress network before proceeding.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initiate an OAuth or OIDC authorization handshake with the customer Identity Provider using the supplied configuration.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Identity Provider returns a credentialed token with scope grants.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reject the authorization if the returned scope contains any write-capability grant.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the Identity Provider credential in encrypted storage with a recorded expiry at ENCRYPTED_CREDENTIAL_EXPIRY_DAYS.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establish a read-only handle to the customer Version Control endpoint using the credentialed token.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Version Control returns repo metadata and branch list over the read-only handle.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establish a read-only handle to the customer Observability Tools endpoints using the credentialed token.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Other: Observability Tools return telemetry endpoint catalog and schema over the read-only handle.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execute a connection-health probe against Version Control, Observability Tools, and Identity Provider handles and require a success response from each before proceeding.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measure CPU, memory, and network overhead imposed on the customer system over a baseline probe window of BASELINE_PROBE_WINDOW_SEC.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reject the connection and surface an overhead violation to the Engineering Team Member if measured overhead exceeds MAX_CUSTOMER_SYSTEM_OVERHEAD_PCT.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persist the connection record with VCS handle reference, Observability handle reference, Identity Provider credential reference, measured overhead percentage, and non-invasive status flag.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schedule a re-authorization event at CONNECTION_REAUTH_DAYS from the connection establishment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record an audit entry for the connection establishment with the Engineering Team Member identity, customer organization identifier, endpoint set, measured overhead, and timestamp (CC.R02).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complete the connection establishment within CONNECTION_ESTABLISHMENT_BUDGET_SEC of receiving the connection inputs.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3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System: The system shall return the connection identifier, measured overhead percentage, non-invasive status flag, and re-authorization due date to the Engineering Team Member.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44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Primary Actor: Engineering Team Member reviews the measured overhead and confirms the connection is within the non-invasive budget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12008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UC11 Requirements — UC11 — Connect Existing Customer System (15)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12008815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448495"/>
                <a:gridCol w="1645920"/>
              </a:tblGrid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REQ-ID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>
                    <a:solidFill>
                      <a:srgbClr val="E6E6E6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authenticate the Engineering Team Member's session before accepting customer connection inputs.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validate that every supplied endpoint is a well-formed URL resolvable from the c1v egress network before proceeding.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initiate an OAuth or OIDC authorization handshake with the customer Identity Provider using the supplied configuration.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reject the authorization when the returned scope contains any write-capability grant.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the Identity Provider credential in encrypted storage with a recorded expiry at ENCRYPTED_CREDENTIAL_EXPIRY_DAYS.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ENCRYPTED_CREDENTIAL_EXPIRY_DAYS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establish a read-only handle to the customer Version Control endpoint using the credentialed token.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establish a read-only handle to the customer Observability Tools endpoints using the credentialed token.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execute a connection-health probe against the Version Control, Observability Tools, and Identity Provider handles and require a success response from each before proceeding.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measure CPU, memory, and network overhead imposed on the customer system over a baseline probe window of BASELINE_PROBE_WINDOW_SEC.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BASELINE_PROBE_WINDOW_SEC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reject the connection and surface an overhead violation to the Engineering Team Member when measured overhead exceeds MAX_CUSTOMER_SYSTEM_OVERHEAD_PCT.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MAX_CUSTOMER_SYSTEM_OVERHEAD_PCT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persist the connection record with Version Control handle reference, Observability handle reference, Identity Provider credential reference, measured overhead percentage, and non-invasive status flag.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schedule a re-authorization event at CONNECTION_REAUTH_DAYS from the connection establishment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CONNECTION_REAUTH_DAYS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record an audit entry for the connection establishment with Engineering Team Member identity, customer organization identifier, endpoint set, measured overhead, and timestamp.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1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complete the connection establishment within CONNECTION_ESTABLISHMENT_BUDGET_SEC of receiving the connection inputs.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CONNECTION_ESTABLISHMENT_BUDGET_SEC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  <a:tr h="57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UC11.R15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The system shall return the connection identifier, measured overhead percentage, non-invasive status flag, and re-authorization due date to the Engineering Team Member.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>
                      <a:solidFill>
                        <a:srgbClr val="000000"/>
                      </a:solidFill>
                    </a:lnL>
                    <a:lnR w="9525" cap="flat" cmpd="sng">
                      <a:solidFill>
                        <a:srgbClr val="000000"/>
                      </a:solidFill>
                    </a:lnR>
                    <a:lnT w="9525" cap="flat" cmpd="sng">
                      <a:solidFill>
                        <a:srgbClr val="000000"/>
                      </a:solidFill>
                    </a:lnT>
                    <a:lnB w="9525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Requirements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731520"/>
          <a:ext cx="5029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 Count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UC01 — UC01 — Generate Spec from One-Sentence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UC03 — UC03 — Review Generated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UC04 — UC04 — Emit CLI Commands from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UC06 — UC06 — Recommend Design 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UC08 — UC08 — Trace Tech-Stack Recommendation to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UC11 — UC11 — Connect Existing Customer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8229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Arial"/>
              </a:rPr>
              <a:t>Design Constants (28):</a:t>
            </a:r>
          </a:p>
          <a:p/>
          <a:p>
            <a:r>
              <a:rPr sz="900">
                <a:solidFill>
                  <a:srgbClr val="000000"/>
                </a:solidFill>
                <a:latin typeface="Arial"/>
              </a:rPr>
              <a:t>FOUNDER_INTAKE_RESPONSE_BUDGET_MS = 2000 ms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INTAKE_COMPLETENESS_THRESHOLD = 0.85 ratio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SPEC_GENERATION_TIMEOUT_SEC = 300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REVIEW_QUEUE_LOAD_BUDGET_MS = 800 ms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SPEC_RENDER_BUDGET_MS = 1500 ms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STATE_TRANSITION_BUDGET_MS = 500 ms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CLI_EMISSION_TIMEOUT_SEC = 60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MAX_CUSTOMER_SYSTEM_OVERHEAD_PCT = 2 %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AGGREGATION_WINDOW_MIN = 60 min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RECOMMENDATION_CADENCE_MIN = 60 min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DEVIATION_SUPPRESSION_THRESHOLD = 0.1 ratio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RECOMMENDATION_LATENCY_SEC = 120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MAX_RECOMMENDATIONS_PER_CYCLE = 10 count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TRACEBACK_MIN_CONFIDENCE = 0.9 ratio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TRACEBACK_COVERAGE_PCT = 100 %  (Final)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TRACEBACK_LATENCY_SEC = 5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ENCRYPTED_CREDENTIAL_EXPIRY_DAYS = 90 days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BASELINE_PROBE_WINDOW_SEC = 300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CONNECTION_REAUTH_DAYS = 30 days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CONNECTION_ESTABLISHMENT_BUDGET_SEC = 120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SESSION_TTL_MIN = 60 min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ENCRYPTION_CLASS = AES-256-GCM + TLS-1.3 enum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AUDIT_RETENTION_DAYS = 2555 days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RATE_LIMIT_RPM = 100 req/min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LLM_PROVIDER_TIMEOUT_SEC = 30 sec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LOG_LEVEL_PROD = info enum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TRACE_SAMPLING_RATE = 0.1 ratio  (Estimate)</a:t>
            </a:r>
          </a:p>
          <a:p>
            <a:r>
              <a:rPr sz="900">
                <a:solidFill>
                  <a:srgbClr val="000000"/>
                </a:solidFill>
                <a:latin typeface="Arial"/>
              </a:rPr>
              <a:t>EVIDENCE_EXPORT_FORMATS = SOC2; HIPAA; GDPR; PCI-DSS enum-set  (Estimate)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1010"/>
                </a:solidFill>
              </a:rPr>
              <a:t>M3 — Functional Flow Block Diagram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1010"/>
                </a:solidFill>
              </a:rPr>
              <a:t>M4 — Decision Network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1010"/>
                </a:solidFill>
              </a:rPr>
              <a:t>M5 — Form / Function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1010"/>
                </a:solidFill>
              </a:rPr>
              <a:t>M6 — House of Quality (QFD)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1010"/>
                </a:solidFill>
              </a:rPr>
              <a:t>M7 — Interfaces (N2 + Sequence + DFD)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N2 Chart — c1v Dual-Mode Platform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14 subsystems on the diagonal · upper triangle = forward flows · lower triangle = feedback · 32 internal interfaces (IF-01..IF-32)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1463040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  Founder Web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Founder Web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2325188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SS2  Session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8754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SS2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Session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3187337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SS3  Agent Orchestrator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5668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SS3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Agent Orchestrator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4049485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SS4  LLM Provider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2582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SS4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LLM Provider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4911634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SS5  Prompt Cache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39497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SS5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Prompt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5773782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SS6  Spec Generator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411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SS6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Spec Generator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6635931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SS7  Traceback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913325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SS7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Traceback 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7498079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SS8  CLI Bundle Emitter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50240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SS8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CLI Bundle Emitter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8360228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SS9  Probe SDK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787154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SS9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Probe SDK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9222377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SS10  Metrics Collector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24068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SS10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Metrics Collector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10084525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SS11  Metric 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660982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SS11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Metric Store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10946674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SS12  Recommendation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097897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SS12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Recommendation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" y="11808822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SS13  Auth / Credential Vault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34811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SS13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Auth / Credential Vault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" y="12670971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SS14  Audit Log Store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71725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SS14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Audit Log Store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1463040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28754" y="1463040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IF-01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5668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7602582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39497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10476411" y="1463040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IF-31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913325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3350240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14787154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6224068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17660982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19097897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20534811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21971725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2325188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IF-02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EC15,EC16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28754" y="2325188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65668" y="2325188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IF-03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EC5,EC6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02582" y="2325188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IF-09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39497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0476411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1913325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13350240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4787154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6224068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7660982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9097897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0534811" y="2325188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IF-28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971725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3291840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4728754" y="3187337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IF-04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EC6,EC8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65668" y="3187337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02582" y="3187337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IF-07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EC8,EC5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39497" y="3187337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IF-05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76411" y="3187337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IF-11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EC12,EC13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913325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13350240" y="3187337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IF-15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EC14,EC12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787154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16224068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17660982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19097897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0534811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1971725" y="3187337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IF-24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EC18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91840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4728754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6165668" y="4049485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IF-08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EC8,EC16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02582" y="4049485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39497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10476411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11913325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13350240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14787154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16224068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17660982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19097897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20534811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21971725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3291840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4728754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6165668" y="4911634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IF-06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02582" y="4911634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IF-10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EC7,EC8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39497" y="4911634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476411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11913325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13350240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14787154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16224068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17660982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19097897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20534811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21971725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3291840" y="5773782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IF-32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EC13,EC12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28754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6165668" y="5773782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IF-12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EC10,EC12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602582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9039497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10476411" y="5773782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913325" y="5773782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IF-13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350240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14787154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16224068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17660982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19097897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20534811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21971725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3291840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4728754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6165668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7602582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9039497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0" name="Rectangle 119"/>
          <p:cNvSpPr/>
          <p:nvPr/>
        </p:nvSpPr>
        <p:spPr>
          <a:xfrm>
            <a:off x="10476411" y="6635931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IF-14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EC9,EC10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913325" y="6635931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3350240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3" name="Rectangle 122"/>
          <p:cNvSpPr/>
          <p:nvPr/>
        </p:nvSpPr>
        <p:spPr>
          <a:xfrm>
            <a:off x="14787154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4" name="Rectangle 123"/>
          <p:cNvSpPr/>
          <p:nvPr/>
        </p:nvSpPr>
        <p:spPr>
          <a:xfrm>
            <a:off x="16224068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5" name="Rectangle 124"/>
          <p:cNvSpPr/>
          <p:nvPr/>
        </p:nvSpPr>
        <p:spPr>
          <a:xfrm>
            <a:off x="17660982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6" name="Rectangle 125"/>
          <p:cNvSpPr/>
          <p:nvPr/>
        </p:nvSpPr>
        <p:spPr>
          <a:xfrm>
            <a:off x="19097897" y="6635931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IF-22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EC9,EC10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0534811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21971725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3291840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4728754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6165668" y="7498079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IF-16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602582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9039497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4" name="Rectangle 133"/>
          <p:cNvSpPr/>
          <p:nvPr/>
        </p:nvSpPr>
        <p:spPr>
          <a:xfrm>
            <a:off x="10476411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11913325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6" name="Rectangle 135"/>
          <p:cNvSpPr/>
          <p:nvPr/>
        </p:nvSpPr>
        <p:spPr>
          <a:xfrm>
            <a:off x="13350240" y="7498079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4787154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8" name="Rectangle 137"/>
          <p:cNvSpPr/>
          <p:nvPr/>
        </p:nvSpPr>
        <p:spPr>
          <a:xfrm>
            <a:off x="16224068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9" name="Rectangle 138"/>
          <p:cNvSpPr/>
          <p:nvPr/>
        </p:nvSpPr>
        <p:spPr>
          <a:xfrm>
            <a:off x="17660982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19097897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1" name="Rectangle 140"/>
          <p:cNvSpPr/>
          <p:nvPr/>
        </p:nvSpPr>
        <p:spPr>
          <a:xfrm>
            <a:off x="20534811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2" name="Rectangle 141"/>
          <p:cNvSpPr/>
          <p:nvPr/>
        </p:nvSpPr>
        <p:spPr>
          <a:xfrm>
            <a:off x="21971725" y="7498079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IF-25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EC18,EC14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291840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4" name="Rectangle 143"/>
          <p:cNvSpPr/>
          <p:nvPr/>
        </p:nvSpPr>
        <p:spPr>
          <a:xfrm>
            <a:off x="4728754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6165668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7602582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9039497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10476411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9" name="Rectangle 148"/>
          <p:cNvSpPr/>
          <p:nvPr/>
        </p:nvSpPr>
        <p:spPr>
          <a:xfrm>
            <a:off x="11913325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0" name="Rectangle 149"/>
          <p:cNvSpPr/>
          <p:nvPr/>
        </p:nvSpPr>
        <p:spPr>
          <a:xfrm>
            <a:off x="13350240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14787154" y="8360228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6224068" y="8360228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IF-17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EC1,EC3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7660982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4" name="Rectangle 153"/>
          <p:cNvSpPr/>
          <p:nvPr/>
        </p:nvSpPr>
        <p:spPr>
          <a:xfrm>
            <a:off x="19097897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20534811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21971725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3291840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4728754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6165668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0" name="Rectangle 159"/>
          <p:cNvSpPr/>
          <p:nvPr/>
        </p:nvSpPr>
        <p:spPr>
          <a:xfrm>
            <a:off x="7602582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1" name="Rectangle 160"/>
          <p:cNvSpPr/>
          <p:nvPr/>
        </p:nvSpPr>
        <p:spPr>
          <a:xfrm>
            <a:off x="9039497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2" name="Rectangle 161"/>
          <p:cNvSpPr/>
          <p:nvPr/>
        </p:nvSpPr>
        <p:spPr>
          <a:xfrm>
            <a:off x="10476411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3" name="Rectangle 162"/>
          <p:cNvSpPr/>
          <p:nvPr/>
        </p:nvSpPr>
        <p:spPr>
          <a:xfrm>
            <a:off x="11913325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4" name="Rectangle 163"/>
          <p:cNvSpPr/>
          <p:nvPr/>
        </p:nvSpPr>
        <p:spPr>
          <a:xfrm>
            <a:off x="13350240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4787154" y="9222377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IF-18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EC1,EC3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6224068" y="9222377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7660982" y="9222377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IF-19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9097897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9" name="Rectangle 168"/>
          <p:cNvSpPr/>
          <p:nvPr/>
        </p:nvSpPr>
        <p:spPr>
          <a:xfrm>
            <a:off x="20534811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0" name="Rectangle 169"/>
          <p:cNvSpPr/>
          <p:nvPr/>
        </p:nvSpPr>
        <p:spPr>
          <a:xfrm>
            <a:off x="21971725" y="9222377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IF-26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EC18,EC1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291840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2" name="Rectangle 171"/>
          <p:cNvSpPr/>
          <p:nvPr/>
        </p:nvSpPr>
        <p:spPr>
          <a:xfrm>
            <a:off x="4728754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6165668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4" name="Rectangle 173"/>
          <p:cNvSpPr/>
          <p:nvPr/>
        </p:nvSpPr>
        <p:spPr>
          <a:xfrm>
            <a:off x="7602582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5" name="Rectangle 174"/>
          <p:cNvSpPr/>
          <p:nvPr/>
        </p:nvSpPr>
        <p:spPr>
          <a:xfrm>
            <a:off x="9039497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6" name="Rectangle 175"/>
          <p:cNvSpPr/>
          <p:nvPr/>
        </p:nvSpPr>
        <p:spPr>
          <a:xfrm>
            <a:off x="10476411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11913325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8" name="Rectangle 177"/>
          <p:cNvSpPr/>
          <p:nvPr/>
        </p:nvSpPr>
        <p:spPr>
          <a:xfrm>
            <a:off x="13350240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14787154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0" name="Rectangle 179"/>
          <p:cNvSpPr/>
          <p:nvPr/>
        </p:nvSpPr>
        <p:spPr>
          <a:xfrm>
            <a:off x="16224068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17660982" y="10084525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9097897" y="10084525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IF-20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EC2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0534811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4" name="Rectangle 183"/>
          <p:cNvSpPr/>
          <p:nvPr/>
        </p:nvSpPr>
        <p:spPr>
          <a:xfrm>
            <a:off x="21971725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3291840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6" name="Rectangle 185"/>
          <p:cNvSpPr/>
          <p:nvPr/>
        </p:nvSpPr>
        <p:spPr>
          <a:xfrm>
            <a:off x="4728754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7" name="Rectangle 186"/>
          <p:cNvSpPr/>
          <p:nvPr/>
        </p:nvSpPr>
        <p:spPr>
          <a:xfrm>
            <a:off x="6165668" y="10946674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IF-23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EC10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602582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9" name="Rectangle 188"/>
          <p:cNvSpPr/>
          <p:nvPr/>
        </p:nvSpPr>
        <p:spPr>
          <a:xfrm>
            <a:off x="9039497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0" name="Rectangle 189"/>
          <p:cNvSpPr/>
          <p:nvPr/>
        </p:nvSpPr>
        <p:spPr>
          <a:xfrm>
            <a:off x="10476411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1" name="Rectangle 190"/>
          <p:cNvSpPr/>
          <p:nvPr/>
        </p:nvSpPr>
        <p:spPr>
          <a:xfrm>
            <a:off x="11913325" y="10946674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IF-21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EC9,EC10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3350240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3" name="Rectangle 192"/>
          <p:cNvSpPr/>
          <p:nvPr/>
        </p:nvSpPr>
        <p:spPr>
          <a:xfrm>
            <a:off x="14787154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4" name="Rectangle 193"/>
          <p:cNvSpPr/>
          <p:nvPr/>
        </p:nvSpPr>
        <p:spPr>
          <a:xfrm>
            <a:off x="16224068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5" name="Rectangle 194"/>
          <p:cNvSpPr/>
          <p:nvPr/>
        </p:nvSpPr>
        <p:spPr>
          <a:xfrm>
            <a:off x="17660982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6" name="Rectangle 195"/>
          <p:cNvSpPr/>
          <p:nvPr/>
        </p:nvSpPr>
        <p:spPr>
          <a:xfrm>
            <a:off x="19097897" y="10946674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0534811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8" name="Rectangle 197"/>
          <p:cNvSpPr/>
          <p:nvPr/>
        </p:nvSpPr>
        <p:spPr>
          <a:xfrm>
            <a:off x="21971725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9" name="Rectangle 198"/>
          <p:cNvSpPr/>
          <p:nvPr/>
        </p:nvSpPr>
        <p:spPr>
          <a:xfrm>
            <a:off x="3291840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0" name="Rectangle 199"/>
          <p:cNvSpPr/>
          <p:nvPr/>
        </p:nvSpPr>
        <p:spPr>
          <a:xfrm>
            <a:off x="4728754" y="11808822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IF-27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EC17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165668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2" name="Rectangle 201"/>
          <p:cNvSpPr/>
          <p:nvPr/>
        </p:nvSpPr>
        <p:spPr>
          <a:xfrm>
            <a:off x="7602582" y="11808822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IF-29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EC17,EC5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039497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4" name="Rectangle 203"/>
          <p:cNvSpPr/>
          <p:nvPr/>
        </p:nvSpPr>
        <p:spPr>
          <a:xfrm>
            <a:off x="10476411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5" name="Rectangle 204"/>
          <p:cNvSpPr/>
          <p:nvPr/>
        </p:nvSpPr>
        <p:spPr>
          <a:xfrm>
            <a:off x="11913325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6" name="Rectangle 205"/>
          <p:cNvSpPr/>
          <p:nvPr/>
        </p:nvSpPr>
        <p:spPr>
          <a:xfrm>
            <a:off x="13350240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14787154" y="11808822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IF-30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EC17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6224068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9" name="Rectangle 208"/>
          <p:cNvSpPr/>
          <p:nvPr/>
        </p:nvSpPr>
        <p:spPr>
          <a:xfrm>
            <a:off x="17660982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0" name="Rectangle 209"/>
          <p:cNvSpPr/>
          <p:nvPr/>
        </p:nvSpPr>
        <p:spPr>
          <a:xfrm>
            <a:off x="19097897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1" name="Rectangle 210"/>
          <p:cNvSpPr/>
          <p:nvPr/>
        </p:nvSpPr>
        <p:spPr>
          <a:xfrm>
            <a:off x="20534811" y="11808822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SS13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21971725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3" name="Rectangle 212"/>
          <p:cNvSpPr/>
          <p:nvPr/>
        </p:nvSpPr>
        <p:spPr>
          <a:xfrm>
            <a:off x="3291840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4" name="Rectangle 213"/>
          <p:cNvSpPr/>
          <p:nvPr/>
        </p:nvSpPr>
        <p:spPr>
          <a:xfrm>
            <a:off x="4728754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6165668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6" name="Rectangle 215"/>
          <p:cNvSpPr/>
          <p:nvPr/>
        </p:nvSpPr>
        <p:spPr>
          <a:xfrm>
            <a:off x="7602582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7" name="Rectangle 216"/>
          <p:cNvSpPr/>
          <p:nvPr/>
        </p:nvSpPr>
        <p:spPr>
          <a:xfrm>
            <a:off x="9039497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8" name="Rectangle 217"/>
          <p:cNvSpPr/>
          <p:nvPr/>
        </p:nvSpPr>
        <p:spPr>
          <a:xfrm>
            <a:off x="10476411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9" name="Rectangle 218"/>
          <p:cNvSpPr/>
          <p:nvPr/>
        </p:nvSpPr>
        <p:spPr>
          <a:xfrm>
            <a:off x="11913325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0" name="Rectangle 219"/>
          <p:cNvSpPr/>
          <p:nvPr/>
        </p:nvSpPr>
        <p:spPr>
          <a:xfrm>
            <a:off x="13350240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1" name="Rectangle 220"/>
          <p:cNvSpPr/>
          <p:nvPr/>
        </p:nvSpPr>
        <p:spPr>
          <a:xfrm>
            <a:off x="14787154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2" name="Rectangle 221"/>
          <p:cNvSpPr/>
          <p:nvPr/>
        </p:nvSpPr>
        <p:spPr>
          <a:xfrm>
            <a:off x="16224068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3" name="Rectangle 222"/>
          <p:cNvSpPr/>
          <p:nvPr/>
        </p:nvSpPr>
        <p:spPr>
          <a:xfrm>
            <a:off x="17660982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4" name="Rectangle 223"/>
          <p:cNvSpPr/>
          <p:nvPr/>
        </p:nvSpPr>
        <p:spPr>
          <a:xfrm>
            <a:off x="19097897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5" name="Rectangle 224"/>
          <p:cNvSpPr/>
          <p:nvPr/>
        </p:nvSpPr>
        <p:spPr>
          <a:xfrm>
            <a:off x="20534811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6" name="Rectangle 225"/>
          <p:cNvSpPr/>
          <p:nvPr/>
        </p:nvSpPr>
        <p:spPr>
          <a:xfrm>
            <a:off x="21971725" y="12670971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4356080" y="15361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BFCFC"/>
                </a:solidFill>
                <a:latin typeface="Calibri"/>
              </a:rPr>
              <a:t>▲ UPPER triangle — forward flow (request)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383280" y="13185647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BFCFC"/>
                </a:solidFill>
                <a:latin typeface="Calibri"/>
              </a:rPr>
              <a:t>▼ LOWER triangle — feedback (response/return)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65760" y="1389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2C29"/>
                </a:solidFill>
                <a:latin typeface="Calibri"/>
              </a:rPr>
              <a:t>Criticality (cell fill)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365760" y="14191488"/>
            <a:ext cx="320040" cy="256032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49808" y="141914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828800" y="14191488"/>
            <a:ext cx="320040" cy="256032"/>
          </a:xfrm>
          <a:prstGeom prst="rect">
            <a:avLst/>
          </a:prstGeom>
          <a:solidFill>
            <a:srgbClr val="FAC86E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212848" y="141914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3291840" y="14191488"/>
            <a:ext cx="320040" cy="256032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675888" y="141914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754880" y="14191488"/>
            <a:ext cx="320040" cy="256032"/>
          </a:xfrm>
          <a:prstGeom prst="rect">
            <a:avLst/>
          </a:prstGeom>
          <a:solidFill>
            <a:srgbClr val="BDD6E8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138928" y="141914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B2C29"/>
                </a:solidFill>
                <a:latin typeface="Calibri"/>
              </a:rPr>
              <a:t>low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3774400" y="13898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2C29"/>
                </a:solidFill>
                <a:latin typeface="Calibri"/>
              </a:rPr>
              <a:t>Grid totals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3774400" y="1419148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  <a:latin typeface="Calibri"/>
              </a:rPr>
              <a:t>subsystems: 14</a:t>
            </a:r>
          </a:p>
          <a:p>
            <a:pPr algn="l"/>
            <a:r>
              <a:rPr sz="900" b="0" i="0">
                <a:solidFill>
                  <a:srgbClr val="707070"/>
                </a:solidFill>
                <a:latin typeface="Calibri"/>
              </a:rPr>
              <a:t>internal IFs: 32</a:t>
            </a:r>
          </a:p>
          <a:p>
            <a:pPr algn="l"/>
            <a:r>
              <a:rPr sz="900" b="0" i="0">
                <a:solidFill>
                  <a:srgbClr val="707070"/>
                </a:solidFill>
                <a:latin typeface="Calibri"/>
              </a:rPr>
              <a:t>external IFs: 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N2 Chart — Interface Cell Detail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Every non-zero cell · from → to · data summary · EC budget drivers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234440"/>
            <a:ext cx="109728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IF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1234440"/>
            <a:ext cx="182880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from →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234440"/>
            <a:ext cx="868680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data / EC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78640" y="1234440"/>
            <a:ext cx="164592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crit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98880" y="1234440"/>
            <a:ext cx="109728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IF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96159" y="1234440"/>
            <a:ext cx="182880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from →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0" y="1234440"/>
            <a:ext cx="868680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data / EC drivers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11760" y="1234440"/>
            <a:ext cx="164592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crit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6883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06883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 → SS2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6883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Founder auth + mode select · EC15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978640" y="206883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0322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90322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SS2 → SS1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90322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Session state + UI stream · EC15,EC16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978640" y="290322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3761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73761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SS2 → SS3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73761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Dispatch request (locked mode) · EC5,EC6,EC8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78640" y="373761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57200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57200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Agent run state · EC6,EC8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978640" y="4572000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0639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40639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40639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Cache lookup · EC7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978640" y="540639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24077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624077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SS5 → SS3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624077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Cache hit/miss response · EC7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978640" y="6240779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707517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707517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707517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LLM call · EC8,EC5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978640" y="707517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790956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63040" y="790956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SS4 → SS3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790956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Completion / tool calls · EC8,EC16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978640" y="790956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874395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874395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SS2 → SS4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874395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Routing policy write · EC5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978640" y="874395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957834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0" y="957834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SS5 → SS4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957834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Cache-assisted call · EC7,EC8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978640" y="957834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1041273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63040" y="1041273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1041273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Generate spec request · EC12,EC13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978640" y="1041273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1124711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1124711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SS6 → SS3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1124711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Spec draft + review signal · EC10,EC12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978640" y="11247119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1208150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63040" y="1208150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SS6 → SS7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91840" y="1208150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Citation check request · EC10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978640" y="12081509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1291590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63040" y="1291590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SS7 → SS6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91840" y="1291590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Traced citations · EC9,EC10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978640" y="1291590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1375029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63040" y="1375029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91840" y="1375029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Emit CLI bundle · EC14,EC12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978640" y="1375029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1458468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63040" y="1458468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SS8 → SS3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91840" y="1458468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Emit receipt + signature · EC14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978640" y="1458468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898880" y="206883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4996159" y="206883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SS9 → SS10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824960" y="206883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Probe payload · EC1,EC3,EC4,EC2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511760" y="206883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3898880" y="290322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996159" y="290322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SS10 → SS9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824960" y="290322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Backpressure + config · EC1,EC3,EC4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511760" y="290322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898880" y="373761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996159" y="373761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SS10 → SS11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824960" y="373761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Aggregated write · EC2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511760" y="373761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898880" y="457200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996159" y="457200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SS11 → SS12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824960" y="457200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Metric read + deviation · EC2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511760" y="4572000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898880" y="540639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4996159" y="540639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SS12 → SS7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824960" y="540639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Citation lookup for recs · EC9,EC10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5511760" y="540639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3898880" y="624077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996159" y="624077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SS7 → SS12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824960" y="624077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Cited refs for recs · EC9,EC10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511760" y="6240779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898880" y="707517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4996159" y="707517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SS12 → SS3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824960" y="707517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Recommendation feed-back · EC10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511760" y="707517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3898880" y="790956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4996159" y="790956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SS14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6824960" y="790956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Audit log write · EC18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5511760" y="7909560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3898880" y="874395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996159" y="874395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SS8 → SS14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6824960" y="874395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CLI emission audit · EC18,EC14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511760" y="874395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3898880" y="957834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4996159" y="957834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SS10 → SS14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6824960" y="957834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Probe rejection audit · EC18,EC1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5511760" y="9578340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3898880" y="1041273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4996159" y="1041273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SS13 → SS2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6824960" y="1041273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Session token issue · EC17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511760" y="1041273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898880" y="1124711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4996159" y="1124711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SS2 → SS13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824960" y="1124711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Token refresh / rotate · EC17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5511760" y="11247119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898880" y="1208150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IF-29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4996159" y="1208150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SS13 → SS4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6824960" y="1208150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Provider credentials · EC17,EC5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5511760" y="12081509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3898880" y="1291590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IF-30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4996159" y="1291590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SS13 → SS9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6824960" y="1291590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Probe credentials · EC17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5511760" y="1291590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898880" y="1375029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IF-31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4996159" y="1375029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 → SS6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6824960" y="1375029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Spec review approvals · EC13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5511760" y="1375029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3898880" y="1458468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IF-32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4996159" y="1458468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SS6 → SS1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6824960" y="1458468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Spec preview render · EC13,EC12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5511760" y="14584680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Top-Level Data Flow Diagram — c1v Dual-Mode Platform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14 subsystems (solid) · 10 external actors (dashed) · every arrow labels data + EC budget · critical flows drawn heavier + Tangerine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54480" y="5029200"/>
            <a:ext cx="24140160" cy="6949440"/>
          </a:xfrm>
          <a:prstGeom prst="roundRect">
            <a:avLst>
              <a:gd name="adj" fmla="val 4000"/>
            </a:avLst>
          </a:prstGeom>
          <a:solidFill>
            <a:srgbClr val="FBFCFC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5074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2C29"/>
                </a:solidFill>
                <a:latin typeface="Calibri"/>
              </a:rPr>
              <a:t>c1v Dual-Mode Platform (boundary)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2606039"/>
            <a:ext cx="292608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Founders / PMs /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Engineers / Admins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Identity Providers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(OIDC / SAML)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LLM Providers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(Anthropic / OpenAI / local)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1872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Documentation Sources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(vendor specs, RFCs)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IDE / CLI Clients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(Claude Code / Cursor)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11096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Version Control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(git / HTTPS)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03704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CI / CD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19120" y="13030200"/>
            <a:ext cx="310896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Customer Prod Systems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+ Observability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3030200"/>
            <a:ext cx="292608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Cloud Providers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(AWS / GCP / Azure)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93840" y="13030200"/>
            <a:ext cx="310896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Compliance Frameworks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(SOC2/HIPAA/GDPR)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7680960"/>
            <a:ext cx="2377440" cy="1097280"/>
          </a:xfrm>
          <a:prstGeom prst="rect">
            <a:avLst/>
          </a:prstGeom>
          <a:solidFill>
            <a:srgbClr val="5C9EC7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SS1  Founder Web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5852160"/>
            <a:ext cx="2377440" cy="1097280"/>
          </a:xfrm>
          <a:prstGeom prst="rect">
            <a:avLst/>
          </a:prstGeom>
          <a:solidFill>
            <a:srgbClr val="0B2C29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SS2  Session Manager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mode: cloud /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9509760"/>
            <a:ext cx="2377440" cy="1097280"/>
          </a:xfrm>
          <a:prstGeom prst="rect">
            <a:avLst/>
          </a:prstGeom>
          <a:solidFill>
            <a:srgbClr val="0B2C29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SS13  Auth / Credential Vault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90d rotation (EC17)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760720"/>
            <a:ext cx="2560320" cy="128016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SS3  Agent Orchestrator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LangGraph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7909559"/>
            <a:ext cx="2377440" cy="1005840"/>
          </a:xfrm>
          <a:prstGeom prst="rect">
            <a:avLst/>
          </a:prstGeom>
          <a:solidFill>
            <a:srgbClr val="A6B2B0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SS5  Prompt Cache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≥70% hit target (EC7)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9875520"/>
            <a:ext cx="2377440" cy="109728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SS4  LLM Provider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0" y="5852160"/>
            <a:ext cx="2377440" cy="109728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SS6  Spec Generator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Mermaid v1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0" y="7909559"/>
            <a:ext cx="2377440" cy="1005840"/>
          </a:xfrm>
          <a:prstGeom prst="rect">
            <a:avLst/>
          </a:prstGeom>
          <a:solidFill>
            <a:srgbClr val="A6B2B0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SS7  Traceback Store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TTL 24h · 7d refresh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0" y="9875520"/>
            <a:ext cx="2377440" cy="109728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SS8  CLI Bundle Emitter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≤5 MB (EC14)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0" y="9875520"/>
            <a:ext cx="2377440" cy="1097280"/>
          </a:xfrm>
          <a:prstGeom prst="rect">
            <a:avLst/>
          </a:prstGeom>
          <a:solidFill>
            <a:srgbClr val="A6B2B0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SS14  Audit Log Store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90d retention (EC18)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184880" y="7863840"/>
            <a:ext cx="2377440" cy="1097280"/>
          </a:xfrm>
          <a:prstGeom prst="rect">
            <a:avLst/>
          </a:prstGeom>
          <a:solidFill>
            <a:srgbClr val="E8C88B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SS9  Probe SDK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customer-side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93839" y="7863840"/>
            <a:ext cx="2377440" cy="109728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SS10  Metrics Collector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219920" y="7909559"/>
            <a:ext cx="2377440" cy="1005840"/>
          </a:xfrm>
          <a:prstGeom prst="rect">
            <a:avLst/>
          </a:prstGeom>
          <a:solidFill>
            <a:srgbClr val="A6B2B0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SS11  Metric Store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60-min window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219920" y="5852160"/>
            <a:ext cx="2377440" cy="109728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SS12  Recommendation Engine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4389120" y="6400800"/>
            <a:ext cx="822960" cy="182880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0" y="70683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IF-01 login+mode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4389120" y="6400800"/>
            <a:ext cx="822960" cy="182880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57600" y="70683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IF-02 SSE ≤50ms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00400" y="8778240"/>
            <a:ext cx="0" cy="310896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00400" y="11887200"/>
            <a:ext cx="107899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990320" y="5852160"/>
            <a:ext cx="0" cy="603504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52360" y="116403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IF-31 approve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990320" y="6949440"/>
            <a:ext cx="0" cy="5394960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200400" y="12344400"/>
            <a:ext cx="10789920" cy="0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200400" y="8778240"/>
            <a:ext cx="0" cy="3566160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52360" y="120975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IF-32 mermaid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89520" y="6400800"/>
            <a:ext cx="146304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78040" y="6153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IF-03 dispatch (mode LOCKED)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7589520" y="6400800"/>
            <a:ext cx="1463040" cy="0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178040" y="6153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IF-04 run state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89520" y="6400800"/>
            <a:ext cx="182880" cy="402336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72400" y="10424160"/>
            <a:ext cx="13716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3796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IF-09 routing policy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332720" y="7040880"/>
            <a:ext cx="0" cy="868679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189720" y="722833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IF-05 lookup (EC7)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10332720" y="7040880"/>
            <a:ext cx="0" cy="868679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189720" y="722833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IF-06 hit/miss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332720" y="8915400"/>
            <a:ext cx="0" cy="96012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189720" y="91485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IF-10 prefix reuse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612880" y="6400800"/>
            <a:ext cx="0" cy="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612880" y="6400800"/>
            <a:ext cx="0" cy="402336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0332720" y="9875520"/>
            <a:ext cx="1280160" cy="54864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46988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IF-07 LLM call ≤8000 tok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521440" y="10424160"/>
            <a:ext cx="822960" cy="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2344400" y="7132320"/>
            <a:ext cx="0" cy="329184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10332720" y="7040880"/>
            <a:ext cx="2011680" cy="9144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1201400" y="85313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IF-08 completion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1612880" y="6400800"/>
            <a:ext cx="11887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1064240" y="6153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IF-11 gen spec (EC12/EC13)</a:t>
            </a:r>
          </a:p>
        </p:txBody>
      </p:sp>
      <p:cxnSp>
        <p:nvCxnSpPr>
          <p:cNvPr id="64" name="Connector 63"/>
          <p:cNvCxnSpPr/>
          <p:nvPr/>
        </p:nvCxnSpPr>
        <p:spPr>
          <a:xfrm flipH="1">
            <a:off x="11612880" y="6400800"/>
            <a:ext cx="118872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064240" y="6153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IF-12 draft+pending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3990320" y="6949440"/>
            <a:ext cx="0" cy="960119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2847320" y="71826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IF-13 citation check HARD floor (EC10)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3990320" y="6949440"/>
            <a:ext cx="0" cy="960119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2847320" y="71826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IF-14 citations TTL=24h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1612880" y="6400800"/>
            <a:ext cx="16459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258800" y="6400800"/>
            <a:ext cx="0" cy="402336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2801600" y="10424160"/>
            <a:ext cx="4572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211580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IF-15 emit CLI (citation gate PASS)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2801600" y="10424160"/>
            <a:ext cx="18288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2984480" y="6583680"/>
            <a:ext cx="0" cy="384048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1612880" y="6400800"/>
            <a:ext cx="1371600" cy="18288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1841480" y="825703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IF-16 receipt+sig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8562320" y="8412480"/>
            <a:ext cx="731519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778508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IF-17 probe ≤6/min ≤4KB (EC1/3/4)</a:t>
            </a:r>
          </a:p>
        </p:txBody>
      </p:sp>
      <p:cxnSp>
        <p:nvCxnSpPr>
          <p:cNvPr id="80" name="Connector 79"/>
          <p:cNvCxnSpPr/>
          <p:nvPr/>
        </p:nvCxnSpPr>
        <p:spPr>
          <a:xfrm flipH="1">
            <a:off x="18562320" y="8412480"/>
            <a:ext cx="731519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778508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IF-18 backpressure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21671280" y="8412480"/>
            <a:ext cx="54864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080260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IF-19 aggregate 60-min (EC2)</a:t>
            </a:r>
          </a:p>
        </p:txBody>
      </p:sp>
      <p:cxnSp>
        <p:nvCxnSpPr>
          <p:cNvPr id="84" name="Connector 83"/>
          <p:cNvCxnSpPr/>
          <p:nvPr/>
        </p:nvCxnSpPr>
        <p:spPr>
          <a:xfrm flipV="1">
            <a:off x="23408640" y="6949440"/>
            <a:ext cx="0" cy="960119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2265640" y="71826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IF-20 deviation pull</a:t>
            </a:r>
          </a:p>
        </p:txBody>
      </p:sp>
      <p:cxnSp>
        <p:nvCxnSpPr>
          <p:cNvPr id="86" name="Connector 85"/>
          <p:cNvCxnSpPr/>
          <p:nvPr/>
        </p:nvCxnSpPr>
        <p:spPr>
          <a:xfrm flipH="1">
            <a:off x="15179040" y="6400800"/>
            <a:ext cx="7040880" cy="201168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7556480" y="715975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IF-21 citation lookup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5179040" y="8412480"/>
            <a:ext cx="1280160" cy="27432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6459200" y="6400800"/>
            <a:ext cx="5760720" cy="228600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4676120" y="83027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IF-22 cited refs</a:t>
            </a:r>
          </a:p>
        </p:txBody>
      </p:sp>
      <p:cxnSp>
        <p:nvCxnSpPr>
          <p:cNvPr id="91" name="Connector 90"/>
          <p:cNvCxnSpPr/>
          <p:nvPr/>
        </p:nvCxnSpPr>
        <p:spPr>
          <a:xfrm flipV="1">
            <a:off x="23408640" y="5303520"/>
            <a:ext cx="0" cy="5486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12801600" y="5303520"/>
            <a:ext cx="1060704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11612880" y="5303520"/>
            <a:ext cx="1188720" cy="109728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6962120" y="505663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IF-23 rec → next spec (F.6→F.2)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0332720" y="7040880"/>
            <a:ext cx="0" cy="4480560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332720" y="11521440"/>
            <a:ext cx="7040880" cy="0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7373600" y="9875520"/>
            <a:ext cx="0" cy="1645920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2710160" y="112745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IF-24 audit orchestration (EC18 90d)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5179040" y="10424160"/>
            <a:ext cx="100584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4538959" y="101772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IF-25 CLI emit audit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0482560" y="8961119"/>
            <a:ext cx="0" cy="3291841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17373600" y="12252960"/>
            <a:ext cx="3108960" cy="0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7373600" y="10972800"/>
            <a:ext cx="0" cy="1280160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7785080" y="120060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IF-26 rejection audit</a:t>
            </a:r>
          </a:p>
        </p:txBody>
      </p:sp>
      <p:cxnSp>
        <p:nvCxnSpPr>
          <p:cNvPr id="105" name="Connector 104"/>
          <p:cNvCxnSpPr/>
          <p:nvPr/>
        </p:nvCxnSpPr>
        <p:spPr>
          <a:xfrm flipV="1">
            <a:off x="6400800" y="6949440"/>
            <a:ext cx="0" cy="256032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5257800" y="79827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IF-27 signed JWT (EC17)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400800" y="6949440"/>
            <a:ext cx="0" cy="2560320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5257800" y="79827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IF-28 rotate trigger (EC17)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7589520" y="10058400"/>
            <a:ext cx="109728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686800" y="10058400"/>
            <a:ext cx="0" cy="36576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686800" y="10424160"/>
            <a:ext cx="4572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543800" y="99943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IF-29 provider creds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7589520" y="10058400"/>
            <a:ext cx="182880" cy="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772400" y="8412480"/>
            <a:ext cx="0" cy="164592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772400" y="8412480"/>
            <a:ext cx="841248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6629400" y="89885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IF-30 READ-ONLY handles (write REJECT)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3200400" y="3611880"/>
            <a:ext cx="0" cy="406908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057400" y="539953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IF-EXT-01 UI events SSE (EC16)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400800" y="3611880"/>
            <a:ext cx="0" cy="114300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400800" y="4754880"/>
            <a:ext cx="0" cy="475488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5257800" y="393649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IF-EXT-02 OIDC/SAML read-only</a:t>
            </a:r>
          </a:p>
        </p:txBody>
      </p:sp>
      <p:cxnSp>
        <p:nvCxnSpPr>
          <p:cNvPr id="122" name="Connector 121"/>
          <p:cNvCxnSpPr/>
          <p:nvPr/>
        </p:nvCxnSpPr>
        <p:spPr>
          <a:xfrm flipV="1">
            <a:off x="10332720" y="3611880"/>
            <a:ext cx="0" cy="6263640"/>
          </a:xfrm>
          <a:prstGeom prst="line">
            <a:avLst/>
          </a:prstGeom>
          <a:ln w="28575">
            <a:solidFill>
              <a:srgbClr val="F18F0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189720" y="64968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IF-EXT-03 prompts→completions (EC8/EC16)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332720" y="10972800"/>
            <a:ext cx="0" cy="2057400"/>
          </a:xfrm>
          <a:prstGeom prst="line">
            <a:avLst/>
          </a:prstGeom>
          <a:ln w="12700">
            <a:solidFill>
              <a:srgbClr val="70707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189720" y="117546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IF-EXT-09 service catalogs</a:t>
            </a:r>
          </a:p>
        </p:txBody>
      </p:sp>
      <p:cxnSp>
        <p:nvCxnSpPr>
          <p:cNvPr id="126" name="Connector 125"/>
          <p:cNvCxnSpPr/>
          <p:nvPr/>
        </p:nvCxnSpPr>
        <p:spPr>
          <a:xfrm flipV="1">
            <a:off x="13990320" y="4754880"/>
            <a:ext cx="0" cy="512064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3990320" y="4754880"/>
            <a:ext cx="649224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0482560" y="3611880"/>
            <a:ext cx="0" cy="114300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6093440" y="45079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IF-EXT-04 signed CLI bundle</a:t>
            </a:r>
          </a:p>
        </p:txBody>
      </p:sp>
      <p:cxnSp>
        <p:nvCxnSpPr>
          <p:cNvPr id="130" name="Connector 129"/>
          <p:cNvCxnSpPr/>
          <p:nvPr/>
        </p:nvCxnSpPr>
        <p:spPr>
          <a:xfrm flipV="1">
            <a:off x="13990320" y="4572000"/>
            <a:ext cx="0" cy="530352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990320" y="4572000"/>
            <a:ext cx="338328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7373600" y="3611880"/>
            <a:ext cx="0" cy="96012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14538959" y="43251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IF-EXT-10 SKILL.md + CLAUDE.md</a:t>
            </a:r>
          </a:p>
        </p:txBody>
      </p:sp>
      <p:cxnSp>
        <p:nvCxnSpPr>
          <p:cNvPr id="134" name="Connector 133"/>
          <p:cNvCxnSpPr/>
          <p:nvPr/>
        </p:nvCxnSpPr>
        <p:spPr>
          <a:xfrm flipV="1">
            <a:off x="13990320" y="4480560"/>
            <a:ext cx="274320" cy="5394960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4264640" y="4480560"/>
            <a:ext cx="9144000" cy="0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408640" y="3611880"/>
            <a:ext cx="0" cy="868680"/>
          </a:xfrm>
          <a:prstGeom prst="line">
            <a:avLst/>
          </a:prstGeom>
          <a:ln w="12700">
            <a:solidFill>
              <a:srgbClr val="70707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7693640" y="42336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IF-EXT-08 spec gate / hooks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3990320" y="3611880"/>
            <a:ext cx="0" cy="114300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3990320" y="4754880"/>
            <a:ext cx="0" cy="3154679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12847320" y="393649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IF-EXT-06 RAG retrieval refresh 7d</a:t>
            </a:r>
          </a:p>
        </p:txBody>
      </p:sp>
      <p:cxnSp>
        <p:nvCxnSpPr>
          <p:cNvPr id="141" name="Connector 140"/>
          <p:cNvCxnSpPr/>
          <p:nvPr/>
        </p:nvCxnSpPr>
        <p:spPr>
          <a:xfrm flipV="1">
            <a:off x="17373600" y="8961119"/>
            <a:ext cx="0" cy="4069081"/>
          </a:xfrm>
          <a:prstGeom prst="line">
            <a:avLst/>
          </a:prstGeom>
          <a:ln w="28575">
            <a:solidFill>
              <a:srgbClr val="F18F0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16230600" y="107487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IF-EXT-05 read-only handles ≤2% overhead (EC1/3)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7373600" y="10972800"/>
            <a:ext cx="3474720" cy="2057400"/>
          </a:xfrm>
          <a:prstGeom prst="line">
            <a:avLst/>
          </a:prstGeom>
          <a:ln w="12700">
            <a:solidFill>
              <a:srgbClr val="70707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7967960" y="117546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IF-EXT-07 compliance evidence (EC18)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5760" y="1472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2C29"/>
                </a:solidFill>
                <a:latin typeface="Calibri"/>
              </a:rPr>
              <a:t>Legend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14400" y="15014448"/>
            <a:ext cx="2560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  <a:latin typeface="Calibri"/>
              </a:rPr>
              <a:t>critical flow = Tangerine heavy   ·   high = Firefly normal   ·   med/low = grey thin   ·   solid = internal   ·   dashed = external crossing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DFD — Category Legend &amp; Critical-Path Summary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Subsystem categories · external-actor treatment · critical interfaces prioritized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29"/>
                </a:solidFill>
                <a:latin typeface="Calibri"/>
              </a:rPr>
              <a:t>Subsystem categories (box fill)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731520" cy="640080"/>
          </a:xfrm>
          <a:prstGeom prst="rect">
            <a:avLst/>
          </a:prstGeom>
          <a:solidFill>
            <a:srgbClr val="5C9EC7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UI (user-facing)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13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SS1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731520" cy="64008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34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Platform (session/auth)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36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SS2, SS13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731520" cy="640080"/>
          </a:xfrm>
          <a:prstGeom prst="rect">
            <a:avLst/>
          </a:prstGeom>
          <a:solidFill>
            <a:srgbClr val="F18F01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57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Engine (compute)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59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SS3, SS4, SS6, SS8, SS10, SS12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80560"/>
            <a:ext cx="731520" cy="640080"/>
          </a:xfrm>
          <a:prstGeom prst="rect">
            <a:avLst/>
          </a:prstGeom>
          <a:solidFill>
            <a:srgbClr val="A6B2B0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Data (storage/cache)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823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SS5, SS7, SS11, SS14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03520"/>
            <a:ext cx="731520" cy="640080"/>
          </a:xfrm>
          <a:prstGeom prst="rect">
            <a:avLst/>
          </a:prstGeom>
          <a:solidFill>
            <a:srgbClr val="E8C88B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03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External SS (in customer)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605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SS9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7132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29"/>
                </a:solidFill>
                <a:latin typeface="Calibri"/>
              </a:rPr>
              <a:t>External actor style (outside c1v boundary)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7589520"/>
            <a:ext cx="731520" cy="64008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7589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Dashed border, porcelain fill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7909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10 external actors: founders, IdP, LLM, VCS, customer, docs, compliance, CI/CD, cloud, 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0" y="14630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29"/>
                </a:solidFill>
                <a:latin typeface="Calibri"/>
              </a:rPr>
              <a:t>Critical interfaces (heavier + Tangerine arrows)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0" y="1965960"/>
            <a:ext cx="1280160" cy="36576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IF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538960" y="1965960"/>
            <a:ext cx="2194560" cy="36576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from → 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733520" y="1965960"/>
            <a:ext cx="5486400" cy="36576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219920" y="1965960"/>
            <a:ext cx="3657600" cy="36576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EC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0" y="23317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538960" y="23317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SS2 → SS3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733520" y="23317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Authenticated principal + LOCKED mode + intake payload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219920" y="23317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EC5, EC6, EC8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0" y="27889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538960" y="27889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SS3 → SS4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733520" y="27889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Prompt + tools + context (cache-miss only)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219920" y="27889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EC5, EC8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0" y="32461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538960" y="32461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SS4 → SS3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733520" y="32461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Completion / tool calls / usage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219920" y="32461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EC8, EC16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258800" y="37033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538960" y="37033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SS6 → SS3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733520" y="37033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Draft spec URI + pending-review flag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219920" y="37033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EC10, EC12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258800" y="41605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538960" y="41605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SS6 → SS7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733520" y="41605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Per-claim source lookup batch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219920" y="41605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58800" y="46177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IF-14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538960" y="46177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SS7 → SS6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733520" y="46177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Resolved citations (TTL=24h)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219920" y="46177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EC9, EC10, EC11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58800" y="50749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538960" y="50749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SS9 → SS10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733520" y="50749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Per-probe metric payload (batched)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219920" y="50749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EC1, EC2, EC3, EC4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258800" y="55321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538960" y="55321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SS10 → SS9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733520" y="55321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Reject/backpressure + SDK config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219920" y="55321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EC1, EC3, EC4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258800" y="59893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538960" y="59893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SS13 → SS9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733520" y="59893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Read-only VCS + Obs handles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219920" y="59893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SEQ-1 · Probe SDK ↔ Collector — joint tuning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Resolves EC1↔EC2 (−1) and EC2↔EC4 (−1). Contract: collector owns EC1+EC2+EC4 jointly, time-based flush fallback prevents batch-starvation.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-182879" y="2103120"/>
            <a:ext cx="2194560" cy="82296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SS9 Probe SDK</a:t>
            </a:r>
          </a:p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(customer-side)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6187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SS10 Metrics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Collector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54203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SS11 Metric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Store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3200400"/>
            <a:ext cx="146304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IF-18 initial config push — collector owns EC1 + EC2 + EC4 jointly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914400" y="4114800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385876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cfg { probe_freq=6/min (EC1), agg_window=60 min (EC2), batch_size=50 (EC4), flush_fallback=10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91440" y="4846320"/>
            <a:ext cx="14813280" cy="5486400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-91440" y="484632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loop every probe tick (≤6/min · EC1)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5486400"/>
            <a:ext cx="7315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45920" y="5486400"/>
            <a:ext cx="0" cy="3200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14400" y="5806440"/>
            <a:ext cx="7315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37360" y="54681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B2C29"/>
                </a:solidFill>
                <a:latin typeface="Calibri"/>
              </a:rPr>
              <a:t>enqueue event (≤4 KB · EC3)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-91440" y="6675120"/>
            <a:ext cx="14813280" cy="3383280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-91440" y="667512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  batch=50 (EC4) / else time flush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7498079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7242047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IF-17 probe payload (batch=50)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8138160"/>
            <a:ext cx="146304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else: 60-min window elapses without batch fill (roof EC2↔EC4)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9144000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888796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IF-17 TIME-BASED FLUSH (batch ≥ flush_fallback)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716000" y="10972800"/>
            <a:ext cx="7315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447520" y="10972800"/>
            <a:ext cx="0" cy="3200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3716000" y="11292840"/>
            <a:ext cx="7315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538960" y="109545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B2C29"/>
                </a:solidFill>
                <a:latin typeface="Calibri"/>
              </a:rPr>
              <a:t>aggregate (60-min window · EC2)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716000" y="11795760"/>
            <a:ext cx="128016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807440" y="1153972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IF-19 aggregated write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-91440" y="12344400"/>
            <a:ext cx="14813280" cy="1554479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-91440" y="1234440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  overhead violation (EC1/EC3 breach)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4400" y="12893040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05840" y="1263700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IF-18 backpressure · REJECT · cfg{probe_freq↓}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716000" y="13533120"/>
            <a:ext cx="7315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447520" y="13533120"/>
            <a:ext cx="0" cy="3200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3716000" y="13853160"/>
            <a:ext cx="7315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538960" y="135148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B2C29"/>
                </a:solidFill>
                <a:latin typeface="Calibri"/>
              </a:rPr>
              <a:t>IF-26 audit probe-rejection (I.EXT.9)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SEQ-2 · Traceback cache invalidation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Resolves EC9↔EC11 (−2, STRONGEST roof negative). Intra-SS7 invalidation: fetcher-driven expiry of TTL cache on vendor-doc refresh.</a:t>
            </a:r>
          </a:p>
        </p:txBody>
      </p:sp>
      <p:sp>
        <p:nvSpPr>
          <p:cNvPr id="3" name="Rectangle 2"/>
          <p:cNvSpPr/>
          <p:nvPr/>
        </p:nvSpPr>
        <p:spPr>
          <a:xfrm>
            <a:off x="-182879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SS3 Agent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Orchestrator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2179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SS6 Spec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Generator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6187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SS7.cache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(TTL 24h · EC9)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90195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SS7.fetcher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(refresh 7d · EC11)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420320" y="2103120"/>
            <a:ext cx="2194560" cy="82296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Documentation</a:t>
            </a:r>
          </a:p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Sources (I.EXT.5)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2801600" y="3200400"/>
            <a:ext cx="82296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cache and fetcher live inside SS7 — invalidation is intra-subsystem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4206240"/>
            <a:ext cx="64008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06640" y="3950207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IF-13 citation_check(claim)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754880"/>
            <a:ext cx="21214080" cy="4571999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475488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  cache HIT (age &lt; 24h · EC9) / else MISS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315200" y="548640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06640" y="523036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IF-14 traced citation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716000" y="630936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807440" y="605332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fetch(source_uri)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116800" y="694944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208240" y="6693407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GET vendor doc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0116800" y="758952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208240" y="733348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doc content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716000" y="822960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807440" y="797356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write(citation, fetched_at=now)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315200" y="886968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06640" y="861364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IF-14 traced citation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0" y="9875520"/>
            <a:ext cx="18288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every 7d per source (EC11)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116800" y="1060704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0208240" y="1035100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refresh(source_uri)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20116800" y="1124712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208240" y="1099108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new doc content (hash changed?)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710160" y="11795760"/>
            <a:ext cx="14813280" cy="2194560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2710160" y="1179576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  new hash / else same hash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3716000" y="12527280"/>
            <a:ext cx="64008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807440" y="1227124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INVALIDATE all entries keyed to source_uri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0" y="12984480"/>
            <a:ext cx="82296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resolves EC9↔EC11 roof (−2): stale TTL not allowed to outlive refresh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914400" y="13624560"/>
            <a:ext cx="128016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05840" y="1336852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invalidation event (for in-flight specs)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SEQ-3 · Session lock → parallel dispatch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Resolves EC5↔EC6 (−1). Synchronous IF-09 routing policy write MUST ack before IF-03 dispatch — prevents race between per-session routing and parallel agent fan-out.</a:t>
            </a:r>
          </a:p>
        </p:txBody>
      </p:sp>
      <p:sp>
        <p:nvSpPr>
          <p:cNvPr id="3" name="Rectangle 2"/>
          <p:cNvSpPr/>
          <p:nvPr/>
        </p:nvSpPr>
        <p:spPr>
          <a:xfrm>
            <a:off x="-182879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 Founder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Web UI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2179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SS2 Session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Manager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6187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SS13 Credential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Vault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90195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SS4 LLM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Provider Layer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4203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SS3 Agent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Orchestrator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" y="320040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05840" y="294436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IF-01 login + mode select (cloud | local)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384048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358444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auth principal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315200" y="448056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06640" y="422452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IF-27 signed session JWT (EC17)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120640"/>
            <a:ext cx="18288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lock_mode(cloud | local) — pinned per session (EC5)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0" y="5943600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06640" y="568756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IF-09 routing policy write (scale=2 per-session · EC5)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716000" y="658368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807440" y="632764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IF-29 provider credentials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315200" y="7223760"/>
            <a:ext cx="128016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06640" y="696772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ack(routing_set=true)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7863840"/>
            <a:ext cx="210312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EC5↔EC6 resolution — dispatch cannot occur before routing is confirmed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0" y="8869680"/>
            <a:ext cx="192024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06640" y="8613648"/>
            <a:ext cx="19019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IF-03 dispatch(principal, locked_mode, intake_payload)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435304" y="8961120"/>
            <a:ext cx="164592" cy="3291839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110960" y="9235440"/>
            <a:ext cx="8412480" cy="2468880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110960" y="923544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par  up to 5 parallel agents (EC6)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0116800" y="996696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0208240" y="971092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IF-07 LLM call · agent A (≤8000 tok · EC8)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0116800" y="1060704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208240" y="1035100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IF-07 LLM call · agent B (≤8000 tok · EC8)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0116800" y="11247120"/>
            <a:ext cx="6400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0208240" y="1099108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IF-07 LLM call · agent C (≤8000 tok · EC8)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7315200" y="11978640"/>
            <a:ext cx="192024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406640" y="11722608"/>
            <a:ext cx="19019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IF-04 agent run state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12801600"/>
            <a:ext cx="210312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if dispatch were issued before IF-09 ack, agents could fan out to the wrong provider — the invariant BLOCKS that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SEQ-4 · Citation-gated CLI emission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EC10 HARD FLOOR — 100% citation coverage. Emission MUST NOT fire with any unresolved claim. Contract: SS6→SS7 check → SS3 review → SS8 emit/block.</a:t>
            </a:r>
          </a:p>
        </p:txBody>
      </p:sp>
      <p:sp>
        <p:nvSpPr>
          <p:cNvPr id="3" name="Rectangle 2"/>
          <p:cNvSpPr/>
          <p:nvPr/>
        </p:nvSpPr>
        <p:spPr>
          <a:xfrm>
            <a:off x="-182879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 Founder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Web UI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843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SS3 Agent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Orchestrator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816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3515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SS6 Spec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Generator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4488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26187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SS7 Traceback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Store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68859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SS8 CLI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Emitter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9832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1153120" y="2103120"/>
            <a:ext cx="2194560" cy="82296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SS14 Audit</a:t>
            </a:r>
          </a:p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Log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2504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420320" y="2103120"/>
            <a:ext cx="2194560" cy="82296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Version Control</a:t>
            </a:r>
          </a:p>
          <a:p>
            <a:pPr algn="ctr"/>
            <a:r>
              <a:rPr sz="1000" b="1">
                <a:solidFill>
                  <a:srgbClr val="0B2C29"/>
                </a:solidFill>
                <a:latin typeface="Calibri"/>
              </a:rPr>
              <a:t>(I.EXT.3)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517600" y="2926079"/>
            <a:ext cx="0" cy="11247121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81600" y="320040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73040" y="2944368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IF-11 generate spec(requirements)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48800" y="3840480"/>
            <a:ext cx="7315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80320" y="3840480"/>
            <a:ext cx="0" cy="3200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448800" y="4160520"/>
            <a:ext cx="7315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71760" y="38221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B2C29"/>
                </a:solidFill>
                <a:latin typeface="Calibri"/>
              </a:rPr>
              <a:t>draft spec (Mermaid v1 · EC12)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34400" y="4572000"/>
            <a:ext cx="6095999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EC10 HARD FLOOR — every claim must resolve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48800" y="5394960"/>
            <a:ext cx="42672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40240" y="5138928"/>
            <a:ext cx="4084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IF-13 citation_check(claims[])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448800" y="603504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540240" y="5779007"/>
            <a:ext cx="4084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IF-14 citations[] + unresolved[]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-91440" y="6583680"/>
            <a:ext cx="27614880" cy="7406640"/>
          </a:xfrm>
          <a:prstGeom prst="rect">
            <a:avLst/>
          </a:prstGeom>
          <a:noFill/>
          <a:ln w="1905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91440" y="6583680"/>
            <a:ext cx="1097280" cy="320040"/>
          </a:xfrm>
          <a:prstGeom prst="rect">
            <a:avLst/>
          </a:prstGeom>
          <a:solidFill>
            <a:srgbClr val="5998C5"/>
          </a:solidFill>
          <a:ln w="12700">
            <a:solidFill>
              <a:srgbClr val="599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  unresolved &gt; 0 (BLOCK) / else 100% resolved (EMIT)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181600" y="740664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73040" y="7150607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IF-12 draft · pending_review=true · citation_miss=N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81600" y="8046720"/>
            <a:ext cx="170688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73040" y="7790688"/>
            <a:ext cx="1688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IF-24 audit(citation_miss)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914400" y="868680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05840" y="8430768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IF-02 'spec blocked: N unresolved citations'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7200" y="9144000"/>
            <a:ext cx="182880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EMISSION BLOCKED — no IF-15 fires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5181600" y="996696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73040" y="9710928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IF-12 draft · pending_review=true · citations_ok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914400" y="1051560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05840" y="10259568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IF-02 render spec for approval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" y="11064240"/>
            <a:ext cx="85344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05840" y="10808208"/>
            <a:ext cx="835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IF-31 approve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914400" y="11612880"/>
            <a:ext cx="853440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5840" y="11356848"/>
            <a:ext cx="835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IF-32 rendered Mermaid (review)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181600" y="12161520"/>
            <a:ext cx="128016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273040" y="11905488"/>
            <a:ext cx="1261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IF-15 emit CLI bundle(spec_uri) — citation gate PASSED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7983200" y="12710160"/>
            <a:ext cx="7315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8714720" y="12710160"/>
            <a:ext cx="0" cy="3200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7983200" y="13030200"/>
            <a:ext cx="7315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8806160" y="126918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B2C29"/>
                </a:solidFill>
                <a:latin typeface="Calibri"/>
              </a:rPr>
              <a:t>package + sign (≤5 MB · EC14)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7983200" y="13258800"/>
            <a:ext cx="853440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8074640" y="13002768"/>
            <a:ext cx="835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IF-EXT-04 signed commit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7983200" y="13807440"/>
            <a:ext cx="42672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074640" y="13551408"/>
            <a:ext cx="408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C29"/>
                </a:solidFill>
                <a:latin typeface="Calibri"/>
              </a:rPr>
              <a:t>IF-25 audit(bundle_id, hash, signer, vcs_commit)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1010"/>
                </a:solidFill>
              </a:rPr>
              <a:t>M8 — Risk / FMEA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1010"/>
                </a:solidFill>
              </a:rPr>
              <a:t>Synthesis — Architecture Recommendation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01010"/>
                </a:solidFill>
              </a:rPr>
              <a:t>Synthesis — Architecture Recommendation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Portfolio keystone — c1v self-application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01010"/>
                </a:solidFill>
              </a:rPr>
              <a:t>c1v is an AI-native PRD + system-design tool. The synthesizer recommends a Vercel-deployed Next.js front-end orchestrated by LangGraph, using Anthropic Claude Sonnet 4.5 as the spec-generation LLM and pgvector (Supabase Postgres) for retrieval. This pairing was selected from the M4 Pareto frontier (AV.01 dominates AV.02..AV.05 across cost/latency/availability) because it satisfies the 3-second p95 user-facing budget (interface_specs chain AUTHORING_SPEC_EMIT sums 2600 ms) while keeping the 100% citation-floor (NFR.01) achievable through grounded-retrieval gating. The recommendation carries 14 high-RPN residual risks from M8.b that ride alongside the architecture; each is mapped to a landed control surfaced via M5 form_function_map.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Decisions (winning alternatives)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1042416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Winner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D-01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D-02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D-03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D-04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Pareto Frontier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611"/>
                <a:gridCol w="2328611"/>
                <a:gridCol w="2328611"/>
                <a:gridCol w="2328611"/>
                <a:gridCol w="2328611"/>
              </a:tblGrid>
              <a:tr h="1303020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Latency 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</a:t>
                      </a:r>
                    </a:p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00"/>
                        <a:t>★ AV.01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Claude Sonnet 4.5 + pgvector + LangGraph + Vercel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320 USD/month at 100 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2600 ms p95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99.9 % uptime</a:t>
                      </a:r>
                    </a:p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00"/>
                        <a:t>AV.02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GPT-4 Turbo + Pinecone + LangChain Chains + 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378 USD/month at 100 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2810 ms p95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99.9 % uptime</a:t>
                      </a:r>
                    </a:p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00"/>
                        <a:t>AV.03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OpenRouter federated + Weaviate self-hosted + Custom orch + Fly.io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240 USD/month at 100 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3100 ms p95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99.5 % uptime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Top-Level Risks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1042416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Severity / RPN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F01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high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F02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F03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F04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Tail Latency — chain AUTHORING_SPEC_EMIT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Context Diagram</a:t>
            </a:r>
          </a:p>
        </p:txBody>
      </p:sp>
      <p:pic>
        <p:nvPicPr>
          <p:cNvPr id="3" name="Picture 2" descr="synth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Use Cases</a:t>
            </a:r>
          </a:p>
        </p:txBody>
      </p:sp>
      <p:pic>
        <p:nvPicPr>
          <p:cNvPr id="3" name="Picture 2" descr="synth-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Class Model</a:t>
            </a:r>
          </a:p>
        </p:txBody>
      </p:sp>
      <p:pic>
        <p:nvPicPr>
          <p:cNvPr id="3" name="Picture 2" descr="synth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Sequence — Authoring Spec Emit</a:t>
            </a:r>
          </a:p>
        </p:txBody>
      </p:sp>
      <p:pic>
        <p:nvPicPr>
          <p:cNvPr id="3" name="Picture 2" descr="synth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Decision Network — Winners</a:t>
            </a:r>
          </a:p>
        </p:txBody>
      </p:sp>
      <p:pic>
        <p:nvPicPr>
          <p:cNvPr id="3" name="Picture 2" descr="synth-decisi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Residual Risk Flags (RPN ≥ 100, n=13)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372291">
                <a:tc>
                  <a:txBody>
                    <a:bodyPr/>
                    <a:lstStyle/>
                    <a:p>
                      <a:r>
                        <a:rPr b="1" sz="1100"/>
                        <a:t>Failure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RPN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</a:txBody>
                  <a:tcPr/>
                </a:tc>
              </a:tr>
              <a:tr h="372297">
                <a:tc>
                  <a:txBody>
                    <a:bodyPr/>
                    <a:lstStyle/>
                    <a:p>
                      <a:r>
                        <a:rPr sz="1000"/>
                        <a:t>FM.16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House of Quality —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01010"/>
                </a:solidFill>
              </a:rPr>
              <a:t>PCs:                  6</a:t>
            </a:r>
          </a:p>
          <a:p>
            <a:pPr algn="l"/>
            <a:r>
              <a:rPr sz="1400">
                <a:solidFill>
                  <a:srgbClr val="101010"/>
                </a:solidFill>
              </a:rPr>
              <a:t>ECs:                  18</a:t>
            </a:r>
          </a:p>
          <a:p>
            <a:pPr algn="l"/>
            <a:r>
              <a:rPr sz="1400">
                <a:solidFill>
                  <a:srgbClr val="101010"/>
                </a:solidFill>
              </a:rPr>
              <a:t>Matrix nonzero:       27 / 108</a:t>
            </a:r>
          </a:p>
          <a:p>
            <a:pPr algn="l"/>
            <a:r>
              <a:rPr sz="1400">
                <a:solidFill>
                  <a:srgbClr val="101010"/>
                </a:solidFill>
              </a:rPr>
              <a:t>Sparsity:             75%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Next Steps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1042416">
                <a:tc>
                  <a:txBody>
                    <a:bodyPr/>
                    <a:lstStyle/>
                    <a:p>
                      <a:r>
                        <a:rPr b="1" sz="110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Owner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Wire telemetry probe stack to capture per-IF p95 latencies in production for prior-refresh.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Promote 4 mitigation controls (FR.02, FR.07, FR.10, IF.04 stream) into the test plan.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Backfill kb_chunk_ids[] with real pgvector UUIDs once corpus is ingested at full scale.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Re-run synthesis quarterly; recompute inputs_hash to detect drift in upstream artifacts.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