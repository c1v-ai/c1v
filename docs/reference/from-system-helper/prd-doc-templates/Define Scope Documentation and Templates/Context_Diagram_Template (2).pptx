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7"/>
  </p:notesMasterIdLst>
  <p:sldIdLst>
    <p:sldId id="258" r:id="rId3"/>
    <p:sldId id="256" r:id="rId4"/>
    <p:sldId id="261" r:id="rId5"/>
    <p:sldId id="257" r:id="rId6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99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621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10" y="827315"/>
            <a:ext cx="8520600" cy="228066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78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1" y="3149036"/>
            <a:ext cx="8520600" cy="880668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12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1" y="2389842"/>
            <a:ext cx="8520600" cy="93533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1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1" y="494480"/>
            <a:ext cx="8520600" cy="636334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1" y="1280539"/>
            <a:ext cx="8520600" cy="3795999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07995" lvl="0" indent="-38099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15985" lvl="1" indent="-352771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2pPr>
            <a:lvl3pPr marL="1523978" lvl="2" indent="-352771">
              <a:spcBef>
                <a:spcPts val="1779"/>
              </a:spcBef>
              <a:spcAft>
                <a:spcPts val="0"/>
              </a:spcAft>
              <a:buSzPts val="1400"/>
              <a:buChar char="■"/>
              <a:defRPr/>
            </a:lvl3pPr>
            <a:lvl4pPr marL="2031971" lvl="3" indent="-352771">
              <a:spcBef>
                <a:spcPts val="1779"/>
              </a:spcBef>
              <a:spcAft>
                <a:spcPts val="0"/>
              </a:spcAft>
              <a:buSzPts val="1400"/>
              <a:buChar char="●"/>
              <a:defRPr/>
            </a:lvl4pPr>
            <a:lvl5pPr marL="2539962" lvl="4" indent="-352771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5pPr>
            <a:lvl6pPr marL="3047956" lvl="5" indent="-352771">
              <a:spcBef>
                <a:spcPts val="1779"/>
              </a:spcBef>
              <a:spcAft>
                <a:spcPts val="0"/>
              </a:spcAft>
              <a:buSzPts val="1400"/>
              <a:buChar char="■"/>
              <a:defRPr/>
            </a:lvl6pPr>
            <a:lvl7pPr marL="3203421" lvl="6" indent="-352771">
              <a:spcBef>
                <a:spcPts val="1779"/>
              </a:spcBef>
              <a:spcAft>
                <a:spcPts val="0"/>
              </a:spcAft>
              <a:buSzPts val="1400"/>
              <a:buChar char="●"/>
              <a:defRPr/>
            </a:lvl7pPr>
            <a:lvl8pPr marL="3203421" lvl="7" indent="-352771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8pPr>
            <a:lvl9pPr marL="3203421" lvl="8" indent="-352771">
              <a:spcBef>
                <a:spcPts val="1779"/>
              </a:spcBef>
              <a:spcAft>
                <a:spcPts val="1779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1" y="494480"/>
            <a:ext cx="8520600" cy="636334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2" y="1280539"/>
            <a:ext cx="3999900" cy="3795999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07995" lvl="0" indent="-352771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56"/>
            </a:lvl1pPr>
            <a:lvl2pPr marL="1015985" lvl="1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2pPr>
            <a:lvl3pPr marL="1523978" lvl="2" indent="-338661">
              <a:spcBef>
                <a:spcPts val="1779"/>
              </a:spcBef>
              <a:spcAft>
                <a:spcPts val="0"/>
              </a:spcAft>
              <a:buSzPts val="1200"/>
              <a:buChar char="■"/>
              <a:defRPr sz="1333"/>
            </a:lvl3pPr>
            <a:lvl4pPr marL="2031971" lvl="3" indent="-338661">
              <a:spcBef>
                <a:spcPts val="1779"/>
              </a:spcBef>
              <a:spcAft>
                <a:spcPts val="0"/>
              </a:spcAft>
              <a:buSzPts val="1200"/>
              <a:buChar char="●"/>
              <a:defRPr sz="1333"/>
            </a:lvl4pPr>
            <a:lvl5pPr marL="2539962" lvl="4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5pPr>
            <a:lvl6pPr marL="3047956" lvl="5" indent="-338661">
              <a:spcBef>
                <a:spcPts val="1779"/>
              </a:spcBef>
              <a:spcAft>
                <a:spcPts val="0"/>
              </a:spcAft>
              <a:buSzPts val="1200"/>
              <a:buChar char="■"/>
              <a:defRPr sz="1333"/>
            </a:lvl6pPr>
            <a:lvl7pPr marL="3203421" lvl="6" indent="-338661">
              <a:spcBef>
                <a:spcPts val="1779"/>
              </a:spcBef>
              <a:spcAft>
                <a:spcPts val="0"/>
              </a:spcAft>
              <a:buSzPts val="1200"/>
              <a:buChar char="●"/>
              <a:defRPr sz="1333"/>
            </a:lvl7pPr>
            <a:lvl8pPr marL="3203421" lvl="7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8pPr>
            <a:lvl9pPr marL="3203421" lvl="8" indent="-338661">
              <a:spcBef>
                <a:spcPts val="1779"/>
              </a:spcBef>
              <a:spcAft>
                <a:spcPts val="1779"/>
              </a:spcAft>
              <a:buSzPts val="1200"/>
              <a:buChar char="■"/>
              <a:defRPr sz="1333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1" y="1280539"/>
            <a:ext cx="3999900" cy="3795999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07995" lvl="0" indent="-352771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56"/>
            </a:lvl1pPr>
            <a:lvl2pPr marL="1015985" lvl="1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2pPr>
            <a:lvl3pPr marL="1523978" lvl="2" indent="-338661">
              <a:spcBef>
                <a:spcPts val="1779"/>
              </a:spcBef>
              <a:spcAft>
                <a:spcPts val="0"/>
              </a:spcAft>
              <a:buSzPts val="1200"/>
              <a:buChar char="■"/>
              <a:defRPr sz="1333"/>
            </a:lvl3pPr>
            <a:lvl4pPr marL="2031971" lvl="3" indent="-338661">
              <a:spcBef>
                <a:spcPts val="1779"/>
              </a:spcBef>
              <a:spcAft>
                <a:spcPts val="0"/>
              </a:spcAft>
              <a:buSzPts val="1200"/>
              <a:buChar char="●"/>
              <a:defRPr sz="1333"/>
            </a:lvl4pPr>
            <a:lvl5pPr marL="2539962" lvl="4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5pPr>
            <a:lvl6pPr marL="3047956" lvl="5" indent="-338661">
              <a:spcBef>
                <a:spcPts val="1779"/>
              </a:spcBef>
              <a:spcAft>
                <a:spcPts val="0"/>
              </a:spcAft>
              <a:buSzPts val="1200"/>
              <a:buChar char="■"/>
              <a:defRPr sz="1333"/>
            </a:lvl6pPr>
            <a:lvl7pPr marL="3203421" lvl="6" indent="-338661">
              <a:spcBef>
                <a:spcPts val="1779"/>
              </a:spcBef>
              <a:spcAft>
                <a:spcPts val="0"/>
              </a:spcAft>
              <a:buSzPts val="1200"/>
              <a:buChar char="●"/>
              <a:defRPr sz="1333"/>
            </a:lvl7pPr>
            <a:lvl8pPr marL="3203421" lvl="7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8pPr>
            <a:lvl9pPr marL="3203421" lvl="8" indent="-338661">
              <a:spcBef>
                <a:spcPts val="1779"/>
              </a:spcBef>
              <a:spcAft>
                <a:spcPts val="1779"/>
              </a:spcAft>
              <a:buSzPts val="1200"/>
              <a:buChar char="■"/>
              <a:defRPr sz="1333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1" y="494480"/>
            <a:ext cx="8520600" cy="636334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617341"/>
            <a:ext cx="2808000" cy="83966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44012"/>
            <a:ext cx="2808000" cy="3532667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07995" lvl="0" indent="-338661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/>
            </a:lvl1pPr>
            <a:lvl2pPr marL="1015985" lvl="1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2pPr>
            <a:lvl3pPr marL="1523978" lvl="2" indent="-338661">
              <a:spcBef>
                <a:spcPts val="1779"/>
              </a:spcBef>
              <a:spcAft>
                <a:spcPts val="0"/>
              </a:spcAft>
              <a:buSzPts val="1200"/>
              <a:buChar char="■"/>
              <a:defRPr sz="1333"/>
            </a:lvl3pPr>
            <a:lvl4pPr marL="2031971" lvl="3" indent="-338661">
              <a:spcBef>
                <a:spcPts val="1779"/>
              </a:spcBef>
              <a:spcAft>
                <a:spcPts val="0"/>
              </a:spcAft>
              <a:buSzPts val="1200"/>
              <a:buChar char="●"/>
              <a:defRPr sz="1333"/>
            </a:lvl4pPr>
            <a:lvl5pPr marL="2539962" lvl="4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5pPr>
            <a:lvl6pPr marL="3047956" lvl="5" indent="-338661">
              <a:spcBef>
                <a:spcPts val="1779"/>
              </a:spcBef>
              <a:spcAft>
                <a:spcPts val="0"/>
              </a:spcAft>
              <a:buSzPts val="1200"/>
              <a:buChar char="■"/>
              <a:defRPr sz="1333"/>
            </a:lvl6pPr>
            <a:lvl7pPr marL="3203421" lvl="6" indent="-338661">
              <a:spcBef>
                <a:spcPts val="1779"/>
              </a:spcBef>
              <a:spcAft>
                <a:spcPts val="0"/>
              </a:spcAft>
              <a:buSzPts val="1200"/>
              <a:buChar char="●"/>
              <a:defRPr sz="1333"/>
            </a:lvl7pPr>
            <a:lvl8pPr marL="3203421" lvl="7" indent="-338661">
              <a:spcBef>
                <a:spcPts val="1779"/>
              </a:spcBef>
              <a:spcAft>
                <a:spcPts val="0"/>
              </a:spcAft>
              <a:buSzPts val="1200"/>
              <a:buChar char="○"/>
              <a:defRPr sz="1333"/>
            </a:lvl8pPr>
            <a:lvl9pPr marL="3203421" lvl="8" indent="-338661">
              <a:spcBef>
                <a:spcPts val="1779"/>
              </a:spcBef>
              <a:spcAft>
                <a:spcPts val="1779"/>
              </a:spcAft>
              <a:buSzPts val="1200"/>
              <a:buChar char="■"/>
              <a:defRPr sz="1333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1" y="500178"/>
            <a:ext cx="6367800" cy="4545333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5334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11" y="-138"/>
            <a:ext cx="4572001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556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370200"/>
            <a:ext cx="4045200" cy="1647001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68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3114540"/>
            <a:ext cx="4045200" cy="1372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34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12" y="804539"/>
            <a:ext cx="3837000" cy="4105667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507995" lvl="0" indent="-38099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15985" lvl="1" indent="-352771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2pPr>
            <a:lvl3pPr marL="1523978" lvl="2" indent="-352771">
              <a:spcBef>
                <a:spcPts val="1779"/>
              </a:spcBef>
              <a:spcAft>
                <a:spcPts val="0"/>
              </a:spcAft>
              <a:buSzPts val="1400"/>
              <a:buChar char="■"/>
              <a:defRPr/>
            </a:lvl3pPr>
            <a:lvl4pPr marL="2031971" lvl="3" indent="-352771">
              <a:spcBef>
                <a:spcPts val="1779"/>
              </a:spcBef>
              <a:spcAft>
                <a:spcPts val="0"/>
              </a:spcAft>
              <a:buSzPts val="1400"/>
              <a:buChar char="●"/>
              <a:defRPr/>
            </a:lvl4pPr>
            <a:lvl5pPr marL="2539962" lvl="4" indent="-352771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5pPr>
            <a:lvl6pPr marL="3047956" lvl="5" indent="-352771">
              <a:spcBef>
                <a:spcPts val="1779"/>
              </a:spcBef>
              <a:spcAft>
                <a:spcPts val="0"/>
              </a:spcAft>
              <a:buSzPts val="1400"/>
              <a:buChar char="■"/>
              <a:defRPr/>
            </a:lvl6pPr>
            <a:lvl7pPr marL="3203421" lvl="6" indent="-352771">
              <a:spcBef>
                <a:spcPts val="1779"/>
              </a:spcBef>
              <a:spcAft>
                <a:spcPts val="0"/>
              </a:spcAft>
              <a:buSzPts val="1400"/>
              <a:buChar char="●"/>
              <a:defRPr/>
            </a:lvl7pPr>
            <a:lvl8pPr marL="3203421" lvl="7" indent="-352771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8pPr>
            <a:lvl9pPr marL="3203421" lvl="8" indent="-352771">
              <a:spcBef>
                <a:spcPts val="1779"/>
              </a:spcBef>
              <a:spcAft>
                <a:spcPts val="1779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11" y="4700651"/>
            <a:ext cx="5998800" cy="672334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507995" lvl="0" indent="-25399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1" y="1229037"/>
            <a:ext cx="8520600" cy="2181668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4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1" y="3502482"/>
            <a:ext cx="8520600" cy="1445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07995" lvl="0" indent="-380994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15985" lvl="1" indent="-352771" algn="ctr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2pPr>
            <a:lvl3pPr marL="1523978" lvl="2" indent="-352771" algn="ctr">
              <a:spcBef>
                <a:spcPts val="1779"/>
              </a:spcBef>
              <a:spcAft>
                <a:spcPts val="0"/>
              </a:spcAft>
              <a:buSzPts val="1400"/>
              <a:buChar char="■"/>
              <a:defRPr/>
            </a:lvl3pPr>
            <a:lvl4pPr marL="2031971" lvl="3" indent="-352771" algn="ctr">
              <a:spcBef>
                <a:spcPts val="1779"/>
              </a:spcBef>
              <a:spcAft>
                <a:spcPts val="0"/>
              </a:spcAft>
              <a:buSzPts val="1400"/>
              <a:buChar char="●"/>
              <a:defRPr/>
            </a:lvl4pPr>
            <a:lvl5pPr marL="2539962" lvl="4" indent="-352771" algn="ctr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5pPr>
            <a:lvl6pPr marL="3047956" lvl="5" indent="-352771" algn="ctr">
              <a:spcBef>
                <a:spcPts val="1779"/>
              </a:spcBef>
              <a:spcAft>
                <a:spcPts val="0"/>
              </a:spcAft>
              <a:buSzPts val="1400"/>
              <a:buChar char="■"/>
              <a:defRPr/>
            </a:lvl6pPr>
            <a:lvl7pPr marL="3203421" lvl="6" indent="-352771" algn="ctr">
              <a:spcBef>
                <a:spcPts val="1779"/>
              </a:spcBef>
              <a:spcAft>
                <a:spcPts val="0"/>
              </a:spcAft>
              <a:buSzPts val="1400"/>
              <a:buChar char="●"/>
              <a:defRPr/>
            </a:lvl7pPr>
            <a:lvl8pPr marL="3203421" lvl="7" indent="-352771" algn="ctr">
              <a:spcBef>
                <a:spcPts val="1779"/>
              </a:spcBef>
              <a:spcAft>
                <a:spcPts val="0"/>
              </a:spcAft>
              <a:buSzPts val="1400"/>
              <a:buChar char="○"/>
              <a:defRPr/>
            </a:lvl8pPr>
            <a:lvl9pPr marL="3203421" lvl="8" indent="-352771" algn="ctr">
              <a:spcBef>
                <a:spcPts val="1779"/>
              </a:spcBef>
              <a:spcAft>
                <a:spcPts val="1779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ctrTitle"/>
          </p:nvPr>
        </p:nvSpPr>
        <p:spPr>
          <a:xfrm>
            <a:off x="685801" y="1775358"/>
            <a:ext cx="7772400" cy="1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ubTitle" idx="1"/>
          </p:nvPr>
        </p:nvSpPr>
        <p:spPr>
          <a:xfrm>
            <a:off x="1371612" y="3238507"/>
            <a:ext cx="6400801" cy="1460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0" marR="0" lvl="0" indent="0" algn="ctr" rtl="0">
              <a:spcBef>
                <a:spcPts val="668"/>
              </a:spcBef>
              <a:spcAft>
                <a:spcPts val="0"/>
              </a:spcAft>
              <a:buClr>
                <a:srgbClr val="888888"/>
              </a:buClr>
              <a:buSzPts val="2900"/>
              <a:buFont typeface="Arial"/>
              <a:buNone/>
              <a:defRPr sz="322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ctr" rtl="0"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Arial"/>
              <a:buNone/>
              <a:defRPr sz="277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3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457210" y="1333513"/>
            <a:ext cx="8229601" cy="377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58604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722310" y="3672424"/>
            <a:ext cx="7772400" cy="11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00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722310" y="2422268"/>
            <a:ext cx="7772400" cy="125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507995" marR="0" lvl="0" indent="-253996" algn="l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9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Arial"/>
              <a:buNone/>
              <a:defRPr sz="17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155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457212" y="1000138"/>
            <a:ext cx="4038600" cy="282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2"/>
          </p:nvPr>
        </p:nvSpPr>
        <p:spPr>
          <a:xfrm>
            <a:off x="4648211" y="1000138"/>
            <a:ext cx="4038600" cy="282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457211" y="1279265"/>
            <a:ext cx="4040100" cy="53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507995" marR="0" lvl="0" indent="-253996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33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7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2"/>
          </p:nvPr>
        </p:nvSpPr>
        <p:spPr>
          <a:xfrm>
            <a:off x="457211" y="1812404"/>
            <a:ext cx="4040100" cy="329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body" idx="3"/>
          </p:nvPr>
        </p:nvSpPr>
        <p:spPr>
          <a:xfrm>
            <a:off x="4645030" y="1279265"/>
            <a:ext cx="4041900" cy="53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507995" marR="0" lvl="0" indent="-253996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33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7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body" idx="4"/>
          </p:nvPr>
        </p:nvSpPr>
        <p:spPr>
          <a:xfrm>
            <a:off x="4645030" y="1812404"/>
            <a:ext cx="4041900" cy="329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92" name="Shape 92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457201" y="227551"/>
            <a:ext cx="3008400" cy="96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3575051" y="227549"/>
            <a:ext cx="5111700" cy="487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58604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body" idx="2"/>
          </p:nvPr>
        </p:nvSpPr>
        <p:spPr>
          <a:xfrm>
            <a:off x="457201" y="1195922"/>
            <a:ext cx="3008400" cy="390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14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Shape 103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Shape 104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105" name="Shape 105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1792290" y="4000513"/>
            <a:ext cx="5486400" cy="47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pic" idx="2"/>
          </p:nvPr>
        </p:nvSpPr>
        <p:spPr>
          <a:xfrm>
            <a:off x="1792290" y="510650"/>
            <a:ext cx="5486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0" marR="0" lvl="0" indent="0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1792290" y="4472794"/>
            <a:ext cx="5486400" cy="67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14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Shape 110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 rot="5400000">
            <a:off x="2686179" y="-895462"/>
            <a:ext cx="3771666" cy="822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58604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Shape 116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 rot="5400000">
            <a:off x="5829955" y="971452"/>
            <a:ext cx="365633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 rot="5400000">
            <a:off x="1638954" y="-1009752"/>
            <a:ext cx="365633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58604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Shape 122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Shape 123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124" name="Shape 124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1" y="494480"/>
            <a:ext cx="8520600" cy="63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1" y="1280539"/>
            <a:ext cx="8520600" cy="379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61" y="5181364"/>
            <a:ext cx="548700" cy="43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111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10" y="1333513"/>
            <a:ext cx="8229601" cy="377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457200" marR="0" lvl="0" indent="-412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206B27A-704F-405E-A8C7-62E8F82C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59" y="5101115"/>
            <a:ext cx="7604064" cy="486833"/>
          </a:xfrm>
        </p:spPr>
        <p:txBody>
          <a:bodyPr/>
          <a:lstStyle/>
          <a:p>
            <a:pPr algn="l"/>
            <a:r>
              <a:rPr lang="en-US" dirty="0"/>
              <a:t>Copyright © 2018 </a:t>
            </a:r>
            <a:r>
              <a:rPr lang="en-US" dirty="0" err="1"/>
              <a:t>eCornell</a:t>
            </a:r>
            <a:r>
              <a:rPr lang="en-US" dirty="0"/>
              <a:t>. All rights reserved. All other copyrights, trademarks, trade names, and logos are the sole property of their respective owners.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A26DF-49D6-4930-8B74-A5AE5445D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C594144-4A3E-4BB6-9E43-714FA2C66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77" y="352602"/>
            <a:ext cx="13081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69A9258-4D49-4E49-8950-929F11B1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1" y="264615"/>
            <a:ext cx="733864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43200" algn="ctr"/>
                <a:tab pos="5486400" algn="r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	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CESYS521: Defining Scope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43200" algn="ctr"/>
                <a:tab pos="5486400" algn="r"/>
              </a:tabLs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Cornell University College of Engineering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75281-30FA-4418-BCFD-7E406A1E6377}"/>
              </a:ext>
            </a:extLst>
          </p:cNvPr>
          <p:cNvSpPr txBox="1"/>
          <p:nvPr/>
        </p:nvSpPr>
        <p:spPr>
          <a:xfrm>
            <a:off x="597877" y="1250302"/>
            <a:ext cx="733864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Instructions: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this template to create your own context diagram to show what your system interacts with and how those interactions occur. 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help you navigate through this PowerPoint: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Slide 2 – Context Diagram Template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Slide 3 – Context Diagram Sample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Slide 4 – Context Diagram Sample - Detailed</a:t>
            </a:r>
            <a:endParaRPr lang="en-US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To submit this assignment, please refer to the instructions in the course.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2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A7494E-C8AD-4B25-98F2-9BAE12FB298E}"/>
              </a:ext>
            </a:extLst>
          </p:cNvPr>
          <p:cNvSpPr/>
          <p:nvPr/>
        </p:nvSpPr>
        <p:spPr>
          <a:xfrm>
            <a:off x="-237995" y="-425885"/>
            <a:ext cx="9381995" cy="68266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Shape 129"/>
          <p:cNvSpPr txBox="1"/>
          <p:nvPr/>
        </p:nvSpPr>
        <p:spPr>
          <a:xfrm>
            <a:off x="1363380" y="107324"/>
            <a:ext cx="6599001" cy="3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pPr algn="ctr">
              <a:buSzPts val="1100"/>
            </a:pPr>
            <a:r>
              <a:rPr lang="en" sz="3333" dirty="0">
                <a:solidFill>
                  <a:schemeClr val="dk1"/>
                </a:solidFill>
              </a:rPr>
              <a:t>Context Diagram </a:t>
            </a:r>
            <a:r>
              <a:rPr lang="en-US" sz="3333" dirty="0">
                <a:solidFill>
                  <a:schemeClr val="dk1"/>
                </a:solidFill>
              </a:rPr>
              <a:t>Template</a:t>
            </a:r>
            <a:endParaRPr sz="2000" b="1" dirty="0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4037385" y="3009259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The System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3709899" y="2756882"/>
            <a:ext cx="1701667" cy="983001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Shape 132"/>
          <p:cNvSpPr/>
          <p:nvPr/>
        </p:nvSpPr>
        <p:spPr>
          <a:xfrm>
            <a:off x="7218907" y="904037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Shape 133"/>
          <p:cNvSpPr/>
          <p:nvPr/>
        </p:nvSpPr>
        <p:spPr>
          <a:xfrm>
            <a:off x="7204138" y="5018301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Shape 134"/>
          <p:cNvSpPr/>
          <p:nvPr/>
        </p:nvSpPr>
        <p:spPr>
          <a:xfrm>
            <a:off x="823159" y="987414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Shape 135"/>
          <p:cNvSpPr/>
          <p:nvPr/>
        </p:nvSpPr>
        <p:spPr>
          <a:xfrm>
            <a:off x="788348" y="2894088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/>
          <p:nvPr/>
        </p:nvSpPr>
        <p:spPr>
          <a:xfrm>
            <a:off x="924954" y="5018301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Shape 137"/>
          <p:cNvSpPr/>
          <p:nvPr/>
        </p:nvSpPr>
        <p:spPr>
          <a:xfrm>
            <a:off x="3925698" y="5043069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3814011" y="936958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7729470" y="2974067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Shape 140"/>
          <p:cNvCxnSpPr>
            <a:stCxn id="138" idx="2"/>
            <a:endCxn id="130" idx="0"/>
          </p:cNvCxnSpPr>
          <p:nvPr/>
        </p:nvCxnSpPr>
        <p:spPr>
          <a:xfrm rot="-5400000" flipH="1">
            <a:off x="3617680" y="2066292"/>
            <a:ext cx="1662667" cy="223333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Shape 141"/>
          <p:cNvCxnSpPr>
            <a:stCxn id="132" idx="1"/>
          </p:cNvCxnSpPr>
          <p:nvPr/>
        </p:nvCxnSpPr>
        <p:spPr>
          <a:xfrm flipH="1">
            <a:off x="4972241" y="1108871"/>
            <a:ext cx="2246667" cy="1894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Shape 142"/>
          <p:cNvCxnSpPr>
            <a:stCxn id="130" idx="3"/>
            <a:endCxn id="139" idx="1"/>
          </p:cNvCxnSpPr>
          <p:nvPr/>
        </p:nvCxnSpPr>
        <p:spPr>
          <a:xfrm rot="10800000" flipH="1">
            <a:off x="5084052" y="3178760"/>
            <a:ext cx="2645333" cy="35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Shape 143"/>
          <p:cNvCxnSpPr>
            <a:stCxn id="130" idx="2"/>
            <a:endCxn id="137" idx="0"/>
          </p:cNvCxnSpPr>
          <p:nvPr/>
        </p:nvCxnSpPr>
        <p:spPr>
          <a:xfrm rot="5400000">
            <a:off x="3692884" y="4175091"/>
            <a:ext cx="1624000" cy="111667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Shape 144"/>
          <p:cNvCxnSpPr>
            <a:endCxn id="133" idx="1"/>
          </p:cNvCxnSpPr>
          <p:nvPr/>
        </p:nvCxnSpPr>
        <p:spPr>
          <a:xfrm>
            <a:off x="5083808" y="3415805"/>
            <a:ext cx="2120333" cy="1807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Shape 145"/>
          <p:cNvCxnSpPr>
            <a:stCxn id="130" idx="1"/>
            <a:endCxn id="135" idx="3"/>
          </p:cNvCxnSpPr>
          <p:nvPr/>
        </p:nvCxnSpPr>
        <p:spPr>
          <a:xfrm rot="10800000">
            <a:off x="1835051" y="3098757"/>
            <a:ext cx="2202333" cy="115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Shape 146"/>
          <p:cNvCxnSpPr>
            <a:stCxn id="134" idx="3"/>
          </p:cNvCxnSpPr>
          <p:nvPr/>
        </p:nvCxnSpPr>
        <p:spPr>
          <a:xfrm>
            <a:off x="1869826" y="1192248"/>
            <a:ext cx="2168000" cy="181066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Shape 147"/>
          <p:cNvCxnSpPr>
            <a:stCxn id="136" idx="3"/>
          </p:cNvCxnSpPr>
          <p:nvPr/>
        </p:nvCxnSpPr>
        <p:spPr>
          <a:xfrm rot="10800000" flipH="1">
            <a:off x="1971621" y="3415801"/>
            <a:ext cx="2213667" cy="1807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Picture 1">
            <a:extLst>
              <a:ext uri="{FF2B5EF4-FFF2-40B4-BE49-F238E27FC236}">
                <a16:creationId xmlns:a16="http://schemas.microsoft.com/office/drawing/2014/main" id="{FC904AD6-19A5-4231-8A93-D81BCFE93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" y="-286211"/>
            <a:ext cx="13081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D80EFE-E40C-4216-8C63-51F9315E84B3}"/>
              </a:ext>
            </a:extLst>
          </p:cNvPr>
          <p:cNvSpPr txBox="1"/>
          <p:nvPr/>
        </p:nvSpPr>
        <p:spPr>
          <a:xfrm>
            <a:off x="5173249" y="-202957"/>
            <a:ext cx="3732756" cy="338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87701-0AD8-4785-8766-9131DADE6EC0}"/>
              </a:ext>
            </a:extLst>
          </p:cNvPr>
          <p:cNvSpPr txBox="1"/>
          <p:nvPr/>
        </p:nvSpPr>
        <p:spPr>
          <a:xfrm>
            <a:off x="3078454" y="-465260"/>
            <a:ext cx="5704522" cy="738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  <a:tabLst>
                <a:tab pos="2743200" algn="ctr"/>
                <a:tab pos="5486400" algn="r"/>
              </a:tabLst>
            </a:pPr>
            <a:r>
              <a:rPr lang="en-US" altLang="en-US" sz="14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CESYS521: Defining Scope</a:t>
            </a:r>
            <a:endParaRPr lang="en-US" altLang="en-US" sz="800" dirty="0">
              <a:solidFill>
                <a:schemeClr val="tx1"/>
              </a:solidFill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  <a:tabLst>
                <a:tab pos="2743200" algn="ctr"/>
                <a:tab pos="5486400" algn="r"/>
              </a:tabLst>
            </a:pPr>
            <a:r>
              <a:rPr lang="en-US" altLang="en-US" sz="14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Cornell University College of Engineering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600F5-2116-468E-9D86-82B600941483}"/>
              </a:ext>
            </a:extLst>
          </p:cNvPr>
          <p:cNvSpPr txBox="1"/>
          <p:nvPr/>
        </p:nvSpPr>
        <p:spPr>
          <a:xfrm>
            <a:off x="468923" y="5931877"/>
            <a:ext cx="7983415" cy="46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FA63A-36D0-4737-84D0-6E7053EFDD1F}"/>
              </a:ext>
            </a:extLst>
          </p:cNvPr>
          <p:cNvSpPr txBox="1"/>
          <p:nvPr/>
        </p:nvSpPr>
        <p:spPr>
          <a:xfrm>
            <a:off x="140677" y="5814646"/>
            <a:ext cx="8765328" cy="692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2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2018 </a:t>
            </a:r>
            <a:r>
              <a:rPr lang="en-US" sz="1220" dirty="0" err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eCornell</a:t>
            </a:r>
            <a:r>
              <a:rPr lang="en-US" sz="122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All rights reserved. All other copyrights, trademarks, trade names, and logos are the sole property of their respective owners.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A7494E-C8AD-4B25-98F2-9BAE12FB298E}"/>
              </a:ext>
            </a:extLst>
          </p:cNvPr>
          <p:cNvSpPr/>
          <p:nvPr/>
        </p:nvSpPr>
        <p:spPr>
          <a:xfrm>
            <a:off x="-237995" y="-425885"/>
            <a:ext cx="9381995" cy="68266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Shape 129"/>
          <p:cNvSpPr txBox="1"/>
          <p:nvPr/>
        </p:nvSpPr>
        <p:spPr>
          <a:xfrm>
            <a:off x="1363380" y="107324"/>
            <a:ext cx="6599001" cy="3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pPr algn="ctr">
              <a:buSzPts val="1100"/>
            </a:pPr>
            <a:r>
              <a:rPr lang="en" sz="3333" dirty="0">
                <a:solidFill>
                  <a:schemeClr val="dk1"/>
                </a:solidFill>
              </a:rPr>
              <a:t>Context Diagram Sample</a:t>
            </a:r>
            <a:endParaRPr sz="2000" b="1" dirty="0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4037385" y="3009259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The System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3709899" y="2756882"/>
            <a:ext cx="1701667" cy="983001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Shape 132"/>
          <p:cNvSpPr/>
          <p:nvPr/>
        </p:nvSpPr>
        <p:spPr>
          <a:xfrm>
            <a:off x="7218907" y="904037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Roads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Shape 133"/>
          <p:cNvSpPr/>
          <p:nvPr/>
        </p:nvSpPr>
        <p:spPr>
          <a:xfrm>
            <a:off x="7204138" y="5018301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Parking Spaces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Shape 134"/>
          <p:cNvSpPr/>
          <p:nvPr/>
        </p:nvSpPr>
        <p:spPr>
          <a:xfrm>
            <a:off x="823159" y="987414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Weather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Shape 135"/>
          <p:cNvSpPr/>
          <p:nvPr/>
        </p:nvSpPr>
        <p:spPr>
          <a:xfrm>
            <a:off x="788348" y="2894088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Wildlife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/>
          <p:nvPr/>
        </p:nvSpPr>
        <p:spPr>
          <a:xfrm>
            <a:off x="924954" y="5018301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Passengers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Shape 137"/>
          <p:cNvSpPr/>
          <p:nvPr/>
        </p:nvSpPr>
        <p:spPr>
          <a:xfrm>
            <a:off x="3925698" y="5043069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Cargo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3814011" y="936958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Other Vehicles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7729470" y="2974067"/>
            <a:ext cx="1046667" cy="409667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Gas Stations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Shape 140"/>
          <p:cNvCxnSpPr>
            <a:stCxn id="138" idx="2"/>
            <a:endCxn id="130" idx="0"/>
          </p:cNvCxnSpPr>
          <p:nvPr/>
        </p:nvCxnSpPr>
        <p:spPr>
          <a:xfrm rot="-5400000" flipH="1">
            <a:off x="3617680" y="2066292"/>
            <a:ext cx="1662667" cy="223333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Shape 141"/>
          <p:cNvCxnSpPr>
            <a:stCxn id="132" idx="1"/>
          </p:cNvCxnSpPr>
          <p:nvPr/>
        </p:nvCxnSpPr>
        <p:spPr>
          <a:xfrm flipH="1">
            <a:off x="4972241" y="1108871"/>
            <a:ext cx="2246667" cy="1894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Shape 142"/>
          <p:cNvCxnSpPr>
            <a:stCxn id="130" idx="3"/>
            <a:endCxn id="139" idx="1"/>
          </p:cNvCxnSpPr>
          <p:nvPr/>
        </p:nvCxnSpPr>
        <p:spPr>
          <a:xfrm rot="10800000" flipH="1">
            <a:off x="5084052" y="3178760"/>
            <a:ext cx="2645333" cy="35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Shape 143"/>
          <p:cNvCxnSpPr>
            <a:stCxn id="130" idx="2"/>
            <a:endCxn id="137" idx="0"/>
          </p:cNvCxnSpPr>
          <p:nvPr/>
        </p:nvCxnSpPr>
        <p:spPr>
          <a:xfrm rot="5400000">
            <a:off x="3692884" y="4175091"/>
            <a:ext cx="1624000" cy="111667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Shape 144"/>
          <p:cNvCxnSpPr>
            <a:endCxn id="133" idx="1"/>
          </p:cNvCxnSpPr>
          <p:nvPr/>
        </p:nvCxnSpPr>
        <p:spPr>
          <a:xfrm>
            <a:off x="5083808" y="3415805"/>
            <a:ext cx="2120333" cy="1807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Shape 145"/>
          <p:cNvCxnSpPr>
            <a:stCxn id="130" idx="1"/>
            <a:endCxn id="135" idx="3"/>
          </p:cNvCxnSpPr>
          <p:nvPr/>
        </p:nvCxnSpPr>
        <p:spPr>
          <a:xfrm rot="10800000">
            <a:off x="1835051" y="3098757"/>
            <a:ext cx="2202333" cy="115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Shape 146"/>
          <p:cNvCxnSpPr>
            <a:stCxn id="134" idx="3"/>
          </p:cNvCxnSpPr>
          <p:nvPr/>
        </p:nvCxnSpPr>
        <p:spPr>
          <a:xfrm>
            <a:off x="1869826" y="1192248"/>
            <a:ext cx="2168000" cy="181066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Shape 147"/>
          <p:cNvCxnSpPr>
            <a:stCxn id="136" idx="3"/>
          </p:cNvCxnSpPr>
          <p:nvPr/>
        </p:nvCxnSpPr>
        <p:spPr>
          <a:xfrm rot="10800000" flipH="1">
            <a:off x="1971621" y="3415801"/>
            <a:ext cx="2213667" cy="1807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Shape 148"/>
          <p:cNvCxnSpPr>
            <a:stCxn id="134" idx="1"/>
            <a:endCxn id="136" idx="1"/>
          </p:cNvCxnSpPr>
          <p:nvPr/>
        </p:nvCxnSpPr>
        <p:spPr>
          <a:xfrm>
            <a:off x="823159" y="1192249"/>
            <a:ext cx="101667" cy="4031000"/>
          </a:xfrm>
          <a:prstGeom prst="bentConnector3">
            <a:avLst>
              <a:gd name="adj1" fmla="val -56384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Shape 149"/>
          <p:cNvSpPr txBox="1"/>
          <p:nvPr/>
        </p:nvSpPr>
        <p:spPr>
          <a:xfrm>
            <a:off x="249917" y="1108861"/>
            <a:ext cx="1046667" cy="92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r>
              <a:rPr lang="en" sz="13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affects visibility of</a:t>
            </a:r>
            <a:endParaRPr sz="2074" dirty="0"/>
          </a:p>
        </p:txBody>
      </p:sp>
      <p:pic>
        <p:nvPicPr>
          <p:cNvPr id="24" name="Picture 1">
            <a:extLst>
              <a:ext uri="{FF2B5EF4-FFF2-40B4-BE49-F238E27FC236}">
                <a16:creationId xmlns:a16="http://schemas.microsoft.com/office/drawing/2014/main" id="{FC904AD6-19A5-4231-8A93-D81BCFE93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" y="-286211"/>
            <a:ext cx="13081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D80EFE-E40C-4216-8C63-51F9315E84B3}"/>
              </a:ext>
            </a:extLst>
          </p:cNvPr>
          <p:cNvSpPr txBox="1"/>
          <p:nvPr/>
        </p:nvSpPr>
        <p:spPr>
          <a:xfrm>
            <a:off x="5173249" y="-202957"/>
            <a:ext cx="3732756" cy="338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87701-0AD8-4785-8766-9131DADE6EC0}"/>
              </a:ext>
            </a:extLst>
          </p:cNvPr>
          <p:cNvSpPr txBox="1"/>
          <p:nvPr/>
        </p:nvSpPr>
        <p:spPr>
          <a:xfrm>
            <a:off x="3078454" y="-465260"/>
            <a:ext cx="5704522" cy="738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  <a:tabLst>
                <a:tab pos="2743200" algn="ctr"/>
                <a:tab pos="5486400" algn="r"/>
              </a:tabLst>
            </a:pPr>
            <a:r>
              <a:rPr lang="en-US" altLang="en-US" sz="14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CESYS521: Defining Scope</a:t>
            </a:r>
            <a:endParaRPr lang="en-US" altLang="en-US" sz="800" dirty="0">
              <a:solidFill>
                <a:schemeClr val="tx1"/>
              </a:solidFill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  <a:tabLst>
                <a:tab pos="2743200" algn="ctr"/>
                <a:tab pos="5486400" algn="r"/>
              </a:tabLst>
            </a:pPr>
            <a:r>
              <a:rPr lang="en-US" altLang="en-US" sz="14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Cornell University College of Engineering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600F5-2116-468E-9D86-82B600941483}"/>
              </a:ext>
            </a:extLst>
          </p:cNvPr>
          <p:cNvSpPr txBox="1"/>
          <p:nvPr/>
        </p:nvSpPr>
        <p:spPr>
          <a:xfrm>
            <a:off x="468923" y="5931877"/>
            <a:ext cx="7983415" cy="46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FA63A-36D0-4737-84D0-6E7053EFDD1F}"/>
              </a:ext>
            </a:extLst>
          </p:cNvPr>
          <p:cNvSpPr txBox="1"/>
          <p:nvPr/>
        </p:nvSpPr>
        <p:spPr>
          <a:xfrm>
            <a:off x="140677" y="5814646"/>
            <a:ext cx="8765328" cy="692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2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2018 </a:t>
            </a:r>
            <a:r>
              <a:rPr lang="en-US" sz="1220" dirty="0" err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eCornell</a:t>
            </a:r>
            <a:r>
              <a:rPr lang="en-US" sz="122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All rights reserved. All other copyrights, trademarks, trade names, and logos are the sole property of their respective owners.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17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E0B857-7A00-4E3C-91EE-C81658915DB7}"/>
              </a:ext>
            </a:extLst>
          </p:cNvPr>
          <p:cNvSpPr/>
          <p:nvPr/>
        </p:nvSpPr>
        <p:spPr>
          <a:xfrm>
            <a:off x="-644928" y="-814192"/>
            <a:ext cx="10578068" cy="8868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Shape 154"/>
          <p:cNvSpPr/>
          <p:nvPr/>
        </p:nvSpPr>
        <p:spPr>
          <a:xfrm>
            <a:off x="4027668" y="3464943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Your System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2080334" y="2203276"/>
            <a:ext cx="5080000" cy="2660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endParaRPr sz="13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Shape 156"/>
          <p:cNvSpPr/>
          <p:nvPr/>
        </p:nvSpPr>
        <p:spPr>
          <a:xfrm>
            <a:off x="8246486" y="679141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 dirty="0">
                <a:latin typeface="Calibri"/>
                <a:ea typeface="Calibri"/>
                <a:cs typeface="Calibri"/>
                <a:sym typeface="Calibri"/>
              </a:rPr>
              <a:t>Roads</a:t>
            </a:r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Shape 157"/>
          <p:cNvSpPr/>
          <p:nvPr/>
        </p:nvSpPr>
        <p:spPr>
          <a:xfrm>
            <a:off x="7658656" y="6123472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Parking Spaces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Shape 158"/>
          <p:cNvSpPr/>
          <p:nvPr/>
        </p:nvSpPr>
        <p:spPr>
          <a:xfrm>
            <a:off x="541819" y="789472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Weather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Shape 159"/>
          <p:cNvSpPr/>
          <p:nvPr/>
        </p:nvSpPr>
        <p:spPr>
          <a:xfrm>
            <a:off x="173657" y="2819654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Wildlife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Shape 160"/>
          <p:cNvSpPr/>
          <p:nvPr/>
        </p:nvSpPr>
        <p:spPr>
          <a:xfrm>
            <a:off x="556333" y="6123472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Passengers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Shape 161"/>
          <p:cNvSpPr/>
          <p:nvPr/>
        </p:nvSpPr>
        <p:spPr>
          <a:xfrm>
            <a:off x="3899607" y="6156247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Cargo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Shape 162"/>
          <p:cNvSpPr/>
          <p:nvPr/>
        </p:nvSpPr>
        <p:spPr>
          <a:xfrm>
            <a:off x="3771548" y="722706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Other Vehicles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Shape 163"/>
          <p:cNvSpPr/>
          <p:nvPr/>
        </p:nvSpPr>
        <p:spPr>
          <a:xfrm>
            <a:off x="8451990" y="3665719"/>
            <a:ext cx="1200000" cy="542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Gas Stations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Shape 164"/>
          <p:cNvCxnSpPr>
            <a:stCxn id="162" idx="2"/>
            <a:endCxn id="154" idx="0"/>
          </p:cNvCxnSpPr>
          <p:nvPr/>
        </p:nvCxnSpPr>
        <p:spPr>
          <a:xfrm rot="-5400000" flipH="1">
            <a:off x="3399385" y="2236871"/>
            <a:ext cx="2200334" cy="2560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Shape 165"/>
          <p:cNvCxnSpPr>
            <a:stCxn id="156" idx="1"/>
          </p:cNvCxnSpPr>
          <p:nvPr/>
        </p:nvCxnSpPr>
        <p:spPr>
          <a:xfrm flipH="1">
            <a:off x="5242155" y="950142"/>
            <a:ext cx="3004333" cy="2506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Shape 166"/>
          <p:cNvCxnSpPr>
            <a:cxnSpLocks/>
            <a:stCxn id="154" idx="3"/>
            <a:endCxn id="163" idx="1"/>
          </p:cNvCxnSpPr>
          <p:nvPr/>
        </p:nvCxnSpPr>
        <p:spPr>
          <a:xfrm>
            <a:off x="5227669" y="3735941"/>
            <a:ext cx="3224333" cy="20066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Shape 167"/>
          <p:cNvCxnSpPr>
            <a:endCxn id="161" idx="0"/>
          </p:cNvCxnSpPr>
          <p:nvPr/>
        </p:nvCxnSpPr>
        <p:spPr>
          <a:xfrm rot="-5400000" flipH="1">
            <a:off x="3229109" y="4885748"/>
            <a:ext cx="2153667" cy="387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Shape 168"/>
          <p:cNvCxnSpPr>
            <a:endCxn id="157" idx="1"/>
          </p:cNvCxnSpPr>
          <p:nvPr/>
        </p:nvCxnSpPr>
        <p:spPr>
          <a:xfrm>
            <a:off x="5227658" y="4002807"/>
            <a:ext cx="2431000" cy="239166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Shape 169"/>
          <p:cNvCxnSpPr>
            <a:stCxn id="154" idx="1"/>
            <a:endCxn id="159" idx="3"/>
          </p:cNvCxnSpPr>
          <p:nvPr/>
        </p:nvCxnSpPr>
        <p:spPr>
          <a:xfrm rot="10800000">
            <a:off x="1373667" y="3090607"/>
            <a:ext cx="2654000" cy="645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Shape 170"/>
          <p:cNvCxnSpPr>
            <a:stCxn id="158" idx="3"/>
          </p:cNvCxnSpPr>
          <p:nvPr/>
        </p:nvCxnSpPr>
        <p:spPr>
          <a:xfrm>
            <a:off x="1741820" y="1060472"/>
            <a:ext cx="2485667" cy="2396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Shape 171"/>
          <p:cNvCxnSpPr/>
          <p:nvPr/>
        </p:nvCxnSpPr>
        <p:spPr>
          <a:xfrm rot="10800000" flipH="1">
            <a:off x="1741807" y="3983557"/>
            <a:ext cx="2802333" cy="2311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Shape 172"/>
          <p:cNvSpPr txBox="1"/>
          <p:nvPr/>
        </p:nvSpPr>
        <p:spPr>
          <a:xfrm>
            <a:off x="-290332" y="1069524"/>
            <a:ext cx="1085667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 dirty="0">
                <a:latin typeface="Calibri"/>
                <a:ea typeface="Calibri"/>
                <a:cs typeface="Calibri"/>
                <a:sym typeface="Calibri"/>
              </a:rPr>
              <a:t>affects visibility of </a:t>
            </a:r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Shape 173"/>
          <p:cNvSpPr txBox="1"/>
          <p:nvPr/>
        </p:nvSpPr>
        <p:spPr>
          <a:xfrm>
            <a:off x="1741668" y="789472"/>
            <a:ext cx="1484333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affects handling of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Shape 174"/>
          <p:cNvSpPr txBox="1"/>
          <p:nvPr/>
        </p:nvSpPr>
        <p:spPr>
          <a:xfrm>
            <a:off x="4366338" y="1284448"/>
            <a:ext cx="2201333" cy="71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collides with, cut offs, passes, alerts to its actions &amp; intentions, honks at, 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Shape 175"/>
          <p:cNvSpPr txBox="1"/>
          <p:nvPr/>
        </p:nvSpPr>
        <p:spPr>
          <a:xfrm>
            <a:off x="6821668" y="672241"/>
            <a:ext cx="1438333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support weight of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Shape 176"/>
          <p:cNvSpPr txBox="1"/>
          <p:nvPr/>
        </p:nvSpPr>
        <p:spPr>
          <a:xfrm>
            <a:off x="5213004" y="2575479"/>
            <a:ext cx="2081667" cy="92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fit in the lanes of, be able to take turns of,</a:t>
            </a:r>
            <a:endParaRPr sz="2074"/>
          </a:p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Have necessary friction against without damaging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Shape 177"/>
          <p:cNvSpPr txBox="1"/>
          <p:nvPr/>
        </p:nvSpPr>
        <p:spPr>
          <a:xfrm>
            <a:off x="7216295" y="3686004"/>
            <a:ext cx="1582333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 dirty="0">
                <a:latin typeface="Calibri"/>
                <a:ea typeface="Calibri"/>
                <a:cs typeface="Calibri"/>
                <a:sym typeface="Calibri"/>
              </a:rPr>
              <a:t>provide fuel for</a:t>
            </a:r>
            <a:endParaRPr sz="1333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Shape 178"/>
          <p:cNvSpPr txBox="1"/>
          <p:nvPr/>
        </p:nvSpPr>
        <p:spPr>
          <a:xfrm>
            <a:off x="5167541" y="3511834"/>
            <a:ext cx="1582333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obtain fuel from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Shape 179"/>
          <p:cNvSpPr txBox="1"/>
          <p:nvPr/>
        </p:nvSpPr>
        <p:spPr>
          <a:xfrm>
            <a:off x="6116715" y="4024731"/>
            <a:ext cx="1213001" cy="71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fit in,  maneuver in and out of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Shape 180"/>
          <p:cNvSpPr txBox="1"/>
          <p:nvPr/>
        </p:nvSpPr>
        <p:spPr>
          <a:xfrm>
            <a:off x="4451000" y="5848576"/>
            <a:ext cx="1582333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stored in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Shape 181"/>
          <p:cNvSpPr txBox="1"/>
          <p:nvPr/>
        </p:nvSpPr>
        <p:spPr>
          <a:xfrm>
            <a:off x="1348575" y="2647179"/>
            <a:ext cx="816333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runs in front of 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Shape 182"/>
          <p:cNvSpPr/>
          <p:nvPr/>
        </p:nvSpPr>
        <p:spPr>
          <a:xfrm>
            <a:off x="2781481" y="2313473"/>
            <a:ext cx="1923667" cy="71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pPr algn="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alerts to its actions &amp; intentions, avoids, passes, easily seen by, 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Shape 183"/>
          <p:cNvSpPr txBox="1"/>
          <p:nvPr/>
        </p:nvSpPr>
        <p:spPr>
          <a:xfrm>
            <a:off x="2138745" y="3492293"/>
            <a:ext cx="1804333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avoids, collides with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Shape 184"/>
          <p:cNvSpPr txBox="1"/>
          <p:nvPr/>
        </p:nvSpPr>
        <p:spPr>
          <a:xfrm>
            <a:off x="4112337" y="3978960"/>
            <a:ext cx="1439333" cy="92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carries without damaging, handles a variety of sizes of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Shape 185"/>
          <p:cNvSpPr txBox="1"/>
          <p:nvPr/>
        </p:nvSpPr>
        <p:spPr>
          <a:xfrm>
            <a:off x="2900952" y="3231783"/>
            <a:ext cx="1226667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drives through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Shape 186"/>
          <p:cNvCxnSpPr>
            <a:stCxn id="158" idx="1"/>
            <a:endCxn id="160" idx="1"/>
          </p:cNvCxnSpPr>
          <p:nvPr/>
        </p:nvCxnSpPr>
        <p:spPr>
          <a:xfrm>
            <a:off x="541819" y="1060472"/>
            <a:ext cx="14667" cy="5334000"/>
          </a:xfrm>
          <a:prstGeom prst="bentConnector3">
            <a:avLst>
              <a:gd name="adj1" fmla="val -180397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" name="Shape 187"/>
          <p:cNvSpPr/>
          <p:nvPr/>
        </p:nvSpPr>
        <p:spPr>
          <a:xfrm>
            <a:off x="-134750" y="6739139"/>
            <a:ext cx="387333" cy="307667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A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Shape 188"/>
          <p:cNvSpPr/>
          <p:nvPr/>
        </p:nvSpPr>
        <p:spPr>
          <a:xfrm>
            <a:off x="-144978" y="7074306"/>
            <a:ext cx="387333" cy="310000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B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Shape 189"/>
          <p:cNvSpPr txBox="1"/>
          <p:nvPr/>
        </p:nvSpPr>
        <p:spPr>
          <a:xfrm>
            <a:off x="217667" y="6821972"/>
            <a:ext cx="7243667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safely transports,  protects in a crash, reacts to commands effectively 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Shape 190"/>
          <p:cNvSpPr txBox="1"/>
          <p:nvPr/>
        </p:nvSpPr>
        <p:spPr>
          <a:xfrm>
            <a:off x="226134" y="7126772"/>
            <a:ext cx="9313333" cy="30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steer, sleep in, fit in, can get in and out of, listen to radio in, see environment while within, alert other vehicles to their actions 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Shape 191"/>
          <p:cNvSpPr/>
          <p:nvPr/>
        </p:nvSpPr>
        <p:spPr>
          <a:xfrm>
            <a:off x="3531807" y="4176945"/>
            <a:ext cx="387333" cy="307667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A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Shape 192"/>
          <p:cNvSpPr/>
          <p:nvPr/>
        </p:nvSpPr>
        <p:spPr>
          <a:xfrm>
            <a:off x="1741667" y="5877417"/>
            <a:ext cx="387333" cy="307667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/>
            <a:r>
              <a:rPr lang="en" sz="1333">
                <a:latin typeface="Calibri"/>
                <a:ea typeface="Calibri"/>
                <a:cs typeface="Calibri"/>
                <a:sym typeface="Calibri"/>
              </a:rPr>
              <a:t>B</a:t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Shape 193"/>
          <p:cNvSpPr txBox="1"/>
          <p:nvPr/>
        </p:nvSpPr>
        <p:spPr>
          <a:xfrm>
            <a:off x="2020362" y="5383750"/>
            <a:ext cx="1582333" cy="7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r>
              <a:rPr lang="en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steer, sleep in, fit in, can get in and out of, listen to radio in, see environment while within, alert other vehicles to their actions, 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1314334" y="-65417"/>
            <a:ext cx="7035333" cy="3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t" anchorCtr="0">
            <a:noAutofit/>
          </a:bodyPr>
          <a:lstStyle/>
          <a:p>
            <a:pPr algn="ctr">
              <a:buSzPts val="1100"/>
            </a:pPr>
            <a:r>
              <a:rPr lang="en" sz="3333">
                <a:solidFill>
                  <a:schemeClr val="dk1"/>
                </a:solidFill>
              </a:rPr>
              <a:t>Context Diagram Sample - Detailed</a:t>
            </a:r>
            <a:endParaRPr sz="2000" b="1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5BE34-DE1A-4537-B297-D57A8E16E67A}"/>
              </a:ext>
            </a:extLst>
          </p:cNvPr>
          <p:cNvSpPr txBox="1"/>
          <p:nvPr/>
        </p:nvSpPr>
        <p:spPr>
          <a:xfrm>
            <a:off x="93864" y="-852021"/>
            <a:ext cx="9445604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  <a:tabLst>
                <a:tab pos="2743200" algn="ctr"/>
                <a:tab pos="5486400" algn="r"/>
              </a:tabLst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	</a:t>
            </a:r>
            <a:r>
              <a:rPr lang="en-US" altLang="en-US" sz="14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CESYS521: Defining Scope</a:t>
            </a:r>
            <a:endParaRPr lang="en-US" altLang="en-US" sz="800" dirty="0">
              <a:solidFill>
                <a:schemeClr val="tx1"/>
              </a:solidFill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  <a:tabLst>
                <a:tab pos="2743200" algn="ctr"/>
                <a:tab pos="5486400" algn="r"/>
              </a:tabLst>
            </a:pPr>
            <a:r>
              <a:rPr lang="en-US" altLang="en-US" sz="14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Cornell University College of Engineering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C3DCCC4D-4AC1-4DA0-A1EF-5CC174FF7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34" y="-623385"/>
            <a:ext cx="13081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50C01-5C69-480F-9BD4-3E75A67594F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-644928" y="7739239"/>
            <a:ext cx="10578068" cy="304333"/>
          </a:xfrm>
        </p:spPr>
        <p:txBody>
          <a:bodyPr/>
          <a:lstStyle/>
          <a:p>
            <a:r>
              <a:rPr lang="en-US" dirty="0"/>
              <a:t>Copyright © 2018 </a:t>
            </a:r>
            <a:r>
              <a:rPr lang="en-US" dirty="0" err="1"/>
              <a:t>eCornell</a:t>
            </a:r>
            <a:r>
              <a:rPr lang="en-US" dirty="0"/>
              <a:t>. All rights reserved. All other copyrights, trademarks, trade names, and logos are the sole property of their respective owners.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418</Words>
  <Application>Microsoft Macintosh PowerPoint</Application>
  <PresentationFormat>On-screen Show (16:10)</PresentationFormat>
  <Paragraphs>67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MS Mincho</vt:lpstr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Tara Allred</dc:creator>
  <cp:lastModifiedBy>mpierce@ecornell.com</cp:lastModifiedBy>
  <cp:revision>7</cp:revision>
  <dcterms:modified xsi:type="dcterms:W3CDTF">2018-09-18T13:44:45Z</dcterms:modified>
</cp:coreProperties>
</file>