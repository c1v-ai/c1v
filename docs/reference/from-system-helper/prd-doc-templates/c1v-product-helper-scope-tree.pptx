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62" r:id="rId3"/>
    <p:sldId id="265" r:id="rId4"/>
    <p:sldId id="256" r:id="rId5"/>
    <p:sldId id="264" r:id="rId6"/>
  </p:sldIdLst>
  <p:sldSz cx="10058400" cy="7315200"/>
  <p:notesSz cx="6858000" cy="9144000"/>
  <p:defaultTextStyle>
    <a:defPPr>
      <a:defRPr lang="en-US"/>
    </a:defPPr>
    <a:lvl1pPr marL="0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1pPr>
    <a:lvl2pPr marL="555955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2pPr>
    <a:lvl3pPr marL="1111910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3pPr>
    <a:lvl4pPr marL="1667866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4pPr>
    <a:lvl5pPr marL="2223821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5pPr>
    <a:lvl6pPr marL="2779776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6pPr>
    <a:lvl7pPr marL="3335731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7pPr>
    <a:lvl8pPr marL="3891686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8pPr>
    <a:lvl9pPr marL="4447642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1"/>
    <p:restoredTop sz="94680"/>
  </p:normalViewPr>
  <p:slideViewPr>
    <p:cSldViewPr>
      <p:cViewPr varScale="1">
        <p:scale>
          <a:sx n="91" d="100"/>
          <a:sy n="91" d="100"/>
        </p:scale>
        <p:origin x="200" y="952"/>
      </p:cViewPr>
      <p:guideLst>
        <p:guide orient="horz" pos="2304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E7C1-72C0-4645-B38B-D0A012FB2BF0}" type="datetimeFigureOut">
              <a:rPr lang="en-US" smtClean="0"/>
              <a:t>1/10/26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06513" y="1143000"/>
            <a:ext cx="4244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D7950-37A9-194E-AEB6-2BC48C57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8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1pPr>
    <a:lvl2pPr marL="555955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2pPr>
    <a:lvl3pPr marL="1111910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3pPr>
    <a:lvl4pPr marL="1667866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4pPr>
    <a:lvl5pPr marL="2223821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5pPr>
    <a:lvl6pPr marL="2779776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6pPr>
    <a:lvl7pPr marL="3335731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7pPr>
    <a:lvl8pPr marL="3891686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8pPr>
    <a:lvl9pPr marL="4447642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D7950-37A9-194E-AEB6-2BC48C57B5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13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A2B48-DD24-E47B-2133-99F2A9431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6401E-07FF-7E56-6C8B-BF333C68C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3A1E4E-2488-FA31-E2C4-ACB3D7DAD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5A649-AF08-8715-5648-59ADD8651F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D7950-37A9-194E-AEB6-2BC48C57B5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03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D7950-37A9-194E-AEB6-2BC48C57B5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48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B3AFF-973A-5294-5A4E-82FB8FBA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FD243E-0F04-C836-69D9-DEC62A1D2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CE081-7515-D49F-6872-D840C6623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B38BF-234F-8ED8-7FB4-6D8AAD8E55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D7950-37A9-194E-AEB6-2BC48C57B5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17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272454"/>
            <a:ext cx="854964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145280"/>
            <a:ext cx="704088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1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700695"/>
            <a:ext cx="8549640" cy="145288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100494"/>
            <a:ext cx="8549640" cy="160019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9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280161"/>
            <a:ext cx="4442460" cy="36203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0" y="1280161"/>
            <a:ext cx="4442460" cy="36203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5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92948"/>
            <a:ext cx="9052560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637454"/>
            <a:ext cx="4444207" cy="68241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" y="2319866"/>
            <a:ext cx="4444207" cy="421470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9529" y="1637454"/>
            <a:ext cx="4445953" cy="68241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9529" y="2319866"/>
            <a:ext cx="4445953" cy="421470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1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94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7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2" y="291252"/>
            <a:ext cx="3309144" cy="123952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555" y="291255"/>
            <a:ext cx="5622925" cy="624332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922" y="1530776"/>
            <a:ext cx="3309144" cy="50038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73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517" y="5120640"/>
            <a:ext cx="6035040" cy="60452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1517" y="653626"/>
            <a:ext cx="6035040" cy="43891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1517" y="5725161"/>
            <a:ext cx="6035040" cy="858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0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4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2340" y="220133"/>
            <a:ext cx="2263140" cy="468037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220133"/>
            <a:ext cx="6621780" cy="46803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6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292948"/>
            <a:ext cx="9052560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706881"/>
            <a:ext cx="9052560" cy="4827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6780107"/>
            <a:ext cx="234696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F2CB9-BFCA-4425-9ED4-95C11CFD7E7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36620" y="6780107"/>
            <a:ext cx="318516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08520" y="6780107"/>
            <a:ext cx="234696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9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C594144-4A3E-4BB6-9E43-714FA2C66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39" y="307788"/>
            <a:ext cx="1177290" cy="308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69A9258-4D49-4E49-8950-929F11B12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8600"/>
            <a:ext cx="6604781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296" tIns="41148" rIns="82296" bIns="411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defTabSz="822960">
              <a:tabLst>
                <a:tab pos="2468880" algn="ctr"/>
                <a:tab pos="4937760" algn="r"/>
              </a:tabLst>
            </a:pPr>
            <a:r>
              <a:rPr lang="en-US" altLang="en-US" sz="108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	</a:t>
            </a:r>
            <a:r>
              <a:rPr lang="en-US" altLang="en-US" sz="900" dirty="0">
                <a:solidFill>
                  <a:srgbClr val="000000"/>
                </a:solidFill>
                <a:ea typeface="MS Mincho" panose="02020609040205080304" pitchFamily="49" charset="-128"/>
                <a:cs typeface="Arial" panose="020B0604020202020204" pitchFamily="34" charset="0"/>
              </a:rPr>
              <a:t>CESYS521: Defining Scope</a:t>
            </a:r>
            <a:endParaRPr lang="en-US" altLang="en-US" sz="540" dirty="0"/>
          </a:p>
          <a:p>
            <a:pPr algn="r" defTabSz="822960">
              <a:tabLst>
                <a:tab pos="2468880" algn="ctr"/>
                <a:tab pos="4937760" algn="r"/>
              </a:tabLst>
            </a:pPr>
            <a:r>
              <a:rPr lang="en-US" altLang="en-US" sz="900" dirty="0">
                <a:solidFill>
                  <a:srgbClr val="000000"/>
                </a:solidFill>
                <a:ea typeface="MS Mincho" panose="02020609040205080304" pitchFamily="49" charset="-128"/>
                <a:cs typeface="Arial" panose="020B0604020202020204" pitchFamily="34" charset="0"/>
              </a:rPr>
              <a:t>Cornell University College of Engineering</a:t>
            </a:r>
            <a:endParaRPr lang="en-US" altLang="en-US" sz="162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175281-30FA-4418-BCFD-7E406A1E6377}"/>
              </a:ext>
            </a:extLst>
          </p:cNvPr>
          <p:cNvSpPr txBox="1"/>
          <p:nvPr/>
        </p:nvSpPr>
        <p:spPr>
          <a:xfrm>
            <a:off x="406644" y="1115722"/>
            <a:ext cx="66047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40" b="1" dirty="0">
                <a:latin typeface="Arial" panose="020B0604020202020204" pitchFamily="34" charset="0"/>
                <a:cs typeface="Arial" panose="020B0604020202020204" pitchFamily="34" charset="0"/>
              </a:rPr>
              <a:t>Instructions:</a:t>
            </a:r>
            <a:endParaRPr lang="en-US" sz="10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80" dirty="0">
                <a:latin typeface="Arial" panose="020B0604020202020204" pitchFamily="34" charset="0"/>
                <a:cs typeface="Arial" panose="020B0604020202020204" pitchFamily="34" charset="0"/>
              </a:rPr>
              <a:t>Use this template to create your own scope tree diagram to show the path of all the things needed to achieve a deliverable. </a:t>
            </a:r>
          </a:p>
          <a:p>
            <a:endParaRPr lang="en-US" sz="10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80" dirty="0">
                <a:latin typeface="Arial" panose="020B0604020202020204" pitchFamily="34" charset="0"/>
                <a:cs typeface="Arial" panose="020B0604020202020204" pitchFamily="34" charset="0"/>
              </a:rPr>
              <a:t>To help you navigate through this PowerPoint:</a:t>
            </a:r>
          </a:p>
          <a:p>
            <a:pPr marL="565785" lvl="1" indent="-154305">
              <a:buFont typeface="Arial" panose="020B0604020202020204" pitchFamily="34" charset="0"/>
              <a:buChar char="•"/>
            </a:pPr>
            <a:r>
              <a:rPr lang="en-US" sz="1080" dirty="0">
                <a:latin typeface="Arial" panose="020B0604020202020204" pitchFamily="34" charset="0"/>
                <a:cs typeface="Arial" panose="020B0604020202020204" pitchFamily="34" charset="0"/>
              </a:rPr>
              <a:t>Slide 2 – Scope Tree Template</a:t>
            </a:r>
          </a:p>
          <a:p>
            <a:pPr marL="565785" lvl="1" indent="-154305">
              <a:buFont typeface="Arial" panose="020B0604020202020204" pitchFamily="34" charset="0"/>
              <a:buChar char="•"/>
            </a:pPr>
            <a:r>
              <a:rPr lang="en-US" sz="1080" dirty="0">
                <a:latin typeface="Arial" panose="020B0604020202020204" pitchFamily="34" charset="0"/>
                <a:cs typeface="Arial" panose="020B0604020202020204" pitchFamily="34" charset="0"/>
              </a:rPr>
              <a:t>Slide 3 – Scope Tree Example</a:t>
            </a:r>
          </a:p>
          <a:p>
            <a:pPr marL="411480" lvl="1"/>
            <a:endParaRPr lang="en-US" sz="108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024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40"/>
          <p:cNvSpPr txBox="1">
            <a:spLocks/>
          </p:cNvSpPr>
          <p:nvPr/>
        </p:nvSpPr>
        <p:spPr>
          <a:xfrm>
            <a:off x="2626659" y="73661"/>
            <a:ext cx="4805081" cy="458954"/>
          </a:xfrm>
          <a:prstGeom prst="rect">
            <a:avLst/>
          </a:prstGeom>
        </p:spPr>
        <p:txBody>
          <a:bodyPr spcFirstLastPara="1" vert="horz" wrap="square" lIns="57150" tIns="57150" rIns="57150" bIns="57150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SzPts val="1100"/>
            </a:pPr>
            <a:r>
              <a:rPr lang="en-US" sz="2200" dirty="0"/>
              <a:t>Scope Tree Template</a:t>
            </a:r>
            <a:endParaRPr lang="en-US" sz="2200" b="1" dirty="0">
              <a:solidFill>
                <a:srgbClr val="A044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91000" y="615608"/>
            <a:ext cx="167640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Your Mission</a:t>
            </a:r>
            <a:endParaRPr lang="en-US" sz="1050" b="1" dirty="0"/>
          </a:p>
          <a:p>
            <a:pPr algn="ctr"/>
            <a:r>
              <a:rPr lang="en-US" sz="1000" dirty="0"/>
              <a:t>(root node)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7436" y="1364409"/>
            <a:ext cx="87832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Primary Deliverable</a:t>
            </a:r>
            <a:endParaRPr lang="en-US" sz="1000" b="1" dirty="0"/>
          </a:p>
        </p:txBody>
      </p:sp>
      <p:cxnSp>
        <p:nvCxnSpPr>
          <p:cNvPr id="11" name="Elbow Connector 10"/>
          <p:cNvCxnSpPr>
            <a:stCxn id="9" idx="2"/>
            <a:endCxn id="10" idx="0"/>
          </p:cNvCxnSpPr>
          <p:nvPr/>
        </p:nvCxnSpPr>
        <p:spPr>
          <a:xfrm rot="5400000">
            <a:off x="3993943" y="329151"/>
            <a:ext cx="317914" cy="17526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0" idx="2"/>
            <a:endCxn id="17" idx="0"/>
          </p:cNvCxnSpPr>
          <p:nvPr/>
        </p:nvCxnSpPr>
        <p:spPr>
          <a:xfrm rot="5400000">
            <a:off x="2910334" y="1722398"/>
            <a:ext cx="293368" cy="43916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02602" y="2088663"/>
            <a:ext cx="8696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447801" y="4048558"/>
            <a:ext cx="74402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cxnSp>
        <p:nvCxnSpPr>
          <p:cNvPr id="22" name="Elbow Connector 21"/>
          <p:cNvCxnSpPr/>
          <p:nvPr/>
        </p:nvCxnSpPr>
        <p:spPr>
          <a:xfrm rot="10800000" flipV="1">
            <a:off x="8458202" y="2200294"/>
            <a:ext cx="530749" cy="26283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19764" y="2851666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365" y="3707894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" y="73661"/>
            <a:ext cx="14670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NameOfMainDeliverable</a:t>
            </a:r>
            <a:r>
              <a:rPr lang="en-US" sz="900" dirty="0"/>
              <a:t>(s)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762000"/>
            <a:ext cx="1828800" cy="38862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14789" y="1524000"/>
            <a:ext cx="7440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deliverable </a:t>
            </a:r>
            <a:r>
              <a:rPr lang="en-US" sz="900" b="1"/>
              <a:t>/ task</a:t>
            </a:r>
            <a:endParaRPr lang="en-US" sz="7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7865935" y="835223"/>
            <a:ext cx="1714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Scope Tree Elements</a:t>
            </a:r>
          </a:p>
        </p:txBody>
      </p:sp>
    </p:spTree>
    <p:extLst>
      <p:ext uri="{BB962C8B-B14F-4D97-AF65-F5344CB8AC3E}">
        <p14:creationId xmlns:p14="http://schemas.microsoft.com/office/powerpoint/2010/main" val="155001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6BB07-D015-6163-32E1-F9D98511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40">
            <a:extLst>
              <a:ext uri="{FF2B5EF4-FFF2-40B4-BE49-F238E27FC236}">
                <a16:creationId xmlns:a16="http://schemas.microsoft.com/office/drawing/2014/main" id="{DF785A96-1DF4-22F9-3F29-935FA09168D7}"/>
              </a:ext>
            </a:extLst>
          </p:cNvPr>
          <p:cNvSpPr txBox="1">
            <a:spLocks/>
          </p:cNvSpPr>
          <p:nvPr/>
        </p:nvSpPr>
        <p:spPr>
          <a:xfrm>
            <a:off x="2675914" y="525178"/>
            <a:ext cx="1755360" cy="458954"/>
          </a:xfrm>
          <a:prstGeom prst="rect">
            <a:avLst/>
          </a:prstGeom>
        </p:spPr>
        <p:txBody>
          <a:bodyPr spcFirstLastPara="1" vert="horz" wrap="square" lIns="57150" tIns="57150" rIns="57150" bIns="57150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SzPts val="1100"/>
            </a:pPr>
            <a:endParaRPr lang="en-US" sz="2200" b="1" dirty="0">
              <a:solidFill>
                <a:srgbClr val="A044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75917C-0FF9-4F0D-7F00-BE01E7826076}"/>
              </a:ext>
            </a:extLst>
          </p:cNvPr>
          <p:cNvSpPr txBox="1"/>
          <p:nvPr/>
        </p:nvSpPr>
        <p:spPr>
          <a:xfrm>
            <a:off x="1289641" y="522065"/>
            <a:ext cx="8025382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Your Mission(root node) </a:t>
            </a:r>
          </a:p>
          <a:p>
            <a:pPr algn="ctr"/>
            <a:r>
              <a:rPr lang="en-CA" sz="1000" dirty="0"/>
              <a:t>Enable a single user to generate a Cornell-compliant PRD artifact package (first draft) using LLM + sufficiency gating + baseline/versioning.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2CCCA-28E7-6FDD-C847-20539FC6CA6B}"/>
              </a:ext>
            </a:extLst>
          </p:cNvPr>
          <p:cNvSpPr txBox="1"/>
          <p:nvPr/>
        </p:nvSpPr>
        <p:spPr>
          <a:xfrm>
            <a:off x="1891999" y="1305457"/>
            <a:ext cx="129399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000" b="1" dirty="0"/>
              <a:t>PD-1 — PRD Artifact Package Generator</a:t>
            </a:r>
            <a:endParaRPr lang="en-US" sz="1000" b="1" dirty="0"/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D86D573F-A25E-B353-FF08-C4B1681CB386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3744414" y="-252462"/>
            <a:ext cx="352505" cy="276333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AC0F635F-AB3E-A299-5FF8-84150AE94C4B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rot="5400000">
            <a:off x="1058241" y="1260351"/>
            <a:ext cx="1035543" cy="192597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D9F1F77-93B0-1937-0815-BB45FF110E6F}"/>
              </a:ext>
            </a:extLst>
          </p:cNvPr>
          <p:cNvSpPr txBox="1"/>
          <p:nvPr/>
        </p:nvSpPr>
        <p:spPr>
          <a:xfrm>
            <a:off x="187949" y="2741110"/>
            <a:ext cx="85015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800" dirty="0"/>
              <a:t>ID-1.1 Intake Capture, data normalization </a:t>
            </a:r>
            <a:endParaRPr lang="en-US" sz="7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DD188C-FE80-9057-9F22-EACCCAEC6D6F}"/>
              </a:ext>
            </a:extLst>
          </p:cNvPr>
          <p:cNvSpPr txBox="1"/>
          <p:nvPr/>
        </p:nvSpPr>
        <p:spPr>
          <a:xfrm>
            <a:off x="0" y="4622884"/>
            <a:ext cx="74402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900" b="1" dirty="0"/>
              <a:t>Leaf:</a:t>
            </a:r>
            <a:r>
              <a:rPr lang="en-CA" sz="900" dirty="0"/>
              <a:t> Define Intake JSON schema (v1)</a:t>
            </a:r>
            <a:endParaRPr lang="en-US" sz="7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1377BD-EDD9-4BF9-298B-A053788D41E6}"/>
              </a:ext>
            </a:extLst>
          </p:cNvPr>
          <p:cNvSpPr txBox="1"/>
          <p:nvPr/>
        </p:nvSpPr>
        <p:spPr>
          <a:xfrm>
            <a:off x="17643" y="463319"/>
            <a:ext cx="1040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Scope Tree</a:t>
            </a:r>
          </a:p>
          <a:p>
            <a:r>
              <a:rPr lang="en-US" sz="900" dirty="0"/>
              <a:t>David Ancor</a:t>
            </a:r>
          </a:p>
          <a:p>
            <a:r>
              <a:rPr lang="en-US" sz="900" dirty="0"/>
              <a:t>V0.1</a:t>
            </a:r>
          </a:p>
          <a:p>
            <a:r>
              <a:rPr lang="en-US" sz="900" dirty="0"/>
              <a:t>Date: Jan 10, 2026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7E4F53-6D29-32CE-84C9-545AF75458EF}"/>
              </a:ext>
            </a:extLst>
          </p:cNvPr>
          <p:cNvSpPr txBox="1"/>
          <p:nvPr/>
        </p:nvSpPr>
        <p:spPr>
          <a:xfrm>
            <a:off x="52077" y="1220214"/>
            <a:ext cx="1368109" cy="95410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dirty="0"/>
              <a:t>Performance Criteria: </a:t>
            </a:r>
            <a:r>
              <a:rPr lang="en-CA" sz="800" dirty="0"/>
              <a:t>Context Diagram, Use Case Diagram, Scope Tree, UCBD(s), Requirements Table, Constants Table (if used), </a:t>
            </a:r>
            <a:r>
              <a:rPr lang="en-CA" sz="800" dirty="0" err="1"/>
              <a:t>SysML</a:t>
            </a:r>
            <a:r>
              <a:rPr lang="en-CA" sz="800" dirty="0"/>
              <a:t> Activity Diagram</a:t>
            </a:r>
            <a:endParaRPr lang="en-US" sz="800" b="1" dirty="0"/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5F53CF91-3992-4D15-6E48-945D29DD52DB}"/>
              </a:ext>
            </a:extLst>
          </p:cNvPr>
          <p:cNvCxnSpPr>
            <a:cxnSpLocks/>
            <a:stCxn id="10" idx="1"/>
            <a:endCxn id="31" idx="3"/>
          </p:cNvCxnSpPr>
          <p:nvPr/>
        </p:nvCxnSpPr>
        <p:spPr>
          <a:xfrm rot="10800000" flipV="1">
            <a:off x="1420187" y="1505512"/>
            <a:ext cx="471813" cy="19175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F83599B-7FED-96CF-B629-6BC9E1099315}"/>
              </a:ext>
            </a:extLst>
          </p:cNvPr>
          <p:cNvSpPr txBox="1"/>
          <p:nvPr/>
        </p:nvSpPr>
        <p:spPr>
          <a:xfrm>
            <a:off x="1299778" y="2727923"/>
            <a:ext cx="96693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800" dirty="0"/>
              <a:t>ID-1.2 Sufficiency Engine (SR-CORNELL-PRD-95-V1)</a:t>
            </a:r>
            <a:endParaRPr lang="en-US" sz="800" b="1" dirty="0"/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4DABBCB0-801B-942A-63D8-98FA20BF13BC}"/>
              </a:ext>
            </a:extLst>
          </p:cNvPr>
          <p:cNvCxnSpPr>
            <a:cxnSpLocks/>
            <a:stCxn id="10" idx="2"/>
            <a:endCxn id="37" idx="0"/>
          </p:cNvCxnSpPr>
          <p:nvPr/>
        </p:nvCxnSpPr>
        <p:spPr>
          <a:xfrm rot="5400000">
            <a:off x="1649945" y="1838869"/>
            <a:ext cx="1022356" cy="75575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7316BE2-032A-BA82-A1F3-F8ED120A5E2E}"/>
              </a:ext>
            </a:extLst>
          </p:cNvPr>
          <p:cNvSpPr txBox="1"/>
          <p:nvPr/>
        </p:nvSpPr>
        <p:spPr>
          <a:xfrm>
            <a:off x="4398275" y="1385813"/>
            <a:ext cx="182880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000" b="1" dirty="0"/>
              <a:t>PD-2 — Single-User Project Workspace (Data Layer)</a:t>
            </a:r>
            <a:endParaRPr lang="en-US" sz="10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809264-7157-240C-3202-40DBE1A02BC8}"/>
              </a:ext>
            </a:extLst>
          </p:cNvPr>
          <p:cNvSpPr txBox="1"/>
          <p:nvPr/>
        </p:nvSpPr>
        <p:spPr>
          <a:xfrm>
            <a:off x="5347822" y="2414180"/>
            <a:ext cx="86966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800" dirty="0"/>
              <a:t>ID-2.1 Authentication, Sessions </a:t>
            </a:r>
            <a:endParaRPr lang="en-US" sz="7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CFD4AB-8B07-BEF6-0C9C-38ED53668BBC}"/>
              </a:ext>
            </a:extLst>
          </p:cNvPr>
          <p:cNvSpPr txBox="1"/>
          <p:nvPr/>
        </p:nvSpPr>
        <p:spPr>
          <a:xfrm>
            <a:off x="6528275" y="2426498"/>
            <a:ext cx="62908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800" dirty="0"/>
              <a:t>ID-2.2 Core tables</a:t>
            </a:r>
            <a:endParaRPr lang="en-US" sz="7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6C9744-110A-E35E-65F4-CFF0A520F487}"/>
              </a:ext>
            </a:extLst>
          </p:cNvPr>
          <p:cNvSpPr txBox="1"/>
          <p:nvPr/>
        </p:nvSpPr>
        <p:spPr>
          <a:xfrm>
            <a:off x="2414594" y="2702786"/>
            <a:ext cx="69302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800" dirty="0"/>
              <a:t>ID-1.3 Artifact Generators</a:t>
            </a:r>
            <a:endParaRPr lang="en-US" sz="7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10ACE4-EC7E-E6D9-D4CD-3FEA7B0FA416}"/>
              </a:ext>
            </a:extLst>
          </p:cNvPr>
          <p:cNvSpPr txBox="1"/>
          <p:nvPr/>
        </p:nvSpPr>
        <p:spPr>
          <a:xfrm>
            <a:off x="7085902" y="1336574"/>
            <a:ext cx="124314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000" b="1" dirty="0"/>
              <a:t>PD-3 — Rendering + Export</a:t>
            </a:r>
            <a:endParaRPr lang="en-US" sz="1000" b="1" dirty="0"/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9778ED37-E8A9-4BD8-D3D8-92BB2B921A3F}"/>
              </a:ext>
            </a:extLst>
          </p:cNvPr>
          <p:cNvCxnSpPr>
            <a:cxnSpLocks/>
            <a:stCxn id="10" idx="2"/>
            <a:endCxn id="49" idx="0"/>
          </p:cNvCxnSpPr>
          <p:nvPr/>
        </p:nvCxnSpPr>
        <p:spPr>
          <a:xfrm rot="16200000" flipH="1">
            <a:off x="2151443" y="2093123"/>
            <a:ext cx="997219" cy="22210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89B40157-6508-E318-B99B-1F50D93D2742}"/>
              </a:ext>
            </a:extLst>
          </p:cNvPr>
          <p:cNvCxnSpPr>
            <a:cxnSpLocks/>
            <a:stCxn id="10" idx="2"/>
            <a:endCxn id="116" idx="0"/>
          </p:cNvCxnSpPr>
          <p:nvPr/>
        </p:nvCxnSpPr>
        <p:spPr>
          <a:xfrm rot="16200000" flipH="1">
            <a:off x="2674104" y="1570461"/>
            <a:ext cx="663065" cy="93327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4124C91C-60CE-31B8-8370-60268C4525CD}"/>
              </a:ext>
            </a:extLst>
          </p:cNvPr>
          <p:cNvCxnSpPr>
            <a:cxnSpLocks/>
            <a:stCxn id="9" idx="2"/>
            <a:endCxn id="43" idx="0"/>
          </p:cNvCxnSpPr>
          <p:nvPr/>
        </p:nvCxnSpPr>
        <p:spPr>
          <a:xfrm rot="16200000" flipH="1">
            <a:off x="5091074" y="1164210"/>
            <a:ext cx="432861" cy="103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6D714E4B-3961-A060-C58F-495DD2C88045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 rot="16200000" flipH="1">
            <a:off x="5233538" y="1865061"/>
            <a:ext cx="628257" cy="46998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04778E5A-D215-A372-372D-6B7483663876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 rot="16200000" flipH="1">
            <a:off x="5757459" y="1341139"/>
            <a:ext cx="640575" cy="153014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27EE889-5C41-E50E-F118-AA6A7A0C4B77}"/>
              </a:ext>
            </a:extLst>
          </p:cNvPr>
          <p:cNvSpPr txBox="1"/>
          <p:nvPr/>
        </p:nvSpPr>
        <p:spPr>
          <a:xfrm>
            <a:off x="8570100" y="2714549"/>
            <a:ext cx="932168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800" dirty="0"/>
              <a:t>ID-3.1 Individual Diagram and PRD Package export/share (PNG, zip, SVG)</a:t>
            </a:r>
            <a:endParaRPr lang="en-US" sz="700" b="1" dirty="0"/>
          </a:p>
        </p:txBody>
      </p: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4BC478DB-4CFF-16D2-E3D9-3E3D4B323C8A}"/>
              </a:ext>
            </a:extLst>
          </p:cNvPr>
          <p:cNvCxnSpPr>
            <a:cxnSpLocks/>
            <a:stCxn id="50" idx="2"/>
            <a:endCxn id="88" idx="0"/>
          </p:cNvCxnSpPr>
          <p:nvPr/>
        </p:nvCxnSpPr>
        <p:spPr>
          <a:xfrm rot="16200000" flipH="1">
            <a:off x="7882897" y="1561261"/>
            <a:ext cx="977865" cy="13287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20C5B103-A615-F09B-A24B-861C030FF46A}"/>
              </a:ext>
            </a:extLst>
          </p:cNvPr>
          <p:cNvCxnSpPr>
            <a:cxnSpLocks/>
            <a:stCxn id="9" idx="2"/>
            <a:endCxn id="50" idx="0"/>
          </p:cNvCxnSpPr>
          <p:nvPr/>
        </p:nvCxnSpPr>
        <p:spPr>
          <a:xfrm rot="16200000" flipH="1">
            <a:off x="6313092" y="-57808"/>
            <a:ext cx="383622" cy="240514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18696390-0B19-F5EB-708F-C2FDAD0C7314}"/>
              </a:ext>
            </a:extLst>
          </p:cNvPr>
          <p:cNvSpPr txBox="1"/>
          <p:nvPr/>
        </p:nvSpPr>
        <p:spPr>
          <a:xfrm>
            <a:off x="3125763" y="2368632"/>
            <a:ext cx="69302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800" dirty="0"/>
              <a:t>ID-1.4 Baseline + Versioning</a:t>
            </a:r>
            <a:endParaRPr lang="en-US" sz="700" b="1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18C0223-EA50-6C3A-67EC-A070C91D279A}"/>
              </a:ext>
            </a:extLst>
          </p:cNvPr>
          <p:cNvSpPr txBox="1"/>
          <p:nvPr/>
        </p:nvSpPr>
        <p:spPr>
          <a:xfrm>
            <a:off x="4076851" y="2352905"/>
            <a:ext cx="86966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800" dirty="0"/>
              <a:t>ID-1.5:</a:t>
            </a:r>
            <a:br>
              <a:rPr lang="en-CA" sz="800" dirty="0"/>
            </a:br>
            <a:r>
              <a:rPr lang="en-CA" sz="800" dirty="0"/>
              <a:t>LLM Orchestration</a:t>
            </a:r>
            <a:endParaRPr lang="en-US" sz="700" b="1" dirty="0"/>
          </a:p>
        </p:txBody>
      </p: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91FE718D-F8CB-9B95-C1C1-E7A30F2C18B4}"/>
              </a:ext>
            </a:extLst>
          </p:cNvPr>
          <p:cNvCxnSpPr>
            <a:cxnSpLocks/>
            <a:stCxn id="10" idx="2"/>
            <a:endCxn id="120" idx="0"/>
          </p:cNvCxnSpPr>
          <p:nvPr/>
        </p:nvCxnSpPr>
        <p:spPr>
          <a:xfrm rot="16200000" flipH="1">
            <a:off x="3201673" y="1042893"/>
            <a:ext cx="647338" cy="197268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A62A330E-EBC8-6923-9446-866B40BE8880}"/>
              </a:ext>
            </a:extLst>
          </p:cNvPr>
          <p:cNvSpPr txBox="1"/>
          <p:nvPr/>
        </p:nvSpPr>
        <p:spPr>
          <a:xfrm>
            <a:off x="1299173" y="4597425"/>
            <a:ext cx="1026480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900" b="1" dirty="0"/>
              <a:t>Leaf:</a:t>
            </a:r>
            <a:r>
              <a:rPr lang="en-CA" sz="900" dirty="0"/>
              <a:t> Save intake draft to DB (create/update)</a:t>
            </a:r>
            <a:endParaRPr lang="en-US" sz="700" b="1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5119399-AA5B-E39E-DDCA-B7C19188BDEE}"/>
              </a:ext>
            </a:extLst>
          </p:cNvPr>
          <p:cNvSpPr txBox="1"/>
          <p:nvPr/>
        </p:nvSpPr>
        <p:spPr>
          <a:xfrm>
            <a:off x="3818785" y="5753242"/>
            <a:ext cx="744021" cy="446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Leaf 1.5: </a:t>
            </a:r>
            <a:r>
              <a:rPr lang="en-CA" sz="700" dirty="0"/>
              <a:t> QC Question Bank Router</a:t>
            </a:r>
            <a:endParaRPr lang="en-US" sz="700" b="1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797D363-97F5-A98C-22C8-B1919BAB6FF4}"/>
              </a:ext>
            </a:extLst>
          </p:cNvPr>
          <p:cNvSpPr txBox="1"/>
          <p:nvPr/>
        </p:nvSpPr>
        <p:spPr>
          <a:xfrm>
            <a:off x="7550045" y="4876800"/>
            <a:ext cx="999863" cy="78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Leaf: </a:t>
            </a:r>
            <a:r>
              <a:rPr lang="en-US" sz="900" dirty="0"/>
              <a:t>user, projects, </a:t>
            </a:r>
            <a:r>
              <a:rPr lang="en-US" sz="900" dirty="0" err="1"/>
              <a:t>project_versions</a:t>
            </a:r>
            <a:r>
              <a:rPr lang="en-US" sz="900" dirty="0"/>
              <a:t>, intake, artifacts, </a:t>
            </a:r>
            <a:r>
              <a:rPr lang="en-US" sz="900" dirty="0" err="1"/>
              <a:t>artifacts_version</a:t>
            </a:r>
            <a:r>
              <a:rPr lang="en-US" sz="900" dirty="0"/>
              <a:t> </a:t>
            </a:r>
            <a:endParaRPr lang="en-US" sz="7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33BA4C2-35CA-2C92-8AB5-F521857679CD}"/>
              </a:ext>
            </a:extLst>
          </p:cNvPr>
          <p:cNvSpPr txBox="1"/>
          <p:nvPr/>
        </p:nvSpPr>
        <p:spPr>
          <a:xfrm>
            <a:off x="8943013" y="4923848"/>
            <a:ext cx="74402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12F0808-E17C-775A-9BB7-87242B94B9EF}"/>
              </a:ext>
            </a:extLst>
          </p:cNvPr>
          <p:cNvSpPr txBox="1"/>
          <p:nvPr/>
        </p:nvSpPr>
        <p:spPr>
          <a:xfrm>
            <a:off x="661068" y="5694802"/>
            <a:ext cx="96693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Leaf: Build Intake form UI </a:t>
            </a:r>
            <a:r>
              <a:rPr lang="en-US" sz="900" dirty="0"/>
              <a:t>(mission/ problem/success/stakeholders/constraints)</a:t>
            </a:r>
            <a:endParaRPr lang="en-US" sz="7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466B31-6408-5B0C-82F2-92F0DA5D40B6}"/>
              </a:ext>
            </a:extLst>
          </p:cNvPr>
          <p:cNvSpPr txBox="1"/>
          <p:nvPr/>
        </p:nvSpPr>
        <p:spPr>
          <a:xfrm>
            <a:off x="2099562" y="5641266"/>
            <a:ext cx="89475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Leaf: </a:t>
            </a:r>
            <a:r>
              <a:rPr lang="en-US" sz="900" dirty="0"/>
              <a:t>context Diagram &amp; </a:t>
            </a:r>
            <a:r>
              <a:rPr lang="en-US" sz="900" dirty="0" err="1"/>
              <a:t>UseCase</a:t>
            </a:r>
            <a:r>
              <a:rPr lang="en-US" sz="900" dirty="0"/>
              <a:t> Model requirements for generator</a:t>
            </a:r>
            <a:endParaRPr lang="en-US" sz="7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3E057E7-1DB9-F0EF-CE59-E60B72E36C19}"/>
              </a:ext>
            </a:extLst>
          </p:cNvPr>
          <p:cNvSpPr txBox="1"/>
          <p:nvPr/>
        </p:nvSpPr>
        <p:spPr>
          <a:xfrm>
            <a:off x="4904371" y="5146918"/>
            <a:ext cx="744021" cy="1061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900" b="1" dirty="0"/>
              <a:t>Leaf:</a:t>
            </a:r>
            <a:r>
              <a:rPr lang="en-CA" sz="900" dirty="0"/>
              <a:t> email/password signup + login. Owner Only Access</a:t>
            </a:r>
            <a:endParaRPr lang="en-US" sz="700" b="1" dirty="0"/>
          </a:p>
        </p:txBody>
      </p:sp>
      <p:cxnSp>
        <p:nvCxnSpPr>
          <p:cNvPr id="137" name="Elbow Connector 136">
            <a:extLst>
              <a:ext uri="{FF2B5EF4-FFF2-40B4-BE49-F238E27FC236}">
                <a16:creationId xmlns:a16="http://schemas.microsoft.com/office/drawing/2014/main" id="{A8854337-8A38-73B6-37CF-FF2064C861B2}"/>
              </a:ext>
            </a:extLst>
          </p:cNvPr>
          <p:cNvCxnSpPr>
            <a:cxnSpLocks/>
            <a:stCxn id="120" idx="2"/>
            <a:endCxn id="125" idx="0"/>
          </p:cNvCxnSpPr>
          <p:nvPr/>
        </p:nvCxnSpPr>
        <p:spPr>
          <a:xfrm rot="5400000">
            <a:off x="2881905" y="4123462"/>
            <a:ext cx="2938672" cy="32088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Elbow Connector 144">
            <a:extLst>
              <a:ext uri="{FF2B5EF4-FFF2-40B4-BE49-F238E27FC236}">
                <a16:creationId xmlns:a16="http://schemas.microsoft.com/office/drawing/2014/main" id="{A08C2E73-EB82-6734-2769-58DC214D94CC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rot="5400000">
            <a:off x="-217536" y="3792322"/>
            <a:ext cx="1420109" cy="24101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lbow Connector 146">
            <a:extLst>
              <a:ext uri="{FF2B5EF4-FFF2-40B4-BE49-F238E27FC236}">
                <a16:creationId xmlns:a16="http://schemas.microsoft.com/office/drawing/2014/main" id="{E4545DA8-6FFC-F7F7-A487-BD6CC691011E}"/>
              </a:ext>
            </a:extLst>
          </p:cNvPr>
          <p:cNvCxnSpPr>
            <a:cxnSpLocks/>
            <a:stCxn id="17" idx="2"/>
            <a:endCxn id="132" idx="0"/>
          </p:cNvCxnSpPr>
          <p:nvPr/>
        </p:nvCxnSpPr>
        <p:spPr>
          <a:xfrm rot="16200000" flipH="1">
            <a:off x="-367232" y="4183032"/>
            <a:ext cx="2492027" cy="53151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Elbow Connector 149">
            <a:extLst>
              <a:ext uri="{FF2B5EF4-FFF2-40B4-BE49-F238E27FC236}">
                <a16:creationId xmlns:a16="http://schemas.microsoft.com/office/drawing/2014/main" id="{B7C55BA2-AF52-1B12-CCD9-E05DDF77C3AB}"/>
              </a:ext>
            </a:extLst>
          </p:cNvPr>
          <p:cNvCxnSpPr>
            <a:cxnSpLocks/>
            <a:stCxn id="37" idx="2"/>
            <a:endCxn id="124" idx="0"/>
          </p:cNvCxnSpPr>
          <p:nvPr/>
        </p:nvCxnSpPr>
        <p:spPr>
          <a:xfrm rot="16200000" flipH="1">
            <a:off x="1155467" y="3940478"/>
            <a:ext cx="1284727" cy="2916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Elbow Connector 157">
            <a:extLst>
              <a:ext uri="{FF2B5EF4-FFF2-40B4-BE49-F238E27FC236}">
                <a16:creationId xmlns:a16="http://schemas.microsoft.com/office/drawing/2014/main" id="{3FCC3468-D1BC-51C2-B0A6-A25E843AB721}"/>
              </a:ext>
            </a:extLst>
          </p:cNvPr>
          <p:cNvCxnSpPr>
            <a:cxnSpLocks/>
            <a:stCxn id="49" idx="2"/>
            <a:endCxn id="133" idx="0"/>
          </p:cNvCxnSpPr>
          <p:nvPr/>
        </p:nvCxnSpPr>
        <p:spPr>
          <a:xfrm rot="5400000">
            <a:off x="1415617" y="4295777"/>
            <a:ext cx="2476815" cy="21416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1E3CF5CA-6E4A-630D-1675-64A5AB74B4D6}"/>
              </a:ext>
            </a:extLst>
          </p:cNvPr>
          <p:cNvSpPr txBox="1"/>
          <p:nvPr/>
        </p:nvSpPr>
        <p:spPr>
          <a:xfrm>
            <a:off x="2960500" y="4730618"/>
            <a:ext cx="89475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Leaf: </a:t>
            </a:r>
            <a:r>
              <a:rPr lang="en-US" sz="900" dirty="0"/>
              <a:t>artifact status and version controls</a:t>
            </a:r>
            <a:endParaRPr lang="en-US" sz="700" dirty="0"/>
          </a:p>
        </p:txBody>
      </p: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3C3E368D-D6B3-3DFC-6DC0-5D45F3859AEA}"/>
              </a:ext>
            </a:extLst>
          </p:cNvPr>
          <p:cNvCxnSpPr>
            <a:cxnSpLocks/>
            <a:stCxn id="116" idx="2"/>
            <a:endCxn id="163" idx="0"/>
          </p:cNvCxnSpPr>
          <p:nvPr/>
        </p:nvCxnSpPr>
        <p:spPr>
          <a:xfrm rot="5400000">
            <a:off x="2489917" y="3748260"/>
            <a:ext cx="1900321" cy="6439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Elbow Connector 168">
            <a:extLst>
              <a:ext uri="{FF2B5EF4-FFF2-40B4-BE49-F238E27FC236}">
                <a16:creationId xmlns:a16="http://schemas.microsoft.com/office/drawing/2014/main" id="{2C2B2D1D-70CE-4919-DB45-1EB64827C38A}"/>
              </a:ext>
            </a:extLst>
          </p:cNvPr>
          <p:cNvCxnSpPr>
            <a:cxnSpLocks/>
            <a:stCxn id="44" idx="2"/>
            <a:endCxn id="134" idx="0"/>
          </p:cNvCxnSpPr>
          <p:nvPr/>
        </p:nvCxnSpPr>
        <p:spPr>
          <a:xfrm rot="5400000">
            <a:off x="4393983" y="3758244"/>
            <a:ext cx="2271073" cy="50627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1AC9820B-D8C0-1979-3936-59486FC96BDB}"/>
              </a:ext>
            </a:extLst>
          </p:cNvPr>
          <p:cNvSpPr txBox="1"/>
          <p:nvPr/>
        </p:nvSpPr>
        <p:spPr>
          <a:xfrm>
            <a:off x="6279074" y="5191550"/>
            <a:ext cx="744021" cy="78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900" b="1" dirty="0"/>
              <a:t>Leaf:</a:t>
            </a:r>
            <a:r>
              <a:rPr lang="en-CA" sz="900" dirty="0"/>
              <a:t> session persistence (refresh/login state)</a:t>
            </a:r>
            <a:endParaRPr lang="en-US" sz="700" b="1" dirty="0"/>
          </a:p>
        </p:txBody>
      </p:sp>
      <p:cxnSp>
        <p:nvCxnSpPr>
          <p:cNvPr id="174" name="Elbow Connector 173">
            <a:extLst>
              <a:ext uri="{FF2B5EF4-FFF2-40B4-BE49-F238E27FC236}">
                <a16:creationId xmlns:a16="http://schemas.microsoft.com/office/drawing/2014/main" id="{BC64593D-B7BC-2B47-2590-B4A688E30703}"/>
              </a:ext>
            </a:extLst>
          </p:cNvPr>
          <p:cNvCxnSpPr>
            <a:cxnSpLocks/>
            <a:stCxn id="44" idx="2"/>
            <a:endCxn id="173" idx="0"/>
          </p:cNvCxnSpPr>
          <p:nvPr/>
        </p:nvCxnSpPr>
        <p:spPr>
          <a:xfrm rot="16200000" flipH="1">
            <a:off x="5059018" y="3599482"/>
            <a:ext cx="2315705" cy="8684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Elbow Connector 176">
            <a:extLst>
              <a:ext uri="{FF2B5EF4-FFF2-40B4-BE49-F238E27FC236}">
                <a16:creationId xmlns:a16="http://schemas.microsoft.com/office/drawing/2014/main" id="{66FAD524-1E7F-8610-B5CE-D27EEF0B0C28}"/>
              </a:ext>
            </a:extLst>
          </p:cNvPr>
          <p:cNvCxnSpPr>
            <a:cxnSpLocks/>
            <a:stCxn id="45" idx="2"/>
            <a:endCxn id="126" idx="0"/>
          </p:cNvCxnSpPr>
          <p:nvPr/>
        </p:nvCxnSpPr>
        <p:spPr>
          <a:xfrm rot="16200000" flipH="1">
            <a:off x="6452079" y="3278901"/>
            <a:ext cx="1988637" cy="120716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056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91000" y="665010"/>
            <a:ext cx="1737240" cy="4385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Your Mission</a:t>
            </a:r>
            <a:endParaRPr lang="en-US" sz="1050" b="1" dirty="0"/>
          </a:p>
          <a:p>
            <a:pPr algn="ctr"/>
            <a:r>
              <a:rPr lang="en-US" sz="1000" dirty="0"/>
              <a:t>(root node)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400" y="2929716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cxnSp>
        <p:nvCxnSpPr>
          <p:cNvPr id="10" name="Elbow Connector 9"/>
          <p:cNvCxnSpPr>
            <a:endCxn id="15" idx="0"/>
          </p:cNvCxnSpPr>
          <p:nvPr/>
        </p:nvCxnSpPr>
        <p:spPr>
          <a:xfrm>
            <a:off x="5059621" y="1200503"/>
            <a:ext cx="2571849" cy="12975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71800" y="1303947"/>
            <a:ext cx="87832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Primary Deliverable</a:t>
            </a:r>
            <a:endParaRPr lang="en-US" sz="10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096165" y="1330260"/>
            <a:ext cx="107060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Primary Deliverable</a:t>
            </a:r>
            <a:endParaRPr lang="en-US" sz="10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209801" y="2293778"/>
            <a:ext cx="8696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1905001" y="3406574"/>
            <a:ext cx="8381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6559317" y="2293778"/>
            <a:ext cx="9116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8562244" y="2293778"/>
            <a:ext cx="9116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8716340" y="3268076"/>
            <a:ext cx="74287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398316" y="1644973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78533" y="2293778"/>
            <a:ext cx="8696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249778" y="2663110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3234516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1" y="3406574"/>
            <a:ext cx="8381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4631996" y="3818547"/>
            <a:ext cx="74402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821087" y="4174231"/>
            <a:ext cx="74402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2626364" y="4174230"/>
            <a:ext cx="74402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3657601" y="4885347"/>
            <a:ext cx="74402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3748760" y="4174229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19800" y="1696614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8361" y="2839614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0000" y="2611014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6630" y="4123347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59903" y="3677814"/>
            <a:ext cx="9116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6557837" y="4402705"/>
            <a:ext cx="9116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6642584" y="5063316"/>
            <a:ext cx="74287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(leaf)</a:t>
            </a:r>
            <a:endParaRPr lang="en-US" sz="7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7788722" y="3242417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37797" y="4690148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92161" y="3970946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cxnSp>
        <p:nvCxnSpPr>
          <p:cNvPr id="66" name="Elbow Connector 65"/>
          <p:cNvCxnSpPr>
            <a:stCxn id="4" idx="2"/>
            <a:endCxn id="13" idx="0"/>
          </p:cNvCxnSpPr>
          <p:nvPr/>
        </p:nvCxnSpPr>
        <p:spPr>
          <a:xfrm rot="5400000">
            <a:off x="4135115" y="379441"/>
            <a:ext cx="200354" cy="164865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13" idx="1"/>
            <a:endCxn id="44" idx="0"/>
          </p:cNvCxnSpPr>
          <p:nvPr/>
        </p:nvCxnSpPr>
        <p:spPr>
          <a:xfrm rot="10800000" flipV="1">
            <a:off x="802128" y="1519391"/>
            <a:ext cx="2169673" cy="12558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>
            <a:stCxn id="13" idx="2"/>
            <a:endCxn id="45" idx="0"/>
          </p:cNvCxnSpPr>
          <p:nvPr/>
        </p:nvCxnSpPr>
        <p:spPr>
          <a:xfrm rot="16200000" flipH="1">
            <a:off x="3532694" y="1613104"/>
            <a:ext cx="558945" cy="80240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/>
          <p:cNvCxnSpPr>
            <a:stCxn id="13" idx="2"/>
            <a:endCxn id="28" idx="0"/>
          </p:cNvCxnSpPr>
          <p:nvPr/>
        </p:nvCxnSpPr>
        <p:spPr>
          <a:xfrm rot="5400000">
            <a:off x="2748328" y="1631140"/>
            <a:ext cx="558945" cy="76633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/>
          <p:cNvCxnSpPr>
            <a:stCxn id="28" idx="1"/>
            <a:endCxn id="46" idx="0"/>
          </p:cNvCxnSpPr>
          <p:nvPr/>
        </p:nvCxnSpPr>
        <p:spPr>
          <a:xfrm rot="10800000" flipV="1">
            <a:off x="1653591" y="2478444"/>
            <a:ext cx="556211" cy="1846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/>
          <p:cNvCxnSpPr>
            <a:stCxn id="46" idx="1"/>
            <a:endCxn id="47" idx="0"/>
          </p:cNvCxnSpPr>
          <p:nvPr/>
        </p:nvCxnSpPr>
        <p:spPr>
          <a:xfrm rot="10800000" flipV="1">
            <a:off x="1122020" y="2847776"/>
            <a:ext cx="127758" cy="38673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28" idx="2"/>
            <a:endCxn id="36" idx="0"/>
          </p:cNvCxnSpPr>
          <p:nvPr/>
        </p:nvCxnSpPr>
        <p:spPr>
          <a:xfrm rot="5400000">
            <a:off x="2112635" y="2874575"/>
            <a:ext cx="743464" cy="32053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/>
          <p:cNvCxnSpPr>
            <a:stCxn id="28" idx="2"/>
            <a:endCxn id="48" idx="0"/>
          </p:cNvCxnSpPr>
          <p:nvPr/>
        </p:nvCxnSpPr>
        <p:spPr>
          <a:xfrm rot="16200000" flipH="1">
            <a:off x="2646035" y="2661709"/>
            <a:ext cx="743464" cy="74626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/>
          <p:cNvCxnSpPr>
            <a:stCxn id="36" idx="2"/>
            <a:endCxn id="50" idx="0"/>
          </p:cNvCxnSpPr>
          <p:nvPr/>
        </p:nvCxnSpPr>
        <p:spPr>
          <a:xfrm rot="5400000">
            <a:off x="1559437" y="3409568"/>
            <a:ext cx="398324" cy="113100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>
            <a:stCxn id="48" idx="2"/>
            <a:endCxn id="51" idx="0"/>
          </p:cNvCxnSpPr>
          <p:nvPr/>
        </p:nvCxnSpPr>
        <p:spPr>
          <a:xfrm rot="5400000">
            <a:off x="2995477" y="3778804"/>
            <a:ext cx="398323" cy="39252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>
            <a:stCxn id="48" idx="2"/>
            <a:endCxn id="53" idx="0"/>
          </p:cNvCxnSpPr>
          <p:nvPr/>
        </p:nvCxnSpPr>
        <p:spPr>
          <a:xfrm rot="16200000" flipH="1">
            <a:off x="3512579" y="3654227"/>
            <a:ext cx="398322" cy="64168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/>
          <p:cNvCxnSpPr>
            <a:stCxn id="53" idx="2"/>
            <a:endCxn id="52" idx="0"/>
          </p:cNvCxnSpPr>
          <p:nvPr/>
        </p:nvCxnSpPr>
        <p:spPr>
          <a:xfrm rot="5400000">
            <a:off x="3929454" y="4782219"/>
            <a:ext cx="203287" cy="296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/>
          <p:cNvCxnSpPr>
            <a:stCxn id="45" idx="2"/>
            <a:endCxn id="48" idx="0"/>
          </p:cNvCxnSpPr>
          <p:nvPr/>
        </p:nvCxnSpPr>
        <p:spPr>
          <a:xfrm rot="5400000">
            <a:off x="3430401" y="2623609"/>
            <a:ext cx="743464" cy="82246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Elbow Connector 94"/>
          <p:cNvCxnSpPr>
            <a:stCxn id="45" idx="3"/>
            <a:endCxn id="5" idx="0"/>
          </p:cNvCxnSpPr>
          <p:nvPr/>
        </p:nvCxnSpPr>
        <p:spPr>
          <a:xfrm>
            <a:off x="4648200" y="2478445"/>
            <a:ext cx="360021" cy="45127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/>
          <p:cNvCxnSpPr>
            <a:stCxn id="5" idx="2"/>
            <a:endCxn id="49" idx="0"/>
          </p:cNvCxnSpPr>
          <p:nvPr/>
        </p:nvCxnSpPr>
        <p:spPr>
          <a:xfrm rot="5400000">
            <a:off x="4815613" y="3625939"/>
            <a:ext cx="381000" cy="421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/>
          <p:cNvCxnSpPr>
            <a:stCxn id="15" idx="1"/>
            <a:endCxn id="54" idx="0"/>
          </p:cNvCxnSpPr>
          <p:nvPr/>
        </p:nvCxnSpPr>
        <p:spPr>
          <a:xfrm rot="10800000" flipV="1">
            <a:off x="6423613" y="1545703"/>
            <a:ext cx="672553" cy="15091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/>
          <p:cNvCxnSpPr>
            <a:stCxn id="15" idx="2"/>
            <a:endCxn id="40" idx="0"/>
          </p:cNvCxnSpPr>
          <p:nvPr/>
        </p:nvCxnSpPr>
        <p:spPr>
          <a:xfrm rot="5400000">
            <a:off x="7056982" y="1719291"/>
            <a:ext cx="532632" cy="61634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/>
          <p:cNvCxnSpPr>
            <a:stCxn id="40" idx="3"/>
            <a:endCxn id="56" idx="1"/>
          </p:cNvCxnSpPr>
          <p:nvPr/>
        </p:nvCxnSpPr>
        <p:spPr>
          <a:xfrm>
            <a:off x="7470938" y="2478444"/>
            <a:ext cx="149063" cy="3172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/>
          <p:cNvCxnSpPr>
            <a:stCxn id="40" idx="1"/>
            <a:endCxn id="55" idx="0"/>
          </p:cNvCxnSpPr>
          <p:nvPr/>
        </p:nvCxnSpPr>
        <p:spPr>
          <a:xfrm rot="10800000" flipV="1">
            <a:off x="6072174" y="2478444"/>
            <a:ext cx="487145" cy="36117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/>
          <p:cNvCxnSpPr>
            <a:stCxn id="56" idx="3"/>
            <a:endCxn id="41" idx="1"/>
          </p:cNvCxnSpPr>
          <p:nvPr/>
        </p:nvCxnSpPr>
        <p:spPr>
          <a:xfrm flipV="1">
            <a:off x="8427622" y="2478444"/>
            <a:ext cx="134622" cy="3172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/>
          <p:cNvCxnSpPr>
            <a:stCxn id="56" idx="2"/>
            <a:endCxn id="61" idx="0"/>
          </p:cNvCxnSpPr>
          <p:nvPr/>
        </p:nvCxnSpPr>
        <p:spPr>
          <a:xfrm rot="16200000" flipH="1">
            <a:off x="7917141" y="3087016"/>
            <a:ext cx="262070" cy="4873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/>
          <p:cNvCxnSpPr>
            <a:stCxn id="41" idx="2"/>
            <a:endCxn id="42" idx="0"/>
          </p:cNvCxnSpPr>
          <p:nvPr/>
        </p:nvCxnSpPr>
        <p:spPr>
          <a:xfrm rot="16200000" flipH="1">
            <a:off x="8750433" y="2930732"/>
            <a:ext cx="604965" cy="6972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/>
          <p:cNvCxnSpPr>
            <a:stCxn id="58" idx="3"/>
            <a:endCxn id="57" idx="0"/>
          </p:cNvCxnSpPr>
          <p:nvPr/>
        </p:nvCxnSpPr>
        <p:spPr>
          <a:xfrm>
            <a:off x="7471524" y="3862480"/>
            <a:ext cx="598927" cy="2608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/>
          <p:cNvCxnSpPr>
            <a:stCxn id="40" idx="2"/>
            <a:endCxn id="58" idx="0"/>
          </p:cNvCxnSpPr>
          <p:nvPr/>
        </p:nvCxnSpPr>
        <p:spPr>
          <a:xfrm rot="16200000" flipH="1">
            <a:off x="6508068" y="3170169"/>
            <a:ext cx="1014704" cy="58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/>
          <p:cNvCxnSpPr>
            <a:stCxn id="58" idx="1"/>
            <a:endCxn id="63" idx="0"/>
          </p:cNvCxnSpPr>
          <p:nvPr/>
        </p:nvCxnSpPr>
        <p:spPr>
          <a:xfrm rot="10800000" flipV="1">
            <a:off x="5995974" y="3862480"/>
            <a:ext cx="563931" cy="1084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Elbow Connector 121"/>
          <p:cNvCxnSpPr>
            <a:stCxn id="58" idx="2"/>
            <a:endCxn id="59" idx="0"/>
          </p:cNvCxnSpPr>
          <p:nvPr/>
        </p:nvCxnSpPr>
        <p:spPr>
          <a:xfrm rot="5400000">
            <a:off x="6836902" y="4223892"/>
            <a:ext cx="355559" cy="206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123"/>
          <p:cNvCxnSpPr>
            <a:stCxn id="59" idx="2"/>
            <a:endCxn id="60" idx="0"/>
          </p:cNvCxnSpPr>
          <p:nvPr/>
        </p:nvCxnSpPr>
        <p:spPr>
          <a:xfrm rot="16200000" flipH="1">
            <a:off x="6868194" y="4917490"/>
            <a:ext cx="291278" cy="37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/>
          <p:cNvCxnSpPr>
            <a:stCxn id="59" idx="1"/>
            <a:endCxn id="62" idx="0"/>
          </p:cNvCxnSpPr>
          <p:nvPr/>
        </p:nvCxnSpPr>
        <p:spPr>
          <a:xfrm rot="10800000" flipV="1">
            <a:off x="6121617" y="4587371"/>
            <a:ext cx="436220" cy="10277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Elbow Connector 127"/>
          <p:cNvCxnSpPr>
            <a:stCxn id="60" idx="1"/>
            <a:endCxn id="62" idx="2"/>
          </p:cNvCxnSpPr>
          <p:nvPr/>
        </p:nvCxnSpPr>
        <p:spPr>
          <a:xfrm rot="10800000">
            <a:off x="6121617" y="5197978"/>
            <a:ext cx="520966" cy="18592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76200" y="152400"/>
            <a:ext cx="7681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YourMission</a:t>
            </a:r>
            <a:endParaRPr lang="en-US" sz="900" dirty="0"/>
          </a:p>
        </p:txBody>
      </p:sp>
      <p:sp>
        <p:nvSpPr>
          <p:cNvPr id="132" name="TextBox 131"/>
          <p:cNvSpPr txBox="1"/>
          <p:nvPr/>
        </p:nvSpPr>
        <p:spPr>
          <a:xfrm>
            <a:off x="240363" y="5136887"/>
            <a:ext cx="29043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n w="1905"/>
                <a:solidFill>
                  <a:schemeClr val="accent2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Andalus" panose="02020603050405020304" pitchFamily="18" charset="-78"/>
              </a:rPr>
              <a:t>Lines coming into the bottom or sides of a node are elements that are necessary to complete that node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729298" y="61359"/>
            <a:ext cx="25494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Andalus" panose="02020603050405020304" pitchFamily="18" charset="-78"/>
              </a:rPr>
              <a:t>Scope Tree Example</a:t>
            </a:r>
          </a:p>
        </p:txBody>
      </p:sp>
      <p:cxnSp>
        <p:nvCxnSpPr>
          <p:cNvPr id="67" name="Elbow Connector 66"/>
          <p:cNvCxnSpPr>
            <a:stCxn id="15" idx="2"/>
            <a:endCxn id="41" idx="0"/>
          </p:cNvCxnSpPr>
          <p:nvPr/>
        </p:nvCxnSpPr>
        <p:spPr>
          <a:xfrm rot="16200000" flipH="1">
            <a:off x="8058445" y="1334170"/>
            <a:ext cx="532632" cy="138658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710364" y="4301385"/>
            <a:ext cx="74402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cxnSp>
        <p:nvCxnSpPr>
          <p:cNvPr id="70" name="Elbow Connector 69"/>
          <p:cNvCxnSpPr>
            <a:stCxn id="36" idx="2"/>
            <a:endCxn id="68" idx="0"/>
          </p:cNvCxnSpPr>
          <p:nvPr/>
        </p:nvCxnSpPr>
        <p:spPr>
          <a:xfrm rot="5400000">
            <a:off x="1940498" y="3917782"/>
            <a:ext cx="525478" cy="24172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72199" y="336185"/>
            <a:ext cx="2904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n w="1905"/>
                <a:solidFill>
                  <a:schemeClr val="accent2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Andalus" panose="02020603050405020304" pitchFamily="18" charset="-78"/>
              </a:rPr>
              <a:t>Title allows you name and/or breadcrumb your deliverables</a:t>
            </a:r>
          </a:p>
        </p:txBody>
      </p:sp>
    </p:spTree>
    <p:extLst>
      <p:ext uri="{BB962C8B-B14F-4D97-AF65-F5344CB8AC3E}">
        <p14:creationId xmlns:p14="http://schemas.microsoft.com/office/powerpoint/2010/main" val="717769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C9B71-AF86-48FA-AEE7-1E9EE306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F2B460-FB78-415C-1F7E-A5A8FE099164}"/>
              </a:ext>
            </a:extLst>
          </p:cNvPr>
          <p:cNvSpPr txBox="1"/>
          <p:nvPr/>
        </p:nvSpPr>
        <p:spPr>
          <a:xfrm>
            <a:off x="4191000" y="665010"/>
            <a:ext cx="173724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Professional </a:t>
            </a:r>
          </a:p>
          <a:p>
            <a:pPr algn="ctr"/>
            <a:r>
              <a:rPr lang="en-US" sz="1200" b="1" dirty="0"/>
              <a:t>Product Requirements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57994-416C-3F06-D04D-5B8F9341E8B8}"/>
              </a:ext>
            </a:extLst>
          </p:cNvPr>
          <p:cNvSpPr txBox="1"/>
          <p:nvPr/>
        </p:nvSpPr>
        <p:spPr>
          <a:xfrm>
            <a:off x="4642353" y="2968822"/>
            <a:ext cx="967532" cy="923330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The system shall…” statements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Atomic, measurable, verifiable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17D82819-E318-730C-65D0-1324408B9FED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059621" y="1200503"/>
            <a:ext cx="3032350" cy="12975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00A010-11F0-FD1E-972A-357C1837ABD9}"/>
              </a:ext>
            </a:extLst>
          </p:cNvPr>
          <p:cNvSpPr txBox="1"/>
          <p:nvPr/>
        </p:nvSpPr>
        <p:spPr>
          <a:xfrm>
            <a:off x="2324100" y="1303947"/>
            <a:ext cx="199230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Structured PRD Specification Artifact</a:t>
            </a:r>
            <a:endParaRPr lang="en-US" sz="1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79369A-9DEE-E9E4-20D8-1BFC14A32A21}"/>
              </a:ext>
            </a:extLst>
          </p:cNvPr>
          <p:cNvSpPr txBox="1"/>
          <p:nvPr/>
        </p:nvSpPr>
        <p:spPr>
          <a:xfrm>
            <a:off x="7096165" y="1330260"/>
            <a:ext cx="1991611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Guided System-Design Process Enforcement</a:t>
            </a:r>
            <a:endParaRPr lang="en-US" sz="1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D23878-D34C-00D7-9C0C-3A9277FC4E85}"/>
              </a:ext>
            </a:extLst>
          </p:cNvPr>
          <p:cNvSpPr txBox="1"/>
          <p:nvPr/>
        </p:nvSpPr>
        <p:spPr>
          <a:xfrm>
            <a:off x="1975644" y="2090695"/>
            <a:ext cx="1088193" cy="6155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deliverable: </a:t>
            </a:r>
            <a:r>
              <a:rPr lang="en-CA" sz="800" dirty="0"/>
              <a:t>Behavioral Definition (UCBDs)</a:t>
            </a:r>
            <a:endParaRPr lang="en-US" sz="7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3C8A98-4785-FBFF-8C2E-3BCB3C7D2913}"/>
              </a:ext>
            </a:extLst>
          </p:cNvPr>
          <p:cNvSpPr txBox="1"/>
          <p:nvPr/>
        </p:nvSpPr>
        <p:spPr>
          <a:xfrm>
            <a:off x="1390804" y="3607788"/>
            <a:ext cx="1209379" cy="492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deliverable: </a:t>
            </a:r>
            <a:r>
              <a:rPr lang="en-CA" sz="800" dirty="0"/>
              <a:t>Use Case Model</a:t>
            </a:r>
            <a:endParaRPr lang="en-US" sz="7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D9A066-34A2-4723-46FC-AD7C94DA8BC7}"/>
              </a:ext>
            </a:extLst>
          </p:cNvPr>
          <p:cNvSpPr txBox="1"/>
          <p:nvPr/>
        </p:nvSpPr>
        <p:spPr>
          <a:xfrm>
            <a:off x="6559317" y="2293778"/>
            <a:ext cx="911620" cy="6155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deliverable: </a:t>
            </a:r>
            <a:r>
              <a:rPr lang="en-CA" sz="800" dirty="0"/>
              <a:t>Sequenced Design Flow</a:t>
            </a:r>
            <a:endParaRPr lang="en-US" sz="7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6CA069-6847-B006-8A2C-AED6D78E46AB}"/>
              </a:ext>
            </a:extLst>
          </p:cNvPr>
          <p:cNvSpPr txBox="1"/>
          <p:nvPr/>
        </p:nvSpPr>
        <p:spPr>
          <a:xfrm>
            <a:off x="8562244" y="2293778"/>
            <a:ext cx="1496156" cy="3539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deliverable: </a:t>
            </a:r>
            <a:r>
              <a:rPr lang="en-CA" sz="800" dirty="0"/>
              <a:t>Step Completion Criteria</a:t>
            </a:r>
            <a:endParaRPr lang="en-US" sz="7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3FB6F0-C3C5-2C81-8D49-F8319CEC9371}"/>
              </a:ext>
            </a:extLst>
          </p:cNvPr>
          <p:cNvSpPr txBox="1"/>
          <p:nvPr/>
        </p:nvSpPr>
        <p:spPr>
          <a:xfrm>
            <a:off x="9150960" y="5440341"/>
            <a:ext cx="742871" cy="877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(leaf): </a:t>
            </a:r>
            <a:r>
              <a:rPr lang="en-CA" sz="800" dirty="0"/>
              <a:t>Validation Feedback Loop</a:t>
            </a:r>
            <a:endParaRPr lang="en-US" sz="7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F5DB03-3EB9-05E3-0EEE-D40097105AAD}"/>
              </a:ext>
            </a:extLst>
          </p:cNvPr>
          <p:cNvSpPr txBox="1"/>
          <p:nvPr/>
        </p:nvSpPr>
        <p:spPr>
          <a:xfrm>
            <a:off x="-93860" y="1515789"/>
            <a:ext cx="1967880" cy="78483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Criteria: </a:t>
            </a:r>
            <a:r>
              <a:rPr lang="en-CA" sz="900" dirty="0"/>
              <a:t>A </a:t>
            </a:r>
            <a:r>
              <a:rPr lang="en-CA" sz="900" b="1" dirty="0"/>
              <a:t>single, coherent system artifact</a:t>
            </a:r>
            <a:r>
              <a:rPr lang="en-CA" sz="900" dirty="0"/>
              <a:t> that fully specifies a product in a way that is:</a:t>
            </a:r>
          </a:p>
          <a:p>
            <a:r>
              <a:rPr lang="en-CA" sz="900" dirty="0"/>
              <a:t>Internally consistent, Unambiguous</a:t>
            </a:r>
          </a:p>
          <a:p>
            <a:r>
              <a:rPr lang="en-CA" sz="900" dirty="0" err="1"/>
              <a:t>TestableTraceable</a:t>
            </a:r>
            <a:endParaRPr lang="en-CA" sz="9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D895D2-AAEF-2A27-A0A2-B99F6162B1F6}"/>
              </a:ext>
            </a:extLst>
          </p:cNvPr>
          <p:cNvSpPr txBox="1"/>
          <p:nvPr/>
        </p:nvSpPr>
        <p:spPr>
          <a:xfrm>
            <a:off x="3297994" y="2047556"/>
            <a:ext cx="14009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deliverable: </a:t>
            </a:r>
            <a:r>
              <a:rPr lang="en-CA" sz="900" dirty="0"/>
              <a:t>Functional Requirements</a:t>
            </a:r>
            <a:r>
              <a:rPr lang="en-US" sz="900" b="1" dirty="0"/>
              <a:t> </a:t>
            </a:r>
            <a:endParaRPr lang="en-US" sz="7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E0170F-559D-0748-488E-7F885AE7B493}"/>
              </a:ext>
            </a:extLst>
          </p:cNvPr>
          <p:cNvSpPr txBox="1"/>
          <p:nvPr/>
        </p:nvSpPr>
        <p:spPr>
          <a:xfrm>
            <a:off x="-95264" y="2592247"/>
            <a:ext cx="213256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Criteria: </a:t>
            </a:r>
            <a:r>
              <a:rPr lang="en-CA" sz="900" dirty="0"/>
              <a:t>Completeness, Clarity, Testability, Consistency </a:t>
            </a:r>
            <a:endParaRPr lang="en-US" sz="9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43F6919-605B-3F57-936B-240831AE2CC8}"/>
              </a:ext>
            </a:extLst>
          </p:cNvPr>
          <p:cNvSpPr txBox="1"/>
          <p:nvPr/>
        </p:nvSpPr>
        <p:spPr>
          <a:xfrm>
            <a:off x="50088" y="3403684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3CD1B9-6A67-06F9-D5F2-B4597ABD3FB8}"/>
              </a:ext>
            </a:extLst>
          </p:cNvPr>
          <p:cNvSpPr txBox="1"/>
          <p:nvPr/>
        </p:nvSpPr>
        <p:spPr>
          <a:xfrm>
            <a:off x="3042720" y="3292931"/>
            <a:ext cx="1459553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deliverable: </a:t>
            </a:r>
            <a:r>
              <a:rPr lang="en-CA" sz="800" dirty="0"/>
              <a:t>System Boundary &amp; Context Definition</a:t>
            </a:r>
            <a:endParaRPr lang="en-US" sz="7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A81CDB-239F-8858-9116-26703A611EBC}"/>
              </a:ext>
            </a:extLst>
          </p:cNvPr>
          <p:cNvSpPr txBox="1"/>
          <p:nvPr/>
        </p:nvSpPr>
        <p:spPr>
          <a:xfrm>
            <a:off x="141532" y="5402516"/>
            <a:ext cx="1149119" cy="492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 </a:t>
            </a:r>
            <a:r>
              <a:rPr lang="en-CA" sz="800" dirty="0"/>
              <a:t>Problem &amp; Mission Definition</a:t>
            </a:r>
            <a:endParaRPr lang="en-US" sz="7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C5CDBA-C49C-954E-E17C-3BF2006506E7}"/>
              </a:ext>
            </a:extLst>
          </p:cNvPr>
          <p:cNvSpPr txBox="1"/>
          <p:nvPr/>
        </p:nvSpPr>
        <p:spPr>
          <a:xfrm>
            <a:off x="2753897" y="5210155"/>
            <a:ext cx="744021" cy="877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</a:p>
          <a:p>
            <a:pPr algn="ctr"/>
            <a:endParaRPr lang="en-US" sz="800" b="1" dirty="0"/>
          </a:p>
          <a:p>
            <a:pPr algn="ctr"/>
            <a:r>
              <a:rPr lang="en-US" sz="800" dirty="0"/>
              <a:t>Context Diagram</a:t>
            </a:r>
            <a:endParaRPr lang="en-US" sz="7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1190D4-59A8-A93C-149C-3213712E64A9}"/>
              </a:ext>
            </a:extLst>
          </p:cNvPr>
          <p:cNvSpPr txBox="1"/>
          <p:nvPr/>
        </p:nvSpPr>
        <p:spPr>
          <a:xfrm>
            <a:off x="4530900" y="4683263"/>
            <a:ext cx="978728" cy="830997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800" b="1" dirty="0"/>
              <a:t>Core mission / root node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800" b="1" dirty="0"/>
              <a:t>Success Criteria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800" b="1" dirty="0"/>
              <a:t>Intermediate and beginning steps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6FEBC2C-7587-AE90-0384-A5680B39ECEF}"/>
              </a:ext>
            </a:extLst>
          </p:cNvPr>
          <p:cNvSpPr txBox="1"/>
          <p:nvPr/>
        </p:nvSpPr>
        <p:spPr>
          <a:xfrm>
            <a:off x="5477180" y="1653385"/>
            <a:ext cx="1470628" cy="50783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Criteria: </a:t>
            </a:r>
            <a:r>
              <a:rPr lang="en-US" sz="900" dirty="0"/>
              <a:t>Engineered approved / </a:t>
            </a:r>
            <a:r>
              <a:rPr lang="en-CA" sz="900" dirty="0"/>
              <a:t>Process Compliance</a:t>
            </a:r>
            <a:endParaRPr lang="en-US" sz="9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5BF25A-CE8E-5646-9203-C165634CE0C0}"/>
              </a:ext>
            </a:extLst>
          </p:cNvPr>
          <p:cNvSpPr txBox="1"/>
          <p:nvPr/>
        </p:nvSpPr>
        <p:spPr>
          <a:xfrm>
            <a:off x="5918687" y="3218627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E40C6C-EFD4-DA2E-BE0C-19B312C09E9C}"/>
              </a:ext>
            </a:extLst>
          </p:cNvPr>
          <p:cNvSpPr txBox="1"/>
          <p:nvPr/>
        </p:nvSpPr>
        <p:spPr>
          <a:xfrm>
            <a:off x="7684160" y="2767918"/>
            <a:ext cx="909267" cy="50783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Criteria; </a:t>
            </a:r>
            <a:r>
              <a:rPr lang="en-CA" sz="900" dirty="0"/>
              <a:t>Error Prevention</a:t>
            </a:r>
            <a:endParaRPr lang="en-US" sz="9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E188CB-54B2-CC54-4680-C019E0E153C8}"/>
              </a:ext>
            </a:extLst>
          </p:cNvPr>
          <p:cNvSpPr txBox="1"/>
          <p:nvPr/>
        </p:nvSpPr>
        <p:spPr>
          <a:xfrm>
            <a:off x="6799096" y="3666659"/>
            <a:ext cx="911620" cy="6155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deliverable: </a:t>
            </a:r>
            <a:r>
              <a:rPr lang="en-CA" sz="800" dirty="0"/>
              <a:t>Consistency &amp; Gap Detection</a:t>
            </a:r>
            <a:endParaRPr lang="en-US" sz="7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5D614E-F5A1-8748-982C-36FD26984174}"/>
              </a:ext>
            </a:extLst>
          </p:cNvPr>
          <p:cNvSpPr txBox="1"/>
          <p:nvPr/>
        </p:nvSpPr>
        <p:spPr>
          <a:xfrm>
            <a:off x="7470937" y="4963933"/>
            <a:ext cx="1314861" cy="492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deliverable; </a:t>
            </a:r>
            <a:r>
              <a:rPr lang="en-CA" sz="800" dirty="0"/>
              <a:t>Human Confirmation Points</a:t>
            </a:r>
            <a:endParaRPr lang="en-US" sz="7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2E22D5-4835-B0E2-B899-53BEFB31D2F3}"/>
              </a:ext>
            </a:extLst>
          </p:cNvPr>
          <p:cNvSpPr txBox="1"/>
          <p:nvPr/>
        </p:nvSpPr>
        <p:spPr>
          <a:xfrm>
            <a:off x="6095200" y="5015340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7ED2D053-A0E1-4995-18B8-ADB7314EFE10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 rot="5400000">
            <a:off x="4101299" y="345626"/>
            <a:ext cx="177272" cy="173937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50D6F2B5-0759-49DA-74C7-9F547333AB6E}"/>
              </a:ext>
            </a:extLst>
          </p:cNvPr>
          <p:cNvCxnSpPr>
            <a:cxnSpLocks/>
            <a:stCxn id="13" idx="1"/>
            <a:endCxn id="44" idx="0"/>
          </p:cNvCxnSpPr>
          <p:nvPr/>
        </p:nvCxnSpPr>
        <p:spPr>
          <a:xfrm rot="10800000">
            <a:off x="890080" y="1515789"/>
            <a:ext cx="1434020" cy="3602"/>
          </a:xfrm>
          <a:prstGeom prst="bentConnector4">
            <a:avLst>
              <a:gd name="adj1" fmla="val 15693"/>
              <a:gd name="adj2" fmla="val 644647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D75C7679-C019-5AE4-CF30-B5E68606472B}"/>
              </a:ext>
            </a:extLst>
          </p:cNvPr>
          <p:cNvCxnSpPr>
            <a:cxnSpLocks/>
            <a:stCxn id="13" idx="2"/>
            <a:endCxn id="45" idx="0"/>
          </p:cNvCxnSpPr>
          <p:nvPr/>
        </p:nvCxnSpPr>
        <p:spPr>
          <a:xfrm rot="16200000" flipH="1">
            <a:off x="3502995" y="1552089"/>
            <a:ext cx="312722" cy="67821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90E026D8-EAB0-A72D-1571-B7F2AB473352}"/>
              </a:ext>
            </a:extLst>
          </p:cNvPr>
          <p:cNvCxnSpPr>
            <a:cxnSpLocks/>
            <a:stCxn id="13" idx="2"/>
            <a:endCxn id="28" idx="0"/>
          </p:cNvCxnSpPr>
          <p:nvPr/>
        </p:nvCxnSpPr>
        <p:spPr>
          <a:xfrm rot="5400000">
            <a:off x="2742066" y="1512510"/>
            <a:ext cx="355861" cy="80050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702B39A7-C9A5-8FBB-4558-1AE8316BDB71}"/>
              </a:ext>
            </a:extLst>
          </p:cNvPr>
          <p:cNvCxnSpPr>
            <a:cxnSpLocks/>
            <a:stCxn id="28" idx="1"/>
            <a:endCxn id="46" idx="0"/>
          </p:cNvCxnSpPr>
          <p:nvPr/>
        </p:nvCxnSpPr>
        <p:spPr>
          <a:xfrm rot="10800000" flipV="1">
            <a:off x="971018" y="2398471"/>
            <a:ext cx="1004627" cy="1937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5B1EE853-B1A6-DFBE-8657-30687D4F8A3E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 rot="5400000">
            <a:off x="431411" y="2864077"/>
            <a:ext cx="442105" cy="63710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30ABB343-8814-9985-A2AA-2C729BDCAD72}"/>
              </a:ext>
            </a:extLst>
          </p:cNvPr>
          <p:cNvCxnSpPr>
            <a:cxnSpLocks/>
            <a:stCxn id="28" idx="2"/>
            <a:endCxn id="36" idx="0"/>
          </p:cNvCxnSpPr>
          <p:nvPr/>
        </p:nvCxnSpPr>
        <p:spPr>
          <a:xfrm rot="5400000">
            <a:off x="1806848" y="2894895"/>
            <a:ext cx="901540" cy="52424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ED075236-AFC6-FA74-29C0-79B75B54F103}"/>
              </a:ext>
            </a:extLst>
          </p:cNvPr>
          <p:cNvCxnSpPr>
            <a:cxnSpLocks/>
            <a:stCxn id="28" idx="2"/>
            <a:endCxn id="48" idx="0"/>
          </p:cNvCxnSpPr>
          <p:nvPr/>
        </p:nvCxnSpPr>
        <p:spPr>
          <a:xfrm rot="16200000" flipH="1">
            <a:off x="2852778" y="2373211"/>
            <a:ext cx="586683" cy="125275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1B79389E-A52D-D41F-E808-834C805FCAAF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 rot="5400000">
            <a:off x="704651" y="4111672"/>
            <a:ext cx="1302285" cy="127940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AF0A7C44-E422-BE79-FD97-980FA9BE75C2}"/>
              </a:ext>
            </a:extLst>
          </p:cNvPr>
          <p:cNvCxnSpPr>
            <a:cxnSpLocks/>
            <a:stCxn id="48" idx="2"/>
            <a:endCxn id="51" idx="0"/>
          </p:cNvCxnSpPr>
          <p:nvPr/>
        </p:nvCxnSpPr>
        <p:spPr>
          <a:xfrm rot="5400000">
            <a:off x="2729118" y="4166776"/>
            <a:ext cx="1440170" cy="64658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2C5C342B-B2AB-D624-C91D-56093D549029}"/>
              </a:ext>
            </a:extLst>
          </p:cNvPr>
          <p:cNvCxnSpPr>
            <a:cxnSpLocks/>
            <a:stCxn id="48" idx="2"/>
            <a:endCxn id="53" idx="0"/>
          </p:cNvCxnSpPr>
          <p:nvPr/>
        </p:nvCxnSpPr>
        <p:spPr>
          <a:xfrm rot="16200000" flipH="1">
            <a:off x="3939741" y="3602740"/>
            <a:ext cx="913278" cy="124776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2C24F58C-B516-5A13-8C0B-F2E5D6E351CA}"/>
              </a:ext>
            </a:extLst>
          </p:cNvPr>
          <p:cNvCxnSpPr>
            <a:cxnSpLocks/>
            <a:stCxn id="45" idx="2"/>
            <a:endCxn id="48" idx="0"/>
          </p:cNvCxnSpPr>
          <p:nvPr/>
        </p:nvCxnSpPr>
        <p:spPr>
          <a:xfrm rot="5400000">
            <a:off x="3447459" y="2741927"/>
            <a:ext cx="876043" cy="22596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A8CA04E9-9245-2300-47B4-44F3A594A5D3}"/>
              </a:ext>
            </a:extLst>
          </p:cNvPr>
          <p:cNvCxnSpPr>
            <a:cxnSpLocks/>
            <a:stCxn id="45" idx="2"/>
            <a:endCxn id="5" idx="0"/>
          </p:cNvCxnSpPr>
          <p:nvPr/>
        </p:nvCxnSpPr>
        <p:spPr>
          <a:xfrm rot="16200000" flipH="1">
            <a:off x="4286323" y="2129026"/>
            <a:ext cx="551934" cy="112765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8E98777C-CCC6-F567-8140-13AA48590A3E}"/>
              </a:ext>
            </a:extLst>
          </p:cNvPr>
          <p:cNvCxnSpPr>
            <a:cxnSpLocks/>
            <a:stCxn id="15" idx="1"/>
            <a:endCxn id="54" idx="0"/>
          </p:cNvCxnSpPr>
          <p:nvPr/>
        </p:nvCxnSpPr>
        <p:spPr>
          <a:xfrm rot="10800000" flipV="1">
            <a:off x="6212495" y="1545703"/>
            <a:ext cx="883671" cy="10768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081E50B8-4DD5-F7BB-58B9-6F6BC72A27DA}"/>
              </a:ext>
            </a:extLst>
          </p:cNvPr>
          <p:cNvCxnSpPr>
            <a:cxnSpLocks/>
            <a:stCxn id="15" idx="2"/>
            <a:endCxn id="40" idx="0"/>
          </p:cNvCxnSpPr>
          <p:nvPr/>
        </p:nvCxnSpPr>
        <p:spPr>
          <a:xfrm rot="5400000">
            <a:off x="7287234" y="1489040"/>
            <a:ext cx="532631" cy="107684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082602C1-6E47-31D7-50CA-67E8F18D0BBD}"/>
              </a:ext>
            </a:extLst>
          </p:cNvPr>
          <p:cNvCxnSpPr>
            <a:cxnSpLocks/>
            <a:stCxn id="40" idx="3"/>
            <a:endCxn id="56" idx="1"/>
          </p:cNvCxnSpPr>
          <p:nvPr/>
        </p:nvCxnSpPr>
        <p:spPr>
          <a:xfrm>
            <a:off x="7470937" y="2601555"/>
            <a:ext cx="213223" cy="42027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8A24AFC5-2F92-39A9-A924-E003C51BC72E}"/>
              </a:ext>
            </a:extLst>
          </p:cNvPr>
          <p:cNvCxnSpPr>
            <a:stCxn id="40" idx="1"/>
            <a:endCxn id="55" idx="0"/>
          </p:cNvCxnSpPr>
          <p:nvPr/>
        </p:nvCxnSpPr>
        <p:spPr>
          <a:xfrm rot="10800000" flipV="1">
            <a:off x="6322499" y="2601555"/>
            <a:ext cx="236819" cy="61707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16061265-4524-3AF6-7375-2B8B804E990A}"/>
              </a:ext>
            </a:extLst>
          </p:cNvPr>
          <p:cNvCxnSpPr>
            <a:cxnSpLocks/>
            <a:stCxn id="56" idx="3"/>
            <a:endCxn id="41" idx="1"/>
          </p:cNvCxnSpPr>
          <p:nvPr/>
        </p:nvCxnSpPr>
        <p:spPr>
          <a:xfrm flipH="1" flipV="1">
            <a:off x="8562244" y="2470750"/>
            <a:ext cx="31183" cy="551084"/>
          </a:xfrm>
          <a:prstGeom prst="bentConnector5">
            <a:avLst>
              <a:gd name="adj1" fmla="val -733092"/>
              <a:gd name="adj2" fmla="val 56981"/>
              <a:gd name="adj3" fmla="val 83309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C334511C-7DE7-E736-6F3C-6150F3449FD0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 rot="16200000" flipH="1">
            <a:off x="8020049" y="3937994"/>
            <a:ext cx="2792620" cy="21207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6A1DADD1-B785-971F-49D5-1A4CB7738485}"/>
              </a:ext>
            </a:extLst>
          </p:cNvPr>
          <p:cNvCxnSpPr>
            <a:stCxn id="40" idx="2"/>
            <a:endCxn id="58" idx="0"/>
          </p:cNvCxnSpPr>
          <p:nvPr/>
        </p:nvCxnSpPr>
        <p:spPr>
          <a:xfrm rot="16200000" flipH="1">
            <a:off x="6756352" y="3168105"/>
            <a:ext cx="757328" cy="23977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EDAEF930-419A-F53B-6CA6-F5FB2BFC8BA2}"/>
              </a:ext>
            </a:extLst>
          </p:cNvPr>
          <p:cNvCxnSpPr>
            <a:stCxn id="58" idx="1"/>
            <a:endCxn id="63" idx="0"/>
          </p:cNvCxnSpPr>
          <p:nvPr/>
        </p:nvCxnSpPr>
        <p:spPr>
          <a:xfrm rot="10800000" flipV="1">
            <a:off x="6499012" y="3974436"/>
            <a:ext cx="300085" cy="104090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BD9BDF40-5692-1EAA-13D6-E67B3AEF6039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 rot="16200000" flipH="1">
            <a:off x="7350777" y="4186341"/>
            <a:ext cx="681721" cy="87346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CE7AA3C5-BA35-2503-DC78-F294624C3043}"/>
              </a:ext>
            </a:extLst>
          </p:cNvPr>
          <p:cNvSpPr txBox="1"/>
          <p:nvPr/>
        </p:nvSpPr>
        <p:spPr>
          <a:xfrm>
            <a:off x="76200" y="152400"/>
            <a:ext cx="7681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YourMission</a:t>
            </a:r>
            <a:endParaRPr lang="en-US" sz="9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389361B-FFB0-6953-90EF-0C8AB68ED749}"/>
              </a:ext>
            </a:extLst>
          </p:cNvPr>
          <p:cNvSpPr txBox="1"/>
          <p:nvPr/>
        </p:nvSpPr>
        <p:spPr>
          <a:xfrm>
            <a:off x="3246495" y="18679"/>
            <a:ext cx="3032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Andalus" panose="02020603050405020304" pitchFamily="18" charset="-78"/>
              </a:rPr>
              <a:t>c1v – Product Helper </a:t>
            </a: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1E733AC2-DF34-9E3C-6EAE-EA89CA2260D9}"/>
              </a:ext>
            </a:extLst>
          </p:cNvPr>
          <p:cNvCxnSpPr>
            <a:cxnSpLocks/>
            <a:stCxn id="15" idx="2"/>
            <a:endCxn id="41" idx="0"/>
          </p:cNvCxnSpPr>
          <p:nvPr/>
        </p:nvCxnSpPr>
        <p:spPr>
          <a:xfrm rot="16200000" flipH="1">
            <a:off x="8434831" y="1418286"/>
            <a:ext cx="532631" cy="121835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A9C00CC-9EC7-7A8E-0186-922A0BDC9CA2}"/>
              </a:ext>
            </a:extLst>
          </p:cNvPr>
          <p:cNvSpPr txBox="1"/>
          <p:nvPr/>
        </p:nvSpPr>
        <p:spPr>
          <a:xfrm>
            <a:off x="1496156" y="5273596"/>
            <a:ext cx="992992" cy="877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 </a:t>
            </a:r>
          </a:p>
          <a:p>
            <a:pPr algn="ctr"/>
            <a:r>
              <a:rPr lang="en-CA" sz="800" dirty="0"/>
              <a:t>Primary/Secondary Stakeholder  Desired Outcomes</a:t>
            </a:r>
            <a:endParaRPr lang="en-US" sz="700" b="1" dirty="0"/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A2DF0BB8-7220-5EF1-7C31-F40E70EEBD39}"/>
              </a:ext>
            </a:extLst>
          </p:cNvPr>
          <p:cNvCxnSpPr>
            <a:cxnSpLocks/>
            <a:stCxn id="36" idx="2"/>
            <a:endCxn id="68" idx="0"/>
          </p:cNvCxnSpPr>
          <p:nvPr/>
        </p:nvCxnSpPr>
        <p:spPr>
          <a:xfrm rot="5400000">
            <a:off x="1407391" y="4685492"/>
            <a:ext cx="1173365" cy="284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4ED971C-A94D-A2D6-5161-878B087DD52F}"/>
              </a:ext>
            </a:extLst>
          </p:cNvPr>
          <p:cNvSpPr txBox="1"/>
          <p:nvPr/>
        </p:nvSpPr>
        <p:spPr>
          <a:xfrm>
            <a:off x="172199" y="336185"/>
            <a:ext cx="2904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n w="1905"/>
                <a:solidFill>
                  <a:schemeClr val="accent2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Andalus" panose="02020603050405020304" pitchFamily="18" charset="-78"/>
              </a:rPr>
              <a:t>System Engineering Proofed Product Requirement Development</a:t>
            </a:r>
          </a:p>
        </p:txBody>
      </p:sp>
      <p:cxnSp>
        <p:nvCxnSpPr>
          <p:cNvPr id="204" name="Elbow Connector 203">
            <a:extLst>
              <a:ext uri="{FF2B5EF4-FFF2-40B4-BE49-F238E27FC236}">
                <a16:creationId xmlns:a16="http://schemas.microsoft.com/office/drawing/2014/main" id="{0EC20B12-3A14-B2F7-8FEB-766304A19F73}"/>
              </a:ext>
            </a:extLst>
          </p:cNvPr>
          <p:cNvCxnSpPr>
            <a:cxnSpLocks/>
            <a:stCxn id="48" idx="2"/>
            <a:endCxn id="68" idx="0"/>
          </p:cNvCxnSpPr>
          <p:nvPr/>
        </p:nvCxnSpPr>
        <p:spPr>
          <a:xfrm rot="5400000">
            <a:off x="2130770" y="3631868"/>
            <a:ext cx="1503611" cy="177984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D5F34463-8878-4EA4-647F-F3D922F659AF}"/>
              </a:ext>
            </a:extLst>
          </p:cNvPr>
          <p:cNvSpPr txBox="1"/>
          <p:nvPr/>
        </p:nvSpPr>
        <p:spPr>
          <a:xfrm>
            <a:off x="4776713" y="2263291"/>
            <a:ext cx="14009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deliverable: </a:t>
            </a:r>
            <a:r>
              <a:rPr lang="en-CA" sz="900" dirty="0" err="1"/>
              <a:t>ScopeTree</a:t>
            </a:r>
            <a:endParaRPr lang="en-US" sz="700" b="1" dirty="0"/>
          </a:p>
        </p:txBody>
      </p:sp>
      <p:cxnSp>
        <p:nvCxnSpPr>
          <p:cNvPr id="222" name="Elbow Connector 221">
            <a:extLst>
              <a:ext uri="{FF2B5EF4-FFF2-40B4-BE49-F238E27FC236}">
                <a16:creationId xmlns:a16="http://schemas.microsoft.com/office/drawing/2014/main" id="{02585819-E339-B1F5-96CE-69467508E585}"/>
              </a:ext>
            </a:extLst>
          </p:cNvPr>
          <p:cNvCxnSpPr>
            <a:cxnSpLocks/>
            <a:stCxn id="13" idx="2"/>
            <a:endCxn id="221" idx="0"/>
          </p:cNvCxnSpPr>
          <p:nvPr/>
        </p:nvCxnSpPr>
        <p:spPr>
          <a:xfrm rot="16200000" flipH="1">
            <a:off x="4134487" y="920596"/>
            <a:ext cx="528457" cy="2156931"/>
          </a:xfrm>
          <a:prstGeom prst="bentConnector3">
            <a:avLst>
              <a:gd name="adj1" fmla="val 3189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054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1819</TotalTime>
  <Words>676</Words>
  <Application>Microsoft Macintosh PowerPoint</Application>
  <PresentationFormat>Custom</PresentationFormat>
  <Paragraphs>139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MS Mincho</vt:lpstr>
      <vt:lpstr>Andalus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Cornell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R. Schneider</dc:creator>
  <cp:lastModifiedBy>David Ancor</cp:lastModifiedBy>
  <cp:revision>22</cp:revision>
  <dcterms:created xsi:type="dcterms:W3CDTF">2016-03-08T21:09:40Z</dcterms:created>
  <dcterms:modified xsi:type="dcterms:W3CDTF">2026-01-10T23:26:24Z</dcterms:modified>
</cp:coreProperties>
</file>